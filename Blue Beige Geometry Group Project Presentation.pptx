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</p:sldIdLst>
  <p:sldSz cx="18288000" cy="10287000"/>
  <p:notesSz cx="6858000" cy="9144000"/>
  <p:embeddedFontLst>
    <p:embeddedFont>
      <p:font typeface="Clarendon Narrow Italics" charset="1" panose="00000506000000000000"/>
      <p:regular r:id="rId48"/>
    </p:embeddedFont>
    <p:embeddedFont>
      <p:font typeface="Clarendon Narrow Bold" charset="1" panose="00000806000000000000"/>
      <p:regular r:id="rId49"/>
    </p:embeddedFont>
    <p:embeddedFont>
      <p:font typeface="Cloud Bold" charset="1" panose="02000000000000000000"/>
      <p:regular r:id="rId50"/>
    </p:embeddedFont>
    <p:embeddedFont>
      <p:font typeface="Arial Bold Italics" charset="1" panose="020B0704020202090204"/>
      <p:regular r:id="rId51"/>
    </p:embeddedFont>
    <p:embeddedFont>
      <p:font typeface="Arial Italics" charset="1" panose="020B0604020202090204"/>
      <p:regular r:id="rId52"/>
    </p:embeddedFont>
    <p:embeddedFont>
      <p:font typeface="Cloud Bold Italics" charset="1" panose="02000000000000000000"/>
      <p:regular r:id="rId53"/>
    </p:embeddedFont>
    <p:embeddedFont>
      <p:font typeface="Clarendon Narrow" charset="1" panose="00000506000000000000"/>
      <p:regular r:id="rId5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fonts/font48.fntdata" Type="http://schemas.openxmlformats.org/officeDocument/2006/relationships/font"/><Relationship Id="rId49" Target="fonts/font49.fntdata" Type="http://schemas.openxmlformats.org/officeDocument/2006/relationships/font"/><Relationship Id="rId5" Target="tableStyles.xml" Type="http://schemas.openxmlformats.org/officeDocument/2006/relationships/tableStyles"/><Relationship Id="rId50" Target="fonts/font50.fntdata" Type="http://schemas.openxmlformats.org/officeDocument/2006/relationships/font"/><Relationship Id="rId51" Target="fonts/font51.fntdata" Type="http://schemas.openxmlformats.org/officeDocument/2006/relationships/font"/><Relationship Id="rId52" Target="fonts/font52.fntdata" Type="http://schemas.openxmlformats.org/officeDocument/2006/relationships/font"/><Relationship Id="rId53" Target="fonts/font53.fntdata" Type="http://schemas.openxmlformats.org/officeDocument/2006/relationships/font"/><Relationship Id="rId54" Target="fonts/font54.fntdata" Type="http://schemas.openxmlformats.org/officeDocument/2006/relationships/font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jpeg" Type="http://schemas.openxmlformats.org/officeDocument/2006/relationships/image"/><Relationship Id="rId5" Target="../media/image9.jpeg" Type="http://schemas.openxmlformats.org/officeDocument/2006/relationships/image"/><Relationship Id="rId6" Target="../media/image10.jpeg" Type="http://schemas.openxmlformats.org/officeDocument/2006/relationships/image"/><Relationship Id="rId7" Target="../media/image11.jpeg" Type="http://schemas.openxmlformats.org/officeDocument/2006/relationships/image"/><Relationship Id="rId8" Target="../media/image1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1.pn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1.pn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Relationship Id="rId6" Target="../media/image13.png" Type="http://schemas.openxmlformats.org/officeDocument/2006/relationships/image"/><Relationship Id="rId7" Target="../media/image24.png" Type="http://schemas.openxmlformats.org/officeDocument/2006/relationships/image"/><Relationship Id="rId8" Target="../media/image25.svg" Type="http://schemas.openxmlformats.org/officeDocument/2006/relationships/image"/><Relationship Id="rId9" Target="https://drive.google.com/drive/folders/14Ivitptfu7PdeFJk9gKd-sZHw-C5XvHi?usp=drive_link" TargetMode="External" Type="http://schemas.openxmlformats.org/officeDocument/2006/relationships/hyperlink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svg" Type="http://schemas.openxmlformats.org/officeDocument/2006/relationships/image"/><Relationship Id="rId4" Target="../media/image28.png" Type="http://schemas.openxmlformats.org/officeDocument/2006/relationships/image"/><Relationship Id="rId5" Target="../media/image29.svg" Type="http://schemas.openxmlformats.org/officeDocument/2006/relationships/image"/><Relationship Id="rId6" Target="../media/image3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31.png" Type="http://schemas.openxmlformats.org/officeDocument/2006/relationships/image"/><Relationship Id="rId6" Target="../media/image3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Relationship Id="rId6" Target="../media/image13.png" Type="http://schemas.openxmlformats.org/officeDocument/2006/relationships/image"/><Relationship Id="rId7" Target="../media/image24.png" Type="http://schemas.openxmlformats.org/officeDocument/2006/relationships/image"/><Relationship Id="rId8" Target="../media/image25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33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Relationship Id="rId6" Target="../media/image13.png" Type="http://schemas.openxmlformats.org/officeDocument/2006/relationships/image"/><Relationship Id="rId7" Target="../media/image24.png" Type="http://schemas.openxmlformats.org/officeDocument/2006/relationships/image"/><Relationship Id="rId8" Target="../media/image25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34.png" Type="http://schemas.openxmlformats.org/officeDocument/2006/relationships/image"/><Relationship Id="rId5" Target="../media/image35.png" Type="http://schemas.openxmlformats.org/officeDocument/2006/relationships/image"/><Relationship Id="rId6" Target="../media/image36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Relationship Id="rId6" Target="../media/image13.png" Type="http://schemas.openxmlformats.org/officeDocument/2006/relationships/image"/><Relationship Id="rId7" Target="../media/image24.png" Type="http://schemas.openxmlformats.org/officeDocument/2006/relationships/image"/><Relationship Id="rId8" Target="../media/image25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37.png" Type="http://schemas.openxmlformats.org/officeDocument/2006/relationships/image"/><Relationship Id="rId5" Target="../media/image24.png" Type="http://schemas.openxmlformats.org/officeDocument/2006/relationships/image"/><Relationship Id="rId6" Target="../media/image25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Relationship Id="rId6" Target="../media/image13.png" Type="http://schemas.openxmlformats.org/officeDocument/2006/relationships/image"/><Relationship Id="rId7" Target="../media/image24.png" Type="http://schemas.openxmlformats.org/officeDocument/2006/relationships/image"/><Relationship Id="rId8" Target="../media/image25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38.pn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39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24.png" Type="http://schemas.openxmlformats.org/officeDocument/2006/relationships/image"/><Relationship Id="rId5" Target="../media/image25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40.png" Type="http://schemas.openxmlformats.org/officeDocument/2006/relationships/image"/><Relationship Id="rId8" Target="../media/image41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Relationship Id="rId6" Target="../media/image24.png" Type="http://schemas.openxmlformats.org/officeDocument/2006/relationships/image"/><Relationship Id="rId7" Target="../media/image25.sv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2.png" Type="http://schemas.openxmlformats.org/officeDocument/2006/relationships/image"/><Relationship Id="rId7" Target="../media/image43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24.png" Type="http://schemas.openxmlformats.org/officeDocument/2006/relationships/image"/><Relationship Id="rId5" Target="../media/image25.sv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44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45.jpeg" Type="http://schemas.openxmlformats.org/officeDocument/2006/relationships/image"/><Relationship Id="rId8" Target="https://sehamaa2312-stack-dinamic-dashboard-kkk-py-jnv1kw.streamlit.app" TargetMode="External" Type="http://schemas.openxmlformats.org/officeDocument/2006/relationships/hyperlink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Relationship Id="rId6" Target="../media/image24.png" Type="http://schemas.openxmlformats.org/officeDocument/2006/relationships/image"/><Relationship Id="rId7" Target="../media/image25.sv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Relationship Id="rId6" Target="../media/image24.png" Type="http://schemas.openxmlformats.org/officeDocument/2006/relationships/image"/><Relationship Id="rId7" Target="../media/image25.svg" Type="http://schemas.openxmlformats.org/officeDocument/2006/relationships/image"/><Relationship Id="rId8" Target="../media/image46.jpeg" Type="http://schemas.openxmlformats.org/officeDocument/2006/relationships/image"/><Relationship Id="rId9" Target="https://dashboard-phase2-lzfyrvjbfbgu4eextx4xjh.streamlit.app" TargetMode="External" Type="http://schemas.openxmlformats.org/officeDocument/2006/relationships/hyperlink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Relationship Id="rId6" Target="../media/image24.png" Type="http://schemas.openxmlformats.org/officeDocument/2006/relationships/image"/><Relationship Id="rId7" Target="../media/image25.sv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Relationship Id="rId6" Target="../media/image24.png" Type="http://schemas.openxmlformats.org/officeDocument/2006/relationships/image"/><Relationship Id="rId7" Target="../media/image25.svg" Type="http://schemas.openxmlformats.org/officeDocument/2006/relationships/image"/><Relationship Id="rId8" Target="../media/image47.jpeg" Type="http://schemas.openxmlformats.org/officeDocument/2006/relationships/image"/><Relationship Id="rId9" Target="https://dashboard2-cbcacbvvkaiqlvnznmmrbh.streamlit.app" TargetMode="External" Type="http://schemas.openxmlformats.org/officeDocument/2006/relationships/hyperlink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48.pn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49.pn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50.pn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51.pn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2.png" Type="http://schemas.openxmlformats.org/officeDocument/2006/relationships/image"/><Relationship Id="rId3" Target="../media/image53.png" Type="http://schemas.openxmlformats.org/officeDocument/2006/relationships/image"/><Relationship Id="rId4" Target="../media/image54.svg" Type="http://schemas.openxmlformats.org/officeDocument/2006/relationships/image"/><Relationship Id="rId5" Target="../media/image55.png" Type="http://schemas.openxmlformats.org/officeDocument/2006/relationships/image"/><Relationship Id="rId6" Target="../media/image56.svg" Type="http://schemas.openxmlformats.org/officeDocument/2006/relationships/image"/><Relationship Id="rId7" Target="../media/image57.png" Type="http://schemas.openxmlformats.org/officeDocument/2006/relationships/image"/><Relationship Id="rId8" Target="../media/image58.svg" Type="http://schemas.openxmlformats.org/officeDocument/2006/relationships/image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9.png" Type="http://schemas.openxmlformats.org/officeDocument/2006/relationships/image"/><Relationship Id="rId3" Target="../media/image60.svg" Type="http://schemas.openxmlformats.org/officeDocument/2006/relationships/image"/><Relationship Id="rId4" Target="../media/image1.pn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026249" y="-136879"/>
            <a:ext cx="11067650" cy="11053816"/>
          </a:xfrm>
          <a:custGeom>
            <a:avLst/>
            <a:gdLst/>
            <a:ahLst/>
            <a:cxnLst/>
            <a:rect r="r" b="b" t="t" l="l"/>
            <a:pathLst>
              <a:path h="11053816" w="11067650">
                <a:moveTo>
                  <a:pt x="0" y="0"/>
                </a:moveTo>
                <a:lnTo>
                  <a:pt x="11067650" y="0"/>
                </a:lnTo>
                <a:lnTo>
                  <a:pt x="11067650" y="11053816"/>
                </a:lnTo>
                <a:lnTo>
                  <a:pt x="0" y="110538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5400000">
            <a:off x="7319719" y="-2317883"/>
            <a:ext cx="11343275" cy="15126365"/>
            <a:chOff x="0" y="0"/>
            <a:chExt cx="660400" cy="8806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60400" cy="880650"/>
            </a:xfrm>
            <a:custGeom>
              <a:avLst/>
              <a:gdLst/>
              <a:ahLst/>
              <a:cxnLst/>
              <a:rect r="r" b="b" t="t" l="l"/>
              <a:pathLst>
                <a:path h="880650" w="660400">
                  <a:moveTo>
                    <a:pt x="220252" y="861581"/>
                  </a:moveTo>
                  <a:cubicBezTo>
                    <a:pt x="254109" y="873094"/>
                    <a:pt x="292600" y="880650"/>
                    <a:pt x="330378" y="880650"/>
                  </a:cubicBezTo>
                  <a:cubicBezTo>
                    <a:pt x="368157" y="880650"/>
                    <a:pt x="404509" y="874173"/>
                    <a:pt x="438009" y="862659"/>
                  </a:cubicBezTo>
                  <a:cubicBezTo>
                    <a:pt x="438723" y="862299"/>
                    <a:pt x="439435" y="862299"/>
                    <a:pt x="440148" y="861940"/>
                  </a:cubicBezTo>
                  <a:cubicBezTo>
                    <a:pt x="565955" y="815885"/>
                    <a:pt x="658618" y="694271"/>
                    <a:pt x="660400" y="550641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550232"/>
                  </a:lnTo>
                  <a:cubicBezTo>
                    <a:pt x="1782" y="694990"/>
                    <a:pt x="93019" y="816605"/>
                    <a:pt x="220252" y="861581"/>
                  </a:cubicBezTo>
                  <a:close/>
                </a:path>
              </a:pathLst>
            </a:custGeom>
            <a:solidFill>
              <a:srgbClr val="2F415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0"/>
              <a:ext cx="660400" cy="84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5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0" y="-136879"/>
            <a:ext cx="5426576" cy="4676722"/>
          </a:xfrm>
          <a:custGeom>
            <a:avLst/>
            <a:gdLst/>
            <a:ahLst/>
            <a:cxnLst/>
            <a:rect r="r" b="b" t="t" l="l"/>
            <a:pathLst>
              <a:path h="4676722" w="5426576">
                <a:moveTo>
                  <a:pt x="0" y="0"/>
                </a:moveTo>
                <a:lnTo>
                  <a:pt x="5426576" y="0"/>
                </a:lnTo>
                <a:lnTo>
                  <a:pt x="5426576" y="4676723"/>
                </a:lnTo>
                <a:lnTo>
                  <a:pt x="0" y="46767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204154" y="7647498"/>
            <a:ext cx="2176042" cy="2427633"/>
          </a:xfrm>
          <a:custGeom>
            <a:avLst/>
            <a:gdLst/>
            <a:ahLst/>
            <a:cxnLst/>
            <a:rect r="r" b="b" t="t" l="l"/>
            <a:pathLst>
              <a:path h="2427633" w="2176042">
                <a:moveTo>
                  <a:pt x="2176042" y="2427634"/>
                </a:moveTo>
                <a:lnTo>
                  <a:pt x="0" y="2427634"/>
                </a:lnTo>
                <a:lnTo>
                  <a:pt x="0" y="0"/>
                </a:lnTo>
                <a:lnTo>
                  <a:pt x="2176042" y="0"/>
                </a:lnTo>
                <a:lnTo>
                  <a:pt x="2176042" y="2427634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246988" y="3797787"/>
            <a:ext cx="12973777" cy="4636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5929" i="true">
                <a:solidFill>
                  <a:srgbClr val="F5EFEB"/>
                </a:solidFill>
                <a:latin typeface="Clarendon Narrow Italics"/>
                <a:ea typeface="Clarendon Narrow Italics"/>
                <a:cs typeface="Clarendon Narrow Italics"/>
                <a:sym typeface="Clarendon Narrow Italics"/>
              </a:rPr>
              <a:t>HYDROGEN PEROXIDE EXPORT MARKET ANALYSIS</a:t>
            </a:r>
          </a:p>
          <a:p>
            <a:pPr algn="ctr">
              <a:lnSpc>
                <a:spcPts val="5039"/>
              </a:lnSpc>
            </a:pPr>
          </a:p>
          <a:p>
            <a:pPr algn="ctr">
              <a:lnSpc>
                <a:spcPts val="5039"/>
              </a:lnSpc>
            </a:pPr>
          </a:p>
          <a:p>
            <a:pPr algn="ctr">
              <a:lnSpc>
                <a:spcPts val="5039"/>
              </a:lnSpc>
            </a:pPr>
          </a:p>
          <a:p>
            <a:pPr algn="ctr">
              <a:lnSpc>
                <a:spcPts val="2168"/>
              </a:lnSpc>
            </a:pPr>
            <a:r>
              <a:rPr lang="en-US" sz="2550" i="true">
                <a:solidFill>
                  <a:srgbClr val="F5EFEB"/>
                </a:solidFill>
                <a:latin typeface="Clarendon Narrow Italics"/>
                <a:ea typeface="Clarendon Narrow Italics"/>
                <a:cs typeface="Clarendon Narrow Italics"/>
                <a:sym typeface="Clarendon Narrow Italics"/>
              </a:rPr>
              <a:t>LECTURER DR :  SARA BESHIR</a:t>
            </a:r>
          </a:p>
          <a:p>
            <a:pPr algn="ctr">
              <a:lnSpc>
                <a:spcPts val="2168"/>
              </a:lnSpc>
            </a:pPr>
          </a:p>
          <a:p>
            <a:pPr algn="ctr">
              <a:lnSpc>
                <a:spcPts val="2168"/>
              </a:lnSpc>
            </a:pPr>
            <a:r>
              <a:rPr lang="en-US" sz="2550" i="true">
                <a:solidFill>
                  <a:srgbClr val="F5EFEB"/>
                </a:solidFill>
                <a:latin typeface="Clarendon Narrow Italics"/>
                <a:ea typeface="Clarendon Narrow Italics"/>
                <a:cs typeface="Clarendon Narrow Italics"/>
                <a:sym typeface="Clarendon Narrow Italics"/>
              </a:rPr>
              <a:t>COMPANY NAME: NEXT ACADEMY</a:t>
            </a:r>
          </a:p>
          <a:p>
            <a:pPr algn="ctr">
              <a:lnSpc>
                <a:spcPts val="2168"/>
              </a:lnSpc>
            </a:pPr>
          </a:p>
          <a:p>
            <a:pPr algn="ctr">
              <a:lnSpc>
                <a:spcPts val="2168"/>
              </a:lnSpc>
            </a:pPr>
            <a:r>
              <a:rPr lang="en-US" sz="2550" i="true">
                <a:solidFill>
                  <a:srgbClr val="F5EFEB"/>
                </a:solidFill>
                <a:latin typeface="Clarendon Narrow Italics"/>
                <a:ea typeface="Clarendon Narrow Italics"/>
                <a:cs typeface="Clarendon Narrow Italics"/>
                <a:sym typeface="Clarendon Narrow Italics"/>
              </a:rPr>
              <a:t>ROUND 4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677680" y="2410702"/>
            <a:ext cx="6932640" cy="1316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01"/>
              </a:lnSpc>
            </a:pPr>
            <a:r>
              <a:rPr lang="en-US" sz="6858" b="true">
                <a:solidFill>
                  <a:srgbClr val="2F4156"/>
                </a:solidFill>
                <a:latin typeface="Clarendon Narrow Bold"/>
                <a:ea typeface="Clarendon Narrow Bold"/>
                <a:cs typeface="Clarendon Narrow Bold"/>
                <a:sym typeface="Clarendon Narrow Bold"/>
              </a:rPr>
              <a:t>Our Team</a:t>
            </a:r>
          </a:p>
        </p:txBody>
      </p:sp>
      <p:sp>
        <p:nvSpPr>
          <p:cNvPr name="AutoShape 3" id="3"/>
          <p:cNvSpPr/>
          <p:nvPr/>
        </p:nvSpPr>
        <p:spPr>
          <a:xfrm>
            <a:off x="13117584" y="4443028"/>
            <a:ext cx="5170416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>
            <a:off x="10738694" y="1211565"/>
            <a:ext cx="6977806" cy="3731785"/>
          </a:xfrm>
          <a:custGeom>
            <a:avLst/>
            <a:gdLst/>
            <a:ahLst/>
            <a:cxnLst/>
            <a:rect r="r" b="b" t="t" l="l"/>
            <a:pathLst>
              <a:path h="3731785" w="6977806">
                <a:moveTo>
                  <a:pt x="0" y="1255059"/>
                </a:moveTo>
                <a:lnTo>
                  <a:pt x="0" y="228600"/>
                </a:lnTo>
                <a:cubicBezTo>
                  <a:pt x="0" y="167971"/>
                  <a:pt x="24085" y="109826"/>
                  <a:pt x="66956" y="66955"/>
                </a:cubicBezTo>
                <a:cubicBezTo>
                  <a:pt x="109826" y="24084"/>
                  <a:pt x="167971" y="0"/>
                  <a:pt x="228600" y="0"/>
                </a:cubicBezTo>
                <a:lnTo>
                  <a:pt x="2161021" y="0"/>
                </a:lnTo>
                <a:cubicBezTo>
                  <a:pt x="2221650" y="0"/>
                  <a:pt x="2279795" y="24084"/>
                  <a:pt x="2322665" y="66955"/>
                </a:cubicBezTo>
                <a:cubicBezTo>
                  <a:pt x="2365537" y="109826"/>
                  <a:pt x="2389621" y="167971"/>
                  <a:pt x="2389621" y="228600"/>
                </a:cubicBezTo>
                <a:lnTo>
                  <a:pt x="2389621" y="3438771"/>
                </a:lnTo>
                <a:cubicBezTo>
                  <a:pt x="2389621" y="3499400"/>
                  <a:pt x="2413706" y="3557545"/>
                  <a:pt x="2456577" y="3600416"/>
                </a:cubicBezTo>
                <a:cubicBezTo>
                  <a:pt x="2499447" y="3643287"/>
                  <a:pt x="2557592" y="3667371"/>
                  <a:pt x="2618221" y="3667371"/>
                </a:cubicBezTo>
                <a:lnTo>
                  <a:pt x="6945599" y="3667371"/>
                </a:lnTo>
                <a:cubicBezTo>
                  <a:pt x="6963387" y="3667371"/>
                  <a:pt x="6977806" y="3681791"/>
                  <a:pt x="6977806" y="3699578"/>
                </a:cubicBezTo>
                <a:lnTo>
                  <a:pt x="6977806" y="3699578"/>
                </a:lnTo>
                <a:cubicBezTo>
                  <a:pt x="6977806" y="3717366"/>
                  <a:pt x="6963387" y="3731785"/>
                  <a:pt x="6945599" y="3731785"/>
                </a:cubicBezTo>
                <a:lnTo>
                  <a:pt x="6520606" y="3731785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V="true">
            <a:off x="0" y="4423978"/>
            <a:ext cx="501378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>
            <a:off x="2466464" y="1211565"/>
            <a:ext cx="5117054" cy="3629271"/>
          </a:xfrm>
          <a:custGeom>
            <a:avLst/>
            <a:gdLst/>
            <a:ahLst/>
            <a:cxnLst/>
            <a:rect r="r" b="b" t="t" l="l"/>
            <a:pathLst>
              <a:path h="3629271" w="5117054">
                <a:moveTo>
                  <a:pt x="5117054" y="1255059"/>
                </a:moveTo>
                <a:lnTo>
                  <a:pt x="5117054" y="228600"/>
                </a:lnTo>
                <a:cubicBezTo>
                  <a:pt x="5117054" y="167971"/>
                  <a:pt x="5092969" y="109826"/>
                  <a:pt x="5050098" y="66955"/>
                </a:cubicBezTo>
                <a:cubicBezTo>
                  <a:pt x="5007228" y="24084"/>
                  <a:pt x="4949083" y="0"/>
                  <a:pt x="4888454" y="0"/>
                </a:cubicBezTo>
                <a:lnTo>
                  <a:pt x="2831951" y="0"/>
                </a:lnTo>
                <a:cubicBezTo>
                  <a:pt x="2705698" y="0"/>
                  <a:pt x="2603351" y="102348"/>
                  <a:pt x="2603351" y="228600"/>
                </a:cubicBezTo>
                <a:lnTo>
                  <a:pt x="2603351" y="3400671"/>
                </a:lnTo>
                <a:cubicBezTo>
                  <a:pt x="2603351" y="3526924"/>
                  <a:pt x="2501003" y="3629271"/>
                  <a:pt x="2374751" y="3629271"/>
                </a:cubicBezTo>
                <a:lnTo>
                  <a:pt x="0" y="3629271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0" y="9239250"/>
            <a:ext cx="501378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V="true">
            <a:off x="13005274" y="9220200"/>
            <a:ext cx="519385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>
            <a:off x="12932821" y="5234723"/>
            <a:ext cx="3062084" cy="4541744"/>
          </a:xfrm>
          <a:custGeom>
            <a:avLst/>
            <a:gdLst/>
            <a:ahLst/>
            <a:cxnLst/>
            <a:rect r="r" b="b" t="t" l="l"/>
            <a:pathLst>
              <a:path h="4541744" w="3062084">
                <a:moveTo>
                  <a:pt x="3062083" y="0"/>
                </a:moveTo>
                <a:lnTo>
                  <a:pt x="228600" y="0"/>
                </a:lnTo>
                <a:cubicBezTo>
                  <a:pt x="102348" y="0"/>
                  <a:pt x="0" y="102348"/>
                  <a:pt x="0" y="228600"/>
                </a:cubicBezTo>
                <a:lnTo>
                  <a:pt x="0" y="4313145"/>
                </a:lnTo>
                <a:cubicBezTo>
                  <a:pt x="0" y="4439397"/>
                  <a:pt x="102348" y="4541745"/>
                  <a:pt x="228600" y="4541745"/>
                </a:cubicBezTo>
                <a:lnTo>
                  <a:pt x="2607384" y="4541745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>
            <a:off x="2287170" y="5128619"/>
            <a:ext cx="2782645" cy="4647849"/>
          </a:xfrm>
          <a:custGeom>
            <a:avLst/>
            <a:gdLst/>
            <a:ahLst/>
            <a:cxnLst/>
            <a:rect r="r" b="b" t="t" l="l"/>
            <a:pathLst>
              <a:path h="4647849" w="2782645">
                <a:moveTo>
                  <a:pt x="194086" y="0"/>
                </a:moveTo>
                <a:lnTo>
                  <a:pt x="2554045" y="0"/>
                </a:lnTo>
                <a:cubicBezTo>
                  <a:pt x="2614673" y="0"/>
                  <a:pt x="2672818" y="24084"/>
                  <a:pt x="2715689" y="66955"/>
                </a:cubicBezTo>
                <a:cubicBezTo>
                  <a:pt x="2758560" y="109826"/>
                  <a:pt x="2782645" y="167971"/>
                  <a:pt x="2782645" y="228600"/>
                </a:cubicBezTo>
                <a:lnTo>
                  <a:pt x="2782645" y="4419249"/>
                </a:lnTo>
                <a:cubicBezTo>
                  <a:pt x="2782645" y="4545501"/>
                  <a:pt x="2680297" y="4647849"/>
                  <a:pt x="2554045" y="4647849"/>
                </a:cubicBezTo>
                <a:lnTo>
                  <a:pt x="0" y="4647849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flipV="true">
            <a:off x="6385939" y="5530941"/>
            <a:ext cx="537093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2" id="12"/>
          <p:cNvSpPr/>
          <p:nvPr/>
        </p:nvSpPr>
        <p:spPr>
          <a:xfrm>
            <a:off x="6096224" y="5546629"/>
            <a:ext cx="5624750" cy="3759977"/>
          </a:xfrm>
          <a:custGeom>
            <a:avLst/>
            <a:gdLst/>
            <a:ahLst/>
            <a:cxnLst/>
            <a:rect r="r" b="b" t="t" l="l"/>
            <a:pathLst>
              <a:path h="3759977" w="5624750">
                <a:moveTo>
                  <a:pt x="0" y="3362"/>
                </a:moveTo>
                <a:lnTo>
                  <a:pt x="0" y="1681"/>
                </a:lnTo>
                <a:cubicBezTo>
                  <a:pt x="0" y="753"/>
                  <a:pt x="753" y="0"/>
                  <a:pt x="1681" y="0"/>
                </a:cubicBezTo>
                <a:lnTo>
                  <a:pt x="316844" y="0"/>
                </a:lnTo>
                <a:cubicBezTo>
                  <a:pt x="377473" y="0"/>
                  <a:pt x="435618" y="24084"/>
                  <a:pt x="478489" y="66955"/>
                </a:cubicBezTo>
                <a:cubicBezTo>
                  <a:pt x="521360" y="109826"/>
                  <a:pt x="545444" y="167971"/>
                  <a:pt x="545444" y="228600"/>
                </a:cubicBezTo>
                <a:lnTo>
                  <a:pt x="545444" y="3531377"/>
                </a:lnTo>
                <a:cubicBezTo>
                  <a:pt x="545444" y="3592005"/>
                  <a:pt x="569529" y="3650151"/>
                  <a:pt x="612400" y="3693021"/>
                </a:cubicBezTo>
                <a:cubicBezTo>
                  <a:pt x="655270" y="3735892"/>
                  <a:pt x="713415" y="3759977"/>
                  <a:pt x="774044" y="3759977"/>
                </a:cubicBezTo>
                <a:lnTo>
                  <a:pt x="5396150" y="3759977"/>
                </a:lnTo>
                <a:cubicBezTo>
                  <a:pt x="5522402" y="3759977"/>
                  <a:pt x="5624750" y="3657629"/>
                  <a:pt x="5624750" y="3531377"/>
                </a:cubicBezTo>
                <a:lnTo>
                  <a:pt x="5624750" y="2549741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3" id="13"/>
          <p:cNvSpPr/>
          <p:nvPr/>
        </p:nvSpPr>
        <p:spPr>
          <a:xfrm>
            <a:off x="6710773" y="5553232"/>
            <a:ext cx="5046098" cy="3666968"/>
          </a:xfrm>
          <a:custGeom>
            <a:avLst/>
            <a:gdLst/>
            <a:ahLst/>
            <a:cxnLst/>
            <a:rect r="r" b="b" t="t" l="l"/>
            <a:pathLst>
              <a:path h="3666968" w="5046098">
                <a:moveTo>
                  <a:pt x="5046098" y="0"/>
                </a:moveTo>
                <a:lnTo>
                  <a:pt x="4980544" y="0"/>
                </a:lnTo>
                <a:cubicBezTo>
                  <a:pt x="4963157" y="0"/>
                  <a:pt x="4946483" y="6907"/>
                  <a:pt x="4934189" y="19200"/>
                </a:cubicBezTo>
                <a:cubicBezTo>
                  <a:pt x="4921895" y="31494"/>
                  <a:pt x="4914989" y="48168"/>
                  <a:pt x="4914989" y="65554"/>
                </a:cubicBezTo>
                <a:lnTo>
                  <a:pt x="4914989" y="3438368"/>
                </a:lnTo>
                <a:cubicBezTo>
                  <a:pt x="4914989" y="3498997"/>
                  <a:pt x="4890904" y="3557142"/>
                  <a:pt x="4848033" y="3600012"/>
                </a:cubicBezTo>
                <a:cubicBezTo>
                  <a:pt x="4805163" y="3642883"/>
                  <a:pt x="4747018" y="3666968"/>
                  <a:pt x="4686389" y="3666968"/>
                </a:cubicBezTo>
                <a:lnTo>
                  <a:pt x="0" y="3666968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-1164943" y="9776467"/>
            <a:ext cx="3711911" cy="1591482"/>
          </a:xfrm>
          <a:custGeom>
            <a:avLst/>
            <a:gdLst/>
            <a:ahLst/>
            <a:cxnLst/>
            <a:rect r="r" b="b" t="t" l="l"/>
            <a:pathLst>
              <a:path h="1591482" w="3711911">
                <a:moveTo>
                  <a:pt x="0" y="0"/>
                </a:moveTo>
                <a:lnTo>
                  <a:pt x="3711911" y="0"/>
                </a:lnTo>
                <a:lnTo>
                  <a:pt x="3711911" y="1591482"/>
                </a:lnTo>
                <a:lnTo>
                  <a:pt x="0" y="15914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4604129" y="9580916"/>
            <a:ext cx="4387287" cy="1881049"/>
          </a:xfrm>
          <a:custGeom>
            <a:avLst/>
            <a:gdLst/>
            <a:ahLst/>
            <a:cxnLst/>
            <a:rect r="r" b="b" t="t" l="l"/>
            <a:pathLst>
              <a:path h="1881049" w="4387287">
                <a:moveTo>
                  <a:pt x="0" y="0"/>
                </a:moveTo>
                <a:lnTo>
                  <a:pt x="4387287" y="0"/>
                </a:lnTo>
                <a:lnTo>
                  <a:pt x="4387287" y="1881049"/>
                </a:lnTo>
                <a:lnTo>
                  <a:pt x="0" y="18810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6" id="16"/>
          <p:cNvSpPr/>
          <p:nvPr/>
        </p:nvSpPr>
        <p:spPr>
          <a:xfrm>
            <a:off x="5897880" y="4468784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7" id="17"/>
          <p:cNvSpPr/>
          <p:nvPr/>
        </p:nvSpPr>
        <p:spPr>
          <a:xfrm flipH="false" flipV="false" rot="0">
            <a:off x="0" y="5143500"/>
            <a:ext cx="5069679" cy="3990975"/>
          </a:xfrm>
          <a:custGeom>
            <a:avLst/>
            <a:gdLst/>
            <a:ahLst/>
            <a:cxnLst/>
            <a:rect r="r" b="b" t="t" l="l"/>
            <a:pathLst>
              <a:path h="3990975" w="5069679">
                <a:moveTo>
                  <a:pt x="0" y="0"/>
                </a:moveTo>
                <a:lnTo>
                  <a:pt x="5069679" y="0"/>
                </a:lnTo>
                <a:lnTo>
                  <a:pt x="5069679" y="3990975"/>
                </a:lnTo>
                <a:lnTo>
                  <a:pt x="0" y="39909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71204" r="0" b="-54624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0" y="0"/>
            <a:ext cx="5027197" cy="4366828"/>
          </a:xfrm>
          <a:custGeom>
            <a:avLst/>
            <a:gdLst/>
            <a:ahLst/>
            <a:cxnLst/>
            <a:rect r="r" b="b" t="t" l="l"/>
            <a:pathLst>
              <a:path h="4366828" w="5027197">
                <a:moveTo>
                  <a:pt x="0" y="0"/>
                </a:moveTo>
                <a:lnTo>
                  <a:pt x="5027197" y="0"/>
                </a:lnTo>
                <a:lnTo>
                  <a:pt x="5027197" y="4366828"/>
                </a:lnTo>
                <a:lnTo>
                  <a:pt x="0" y="43668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9165" t="0" r="-31013" b="-1744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2916400" y="5244857"/>
            <a:ext cx="5282726" cy="3873986"/>
          </a:xfrm>
          <a:custGeom>
            <a:avLst/>
            <a:gdLst/>
            <a:ahLst/>
            <a:cxnLst/>
            <a:rect r="r" b="b" t="t" l="l"/>
            <a:pathLst>
              <a:path h="3873986" w="5282726">
                <a:moveTo>
                  <a:pt x="0" y="0"/>
                </a:moveTo>
                <a:lnTo>
                  <a:pt x="5282727" y="0"/>
                </a:lnTo>
                <a:lnTo>
                  <a:pt x="5282727" y="3873986"/>
                </a:lnTo>
                <a:lnTo>
                  <a:pt x="0" y="387398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7613" t="-26816" r="0" b="-87026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6710772" y="5553232"/>
            <a:ext cx="4856623" cy="3565611"/>
          </a:xfrm>
          <a:custGeom>
            <a:avLst/>
            <a:gdLst/>
            <a:ahLst/>
            <a:cxnLst/>
            <a:rect r="r" b="b" t="t" l="l"/>
            <a:pathLst>
              <a:path h="3565611" w="4856623">
                <a:moveTo>
                  <a:pt x="0" y="0"/>
                </a:moveTo>
                <a:lnTo>
                  <a:pt x="4856623" y="0"/>
                </a:lnTo>
                <a:lnTo>
                  <a:pt x="4856623" y="3565611"/>
                </a:lnTo>
                <a:lnTo>
                  <a:pt x="0" y="356561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4085" t="-19266" r="0" b="-22506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3117584" y="-16792"/>
            <a:ext cx="5081542" cy="4383620"/>
          </a:xfrm>
          <a:custGeom>
            <a:avLst/>
            <a:gdLst/>
            <a:ahLst/>
            <a:cxnLst/>
            <a:rect r="r" b="b" t="t" l="l"/>
            <a:pathLst>
              <a:path h="4383620" w="5081542">
                <a:moveTo>
                  <a:pt x="0" y="0"/>
                </a:moveTo>
                <a:lnTo>
                  <a:pt x="5081543" y="0"/>
                </a:lnTo>
                <a:lnTo>
                  <a:pt x="5081543" y="4383620"/>
                </a:lnTo>
                <a:lnTo>
                  <a:pt x="0" y="438362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2290" t="-59451" r="-1748" b="-56314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3372865" y="4452553"/>
            <a:ext cx="3886435" cy="490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3"/>
              </a:lnSpc>
              <a:spcBef>
                <a:spcPct val="0"/>
              </a:spcBef>
            </a:pPr>
            <a:r>
              <a:rPr lang="en-US" b="true" sz="2802">
                <a:solidFill>
                  <a:srgbClr val="000000"/>
                </a:solidFill>
                <a:latin typeface="Cloud Bold"/>
                <a:ea typeface="Cloud Bold"/>
                <a:cs typeface="Cloud Bold"/>
                <a:sym typeface="Cloud Bold"/>
              </a:rPr>
              <a:t>Mehany Mohamed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836214" y="9289998"/>
            <a:ext cx="3053354" cy="486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9"/>
              </a:lnSpc>
              <a:spcBef>
                <a:spcPct val="0"/>
              </a:spcBef>
            </a:pPr>
            <a:r>
              <a:rPr lang="en-US" b="true" sz="2856">
                <a:solidFill>
                  <a:srgbClr val="000000"/>
                </a:solidFill>
                <a:latin typeface="Cloud Bold"/>
                <a:ea typeface="Cloud Bold"/>
                <a:cs typeface="Cloud Bold"/>
                <a:sym typeface="Cloud Bold"/>
              </a:rPr>
              <a:t>Anas Mahmoud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021364" y="4411634"/>
            <a:ext cx="2931487" cy="469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39"/>
              </a:lnSpc>
              <a:spcBef>
                <a:spcPct val="0"/>
              </a:spcBef>
            </a:pPr>
            <a:r>
              <a:rPr lang="en-US" b="true" sz="2742">
                <a:solidFill>
                  <a:srgbClr val="000000"/>
                </a:solidFill>
                <a:latin typeface="Cloud Bold"/>
                <a:ea typeface="Cloud Bold"/>
                <a:cs typeface="Cloud Bold"/>
                <a:sym typeface="Cloud Bold"/>
              </a:rPr>
              <a:t>Mariam Gamal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960431" y="9289998"/>
            <a:ext cx="3053354" cy="486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9"/>
              </a:lnSpc>
              <a:spcBef>
                <a:spcPct val="0"/>
              </a:spcBef>
            </a:pPr>
            <a:r>
              <a:rPr lang="en-US" b="true" sz="2856">
                <a:solidFill>
                  <a:srgbClr val="000000"/>
                </a:solidFill>
                <a:latin typeface="Cloud Bold"/>
                <a:ea typeface="Cloud Bold"/>
                <a:cs typeface="Cloud Bold"/>
                <a:sym typeface="Cloud Bold"/>
              </a:rPr>
              <a:t>Seham Morsy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250091" y="4938207"/>
            <a:ext cx="3757544" cy="516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3"/>
              </a:lnSpc>
              <a:spcBef>
                <a:spcPct val="0"/>
              </a:spcBef>
            </a:pPr>
            <a:r>
              <a:rPr lang="en-US" b="true" sz="2902">
                <a:solidFill>
                  <a:srgbClr val="000000"/>
                </a:solidFill>
                <a:latin typeface="Cloud Bold"/>
                <a:ea typeface="Cloud Bold"/>
                <a:cs typeface="Cloud Bold"/>
                <a:sym typeface="Cloud Bold"/>
              </a:rPr>
              <a:t>Basma Magdy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700000">
            <a:off x="16238236" y="-109533"/>
            <a:ext cx="5513626" cy="5513626"/>
          </a:xfrm>
          <a:custGeom>
            <a:avLst/>
            <a:gdLst/>
            <a:ahLst/>
            <a:cxnLst/>
            <a:rect r="r" b="b" t="t" l="l"/>
            <a:pathLst>
              <a:path h="5513626" w="5513626">
                <a:moveTo>
                  <a:pt x="0" y="0"/>
                </a:moveTo>
                <a:lnTo>
                  <a:pt x="5513626" y="0"/>
                </a:lnTo>
                <a:lnTo>
                  <a:pt x="5513626" y="5513626"/>
                </a:lnTo>
                <a:lnTo>
                  <a:pt x="0" y="55136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700000">
            <a:off x="-3448068" y="4682786"/>
            <a:ext cx="5656446" cy="5656446"/>
          </a:xfrm>
          <a:custGeom>
            <a:avLst/>
            <a:gdLst/>
            <a:ahLst/>
            <a:cxnLst/>
            <a:rect r="r" b="b" t="t" l="l"/>
            <a:pathLst>
              <a:path h="5656446" w="5656446">
                <a:moveTo>
                  <a:pt x="0" y="0"/>
                </a:moveTo>
                <a:lnTo>
                  <a:pt x="5656446" y="0"/>
                </a:lnTo>
                <a:lnTo>
                  <a:pt x="5656446" y="5656446"/>
                </a:lnTo>
                <a:lnTo>
                  <a:pt x="0" y="56564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4904585" y="3602757"/>
            <a:ext cx="6896381" cy="7816504"/>
            <a:chOff x="0" y="0"/>
            <a:chExt cx="717121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17121" cy="812800"/>
            </a:xfrm>
            <a:custGeom>
              <a:avLst/>
              <a:gdLst/>
              <a:ahLst/>
              <a:cxnLst/>
              <a:rect r="r" b="b" t="t" l="l"/>
              <a:pathLst>
                <a:path h="812800" w="717121">
                  <a:moveTo>
                    <a:pt x="358560" y="0"/>
                  </a:moveTo>
                  <a:lnTo>
                    <a:pt x="717121" y="406400"/>
                  </a:lnTo>
                  <a:lnTo>
                    <a:pt x="358560" y="812800"/>
                  </a:lnTo>
                  <a:lnTo>
                    <a:pt x="0" y="406400"/>
                  </a:lnTo>
                  <a:lnTo>
                    <a:pt x="358560" y="0"/>
                  </a:lnTo>
                  <a:close/>
                </a:path>
              </a:pathLst>
            </a:custGeom>
            <a:solidFill>
              <a:srgbClr val="2F415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123255" y="44450"/>
              <a:ext cx="470611" cy="628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5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347405" y="-1260972"/>
            <a:ext cx="6829055" cy="7816504"/>
            <a:chOff x="0" y="0"/>
            <a:chExt cx="71012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10120" cy="812800"/>
            </a:xfrm>
            <a:custGeom>
              <a:avLst/>
              <a:gdLst/>
              <a:ahLst/>
              <a:cxnLst/>
              <a:rect r="r" b="b" t="t" l="l"/>
              <a:pathLst>
                <a:path h="812800" w="710120">
                  <a:moveTo>
                    <a:pt x="355060" y="0"/>
                  </a:moveTo>
                  <a:lnTo>
                    <a:pt x="710120" y="406400"/>
                  </a:lnTo>
                  <a:lnTo>
                    <a:pt x="355060" y="812800"/>
                  </a:lnTo>
                  <a:lnTo>
                    <a:pt x="0" y="406400"/>
                  </a:lnTo>
                  <a:lnTo>
                    <a:pt x="355060" y="0"/>
                  </a:lnTo>
                  <a:close/>
                </a:path>
              </a:pathLst>
            </a:custGeom>
            <a:solidFill>
              <a:srgbClr val="2F4156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22052" y="44450"/>
              <a:ext cx="466016" cy="628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5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false" rot="0">
            <a:off x="244173" y="-512043"/>
            <a:ext cx="3331650" cy="3159323"/>
          </a:xfrm>
          <a:custGeom>
            <a:avLst/>
            <a:gdLst/>
            <a:ahLst/>
            <a:cxnLst/>
            <a:rect r="r" b="b" t="t" l="l"/>
            <a:pathLst>
              <a:path h="3159323" w="3331650">
                <a:moveTo>
                  <a:pt x="3331649" y="0"/>
                </a:moveTo>
                <a:lnTo>
                  <a:pt x="0" y="0"/>
                </a:lnTo>
                <a:lnTo>
                  <a:pt x="0" y="3159323"/>
                </a:lnTo>
                <a:lnTo>
                  <a:pt x="3331649" y="3159323"/>
                </a:lnTo>
                <a:lnTo>
                  <a:pt x="333164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972670" y="-852349"/>
            <a:ext cx="4387287" cy="1881049"/>
          </a:xfrm>
          <a:custGeom>
            <a:avLst/>
            <a:gdLst/>
            <a:ahLst/>
            <a:cxnLst/>
            <a:rect r="r" b="b" t="t" l="l"/>
            <a:pathLst>
              <a:path h="1881049" w="4387287">
                <a:moveTo>
                  <a:pt x="0" y="0"/>
                </a:moveTo>
                <a:lnTo>
                  <a:pt x="4387287" y="0"/>
                </a:lnTo>
                <a:lnTo>
                  <a:pt x="4387287" y="1881049"/>
                </a:lnTo>
                <a:lnTo>
                  <a:pt x="0" y="188104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991796" y="2552030"/>
            <a:ext cx="6807756" cy="7022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96"/>
              </a:lnSpc>
              <a:spcBef>
                <a:spcPct val="0"/>
              </a:spcBef>
            </a:pPr>
            <a:r>
              <a:rPr lang="en-US" b="true" sz="3640" i="true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1-</a:t>
            </a:r>
            <a:r>
              <a:rPr lang="en-US" b="true" sz="3640" i="true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Our Team</a:t>
            </a:r>
          </a:p>
          <a:p>
            <a:pPr algn="l">
              <a:lnSpc>
                <a:spcPts val="5096"/>
              </a:lnSpc>
              <a:spcBef>
                <a:spcPct val="0"/>
              </a:spcBef>
            </a:pPr>
          </a:p>
          <a:p>
            <a:pPr algn="l">
              <a:lnSpc>
                <a:spcPts val="5096"/>
              </a:lnSpc>
              <a:spcBef>
                <a:spcPct val="0"/>
              </a:spcBef>
            </a:pPr>
            <a:r>
              <a:rPr lang="en-US" b="true" sz="3640" i="true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2-Project Overview</a:t>
            </a:r>
          </a:p>
          <a:p>
            <a:pPr algn="l">
              <a:lnSpc>
                <a:spcPts val="5096"/>
              </a:lnSpc>
              <a:spcBef>
                <a:spcPct val="0"/>
              </a:spcBef>
            </a:pPr>
          </a:p>
          <a:p>
            <a:pPr algn="l">
              <a:lnSpc>
                <a:spcPts val="5096"/>
              </a:lnSpc>
              <a:spcBef>
                <a:spcPct val="0"/>
              </a:spcBef>
            </a:pPr>
            <a:r>
              <a:rPr lang="en-US" b="true" sz="3640" i="true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3-Project Objectives</a:t>
            </a:r>
          </a:p>
          <a:p>
            <a:pPr algn="l">
              <a:lnSpc>
                <a:spcPts val="5096"/>
              </a:lnSpc>
              <a:spcBef>
                <a:spcPct val="0"/>
              </a:spcBef>
            </a:pPr>
            <a:r>
              <a:rPr lang="en-US" b="true" sz="3640" i="true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 </a:t>
            </a:r>
          </a:p>
          <a:p>
            <a:pPr algn="l">
              <a:lnSpc>
                <a:spcPts val="5096"/>
              </a:lnSpc>
              <a:spcBef>
                <a:spcPct val="0"/>
              </a:spcBef>
            </a:pPr>
            <a:r>
              <a:rPr lang="en-US" b="true" sz="3640" i="true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4-Project Framework</a:t>
            </a:r>
          </a:p>
          <a:p>
            <a:pPr algn="l">
              <a:lnSpc>
                <a:spcPts val="5096"/>
              </a:lnSpc>
              <a:spcBef>
                <a:spcPct val="0"/>
              </a:spcBef>
            </a:pPr>
          </a:p>
          <a:p>
            <a:pPr algn="l">
              <a:lnSpc>
                <a:spcPts val="5096"/>
              </a:lnSpc>
              <a:spcBef>
                <a:spcPct val="0"/>
              </a:spcBef>
            </a:pPr>
            <a:r>
              <a:rPr lang="en-US" b="true" sz="3640" i="true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5-Data Collection</a:t>
            </a:r>
          </a:p>
          <a:p>
            <a:pPr algn="l">
              <a:lnSpc>
                <a:spcPts val="5096"/>
              </a:lnSpc>
              <a:spcBef>
                <a:spcPct val="0"/>
              </a:spcBef>
            </a:pPr>
          </a:p>
          <a:p>
            <a:pPr algn="l">
              <a:lnSpc>
                <a:spcPts val="5096"/>
              </a:lnSpc>
              <a:spcBef>
                <a:spcPct val="0"/>
              </a:spcBef>
            </a:pPr>
            <a:r>
              <a:rPr lang="en-US" b="true" sz="3640" i="true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6-DataCleaning&amp; enhancement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606827" y="1982093"/>
            <a:ext cx="7782894" cy="8409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2"/>
              </a:lnSpc>
            </a:pPr>
          </a:p>
          <a:p>
            <a:pPr algn="l">
              <a:lnSpc>
                <a:spcPts val="4272"/>
              </a:lnSpc>
            </a:pPr>
            <a:r>
              <a:rPr lang="en-US" sz="3051" i="true" b="true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7-Data Transformation &amp; Feature Engineering</a:t>
            </a:r>
          </a:p>
          <a:p>
            <a:pPr algn="l">
              <a:lnSpc>
                <a:spcPts val="4272"/>
              </a:lnSpc>
            </a:pPr>
          </a:p>
          <a:p>
            <a:pPr algn="l">
              <a:lnSpc>
                <a:spcPts val="4272"/>
              </a:lnSpc>
            </a:pPr>
            <a:r>
              <a:rPr lang="en-US" sz="3051" i="true" b="true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8-Data Modeling &amp; Database Schema Design</a:t>
            </a:r>
          </a:p>
          <a:p>
            <a:pPr algn="l">
              <a:lnSpc>
                <a:spcPts val="4272"/>
              </a:lnSpc>
            </a:pPr>
          </a:p>
          <a:p>
            <a:pPr algn="l">
              <a:lnSpc>
                <a:spcPts val="4272"/>
              </a:lnSpc>
            </a:pPr>
            <a:r>
              <a:rPr lang="en-US" sz="3051" i="true" b="true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9-SQL Analytics &amp; Insights Extraction</a:t>
            </a:r>
          </a:p>
          <a:p>
            <a:pPr algn="l">
              <a:lnSpc>
                <a:spcPts val="4272"/>
              </a:lnSpc>
            </a:pPr>
          </a:p>
          <a:p>
            <a:pPr algn="l">
              <a:lnSpc>
                <a:spcPts val="4272"/>
              </a:lnSpc>
            </a:pPr>
            <a:r>
              <a:rPr lang="en-US" sz="3051" i="true" b="true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10-Market Insights </a:t>
            </a:r>
          </a:p>
          <a:p>
            <a:pPr algn="l">
              <a:lnSpc>
                <a:spcPts val="4272"/>
              </a:lnSpc>
            </a:pPr>
          </a:p>
          <a:p>
            <a:pPr algn="l">
              <a:lnSpc>
                <a:spcPts val="4272"/>
              </a:lnSpc>
            </a:pPr>
            <a:r>
              <a:rPr lang="en-US" sz="3051" i="true" b="true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11-DashBoard </a:t>
            </a:r>
          </a:p>
          <a:p>
            <a:pPr algn="l">
              <a:lnSpc>
                <a:spcPts val="4272"/>
              </a:lnSpc>
            </a:pPr>
          </a:p>
          <a:p>
            <a:pPr algn="l">
              <a:lnSpc>
                <a:spcPts val="4272"/>
              </a:lnSpc>
            </a:pPr>
            <a:r>
              <a:rPr lang="en-US" sz="3051" i="true" b="true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12-Strategic Conclusions &amp; Recommendations</a:t>
            </a:r>
          </a:p>
          <a:p>
            <a:pPr algn="l">
              <a:lnSpc>
                <a:spcPts val="3216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4639221" y="68988"/>
            <a:ext cx="8320662" cy="1327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true">
                <a:solidFill>
                  <a:srgbClr val="2F4156"/>
                </a:solidFill>
                <a:latin typeface="Clarendon Narrow Bold"/>
                <a:ea typeface="Clarendon Narrow Bold"/>
                <a:cs typeface="Clarendon Narrow Bold"/>
                <a:sym typeface="Clarendon Narrow Bold"/>
              </a:rPr>
              <a:t>Agenda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-504025" y="-343927"/>
            <a:ext cx="6508145" cy="2745254"/>
          </a:xfrm>
          <a:custGeom>
            <a:avLst/>
            <a:gdLst/>
            <a:ahLst/>
            <a:cxnLst/>
            <a:rect r="r" b="b" t="t" l="l"/>
            <a:pathLst>
              <a:path h="2745254" w="6508145">
                <a:moveTo>
                  <a:pt x="0" y="2745254"/>
                </a:moveTo>
                <a:lnTo>
                  <a:pt x="6508145" y="2745254"/>
                </a:lnTo>
                <a:lnTo>
                  <a:pt x="6508145" y="0"/>
                </a:lnTo>
                <a:lnTo>
                  <a:pt x="0" y="0"/>
                </a:lnTo>
                <a:lnTo>
                  <a:pt x="0" y="274525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5889928" y="-343927"/>
            <a:ext cx="6508145" cy="2745254"/>
          </a:xfrm>
          <a:custGeom>
            <a:avLst/>
            <a:gdLst/>
            <a:ahLst/>
            <a:cxnLst/>
            <a:rect r="r" b="b" t="t" l="l"/>
            <a:pathLst>
              <a:path h="2745254" w="6508145">
                <a:moveTo>
                  <a:pt x="6508144" y="2745254"/>
                </a:moveTo>
                <a:lnTo>
                  <a:pt x="0" y="2745254"/>
                </a:lnTo>
                <a:lnTo>
                  <a:pt x="0" y="0"/>
                </a:lnTo>
                <a:lnTo>
                  <a:pt x="6508144" y="0"/>
                </a:lnTo>
                <a:lnTo>
                  <a:pt x="6508144" y="274525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2283880" y="-343927"/>
            <a:ext cx="6508145" cy="2745254"/>
          </a:xfrm>
          <a:custGeom>
            <a:avLst/>
            <a:gdLst/>
            <a:ahLst/>
            <a:cxnLst/>
            <a:rect r="r" b="b" t="t" l="l"/>
            <a:pathLst>
              <a:path h="2745254" w="6508145">
                <a:moveTo>
                  <a:pt x="0" y="2745254"/>
                </a:moveTo>
                <a:lnTo>
                  <a:pt x="6508145" y="2745254"/>
                </a:lnTo>
                <a:lnTo>
                  <a:pt x="6508145" y="0"/>
                </a:lnTo>
                <a:lnTo>
                  <a:pt x="0" y="0"/>
                </a:lnTo>
                <a:lnTo>
                  <a:pt x="0" y="274525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529317" y="1847436"/>
            <a:ext cx="12703611" cy="12691989"/>
          </a:xfrm>
          <a:custGeom>
            <a:avLst/>
            <a:gdLst/>
            <a:ahLst/>
            <a:cxnLst/>
            <a:rect r="r" b="b" t="t" l="l"/>
            <a:pathLst>
              <a:path h="12691989" w="12703611">
                <a:moveTo>
                  <a:pt x="0" y="0"/>
                </a:moveTo>
                <a:lnTo>
                  <a:pt x="12703611" y="0"/>
                </a:lnTo>
                <a:lnTo>
                  <a:pt x="12703611" y="12691988"/>
                </a:lnTo>
                <a:lnTo>
                  <a:pt x="0" y="126919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1305563" y="1847436"/>
            <a:ext cx="20874260" cy="10284366"/>
            <a:chOff x="0" y="0"/>
            <a:chExt cx="728174" cy="35875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28174" cy="358758"/>
            </a:xfrm>
            <a:custGeom>
              <a:avLst/>
              <a:gdLst/>
              <a:ahLst/>
              <a:cxnLst/>
              <a:rect r="r" b="b" t="t" l="l"/>
              <a:pathLst>
                <a:path h="358758" w="728174">
                  <a:moveTo>
                    <a:pt x="242856" y="19070"/>
                  </a:moveTo>
                  <a:cubicBezTo>
                    <a:pt x="280067" y="7556"/>
                    <a:pt x="322629" y="0"/>
                    <a:pt x="364283" y="0"/>
                  </a:cubicBezTo>
                  <a:cubicBezTo>
                    <a:pt x="405939" y="0"/>
                    <a:pt x="446022" y="6476"/>
                    <a:pt x="482960" y="17990"/>
                  </a:cubicBezTo>
                  <a:cubicBezTo>
                    <a:pt x="483747" y="18350"/>
                    <a:pt x="484533" y="18350"/>
                    <a:pt x="485318" y="18710"/>
                  </a:cubicBezTo>
                  <a:cubicBezTo>
                    <a:pt x="624037" y="64765"/>
                    <a:pt x="726209" y="186379"/>
                    <a:pt x="728174" y="318416"/>
                  </a:cubicBezTo>
                  <a:lnTo>
                    <a:pt x="728174" y="358758"/>
                  </a:lnTo>
                  <a:lnTo>
                    <a:pt x="0" y="358758"/>
                  </a:lnTo>
                  <a:lnTo>
                    <a:pt x="0" y="318446"/>
                  </a:lnTo>
                  <a:cubicBezTo>
                    <a:pt x="1965" y="185660"/>
                    <a:pt x="102565" y="64045"/>
                    <a:pt x="242856" y="19070"/>
                  </a:cubicBezTo>
                  <a:close/>
                </a:path>
              </a:pathLst>
            </a:custGeom>
            <a:solidFill>
              <a:srgbClr val="2F415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31750"/>
              <a:ext cx="728174" cy="327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5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4795531" y="998553"/>
            <a:ext cx="1697766" cy="1697766"/>
          </a:xfrm>
          <a:custGeom>
            <a:avLst/>
            <a:gdLst/>
            <a:ahLst/>
            <a:cxnLst/>
            <a:rect r="r" b="b" t="t" l="l"/>
            <a:pathLst>
              <a:path h="1697766" w="1697766">
                <a:moveTo>
                  <a:pt x="0" y="0"/>
                </a:moveTo>
                <a:lnTo>
                  <a:pt x="1697766" y="0"/>
                </a:lnTo>
                <a:lnTo>
                  <a:pt x="1697766" y="1697766"/>
                </a:lnTo>
                <a:lnTo>
                  <a:pt x="0" y="16977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923855" y="998553"/>
            <a:ext cx="1697766" cy="1697766"/>
          </a:xfrm>
          <a:custGeom>
            <a:avLst/>
            <a:gdLst/>
            <a:ahLst/>
            <a:cxnLst/>
            <a:rect r="r" b="b" t="t" l="l"/>
            <a:pathLst>
              <a:path h="1697766" w="1697766">
                <a:moveTo>
                  <a:pt x="0" y="0"/>
                </a:moveTo>
                <a:lnTo>
                  <a:pt x="1697766" y="0"/>
                </a:lnTo>
                <a:lnTo>
                  <a:pt x="1697766" y="1697766"/>
                </a:lnTo>
                <a:lnTo>
                  <a:pt x="0" y="16977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7568366" y="1627460"/>
            <a:ext cx="1203264" cy="1203264"/>
          </a:xfrm>
          <a:custGeom>
            <a:avLst/>
            <a:gdLst/>
            <a:ahLst/>
            <a:cxnLst/>
            <a:rect r="r" b="b" t="t" l="l"/>
            <a:pathLst>
              <a:path h="1203264" w="1203264">
                <a:moveTo>
                  <a:pt x="0" y="0"/>
                </a:moveTo>
                <a:lnTo>
                  <a:pt x="1203265" y="0"/>
                </a:lnTo>
                <a:lnTo>
                  <a:pt x="1203265" y="1203264"/>
                </a:lnTo>
                <a:lnTo>
                  <a:pt x="0" y="120326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601632" y="2401327"/>
            <a:ext cx="1203264" cy="1203264"/>
          </a:xfrm>
          <a:custGeom>
            <a:avLst/>
            <a:gdLst/>
            <a:ahLst/>
            <a:cxnLst/>
            <a:rect r="r" b="b" t="t" l="l"/>
            <a:pathLst>
              <a:path h="1203264" w="1203264">
                <a:moveTo>
                  <a:pt x="0" y="0"/>
                </a:moveTo>
                <a:lnTo>
                  <a:pt x="1203264" y="0"/>
                </a:lnTo>
                <a:lnTo>
                  <a:pt x="1203264" y="1203264"/>
                </a:lnTo>
                <a:lnTo>
                  <a:pt x="0" y="120326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905504" y="457259"/>
            <a:ext cx="5978825" cy="1109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20"/>
              </a:lnSpc>
            </a:pPr>
            <a:r>
              <a:rPr lang="en-US" sz="5800" b="true">
                <a:solidFill>
                  <a:srgbClr val="2F4156"/>
                </a:solidFill>
                <a:latin typeface="Clarendon Narrow Bold"/>
                <a:ea typeface="Clarendon Narrow Bold"/>
                <a:cs typeface="Clarendon Narrow Bold"/>
                <a:sym typeface="Clarendon Narrow Bold"/>
              </a:rPr>
              <a:t>Project Overview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872113" y="3729849"/>
            <a:ext cx="12665839" cy="6557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82"/>
              </a:lnSpc>
            </a:pPr>
            <a:r>
              <a:rPr lang="en-US" sz="2844" i="true">
                <a:solidFill>
                  <a:srgbClr val="F5EFEB"/>
                </a:solidFill>
                <a:latin typeface="Arial Italics"/>
                <a:ea typeface="Arial Italics"/>
                <a:cs typeface="Arial Italics"/>
                <a:sym typeface="Arial Italics"/>
              </a:rPr>
              <a:t>Project Origin: The project began with a fundamental question directed to an export team leader: "Why are we not exporting Hydrogen Peroxide ?"</a:t>
            </a:r>
          </a:p>
          <a:p>
            <a:pPr algn="just">
              <a:lnSpc>
                <a:spcPts val="3982"/>
              </a:lnSpc>
            </a:pPr>
          </a:p>
          <a:p>
            <a:pPr algn="just">
              <a:lnSpc>
                <a:spcPts val="3982"/>
              </a:lnSpc>
            </a:pPr>
            <a:r>
              <a:rPr lang="en-US" sz="2844" i="true">
                <a:solidFill>
                  <a:srgbClr val="F5EFEB"/>
                </a:solidFill>
                <a:latin typeface="Arial Italics"/>
                <a:ea typeface="Arial Italics"/>
                <a:cs typeface="Arial Italics"/>
                <a:sym typeface="Arial Italics"/>
              </a:rPr>
              <a:t> To answer this question using actual trade data and complete quantitative analysis, rather than relying on qualitative opinions or generic recommendations.</a:t>
            </a:r>
          </a:p>
          <a:p>
            <a:pPr algn="just">
              <a:lnSpc>
                <a:spcPts val="3982"/>
              </a:lnSpc>
            </a:pPr>
          </a:p>
          <a:p>
            <a:pPr algn="just">
              <a:lnSpc>
                <a:spcPts val="3982"/>
              </a:lnSpc>
            </a:pPr>
            <a:r>
              <a:rPr lang="en-US" sz="2844" i="true">
                <a:solidFill>
                  <a:srgbClr val="F5EFEB"/>
                </a:solidFill>
                <a:latin typeface="Arial Italics"/>
                <a:ea typeface="Arial Italics"/>
                <a:cs typeface="Arial Italics"/>
                <a:sym typeface="Arial Italics"/>
              </a:rPr>
              <a:t>Key Research Questions:</a:t>
            </a:r>
          </a:p>
          <a:p>
            <a:pPr algn="just">
              <a:lnSpc>
                <a:spcPts val="3982"/>
              </a:lnSpc>
            </a:pPr>
          </a:p>
          <a:p>
            <a:pPr algn="just">
              <a:lnSpc>
                <a:spcPts val="3982"/>
              </a:lnSpc>
            </a:pPr>
            <a:r>
              <a:rPr lang="en-US" sz="2844" i="true">
                <a:solidFill>
                  <a:srgbClr val="F5EFEB"/>
                </a:solidFill>
                <a:latin typeface="Arial Italics"/>
                <a:ea typeface="Arial Italics"/>
                <a:cs typeface="Arial Italics"/>
                <a:sym typeface="Arial Italics"/>
              </a:rPr>
              <a:t>How can we identify the most attractive global export markets?</a:t>
            </a:r>
          </a:p>
          <a:p>
            <a:pPr algn="just">
              <a:lnSpc>
                <a:spcPts val="3982"/>
              </a:lnSpc>
            </a:pPr>
          </a:p>
          <a:p>
            <a:pPr algn="just">
              <a:lnSpc>
                <a:spcPts val="3982"/>
              </a:lnSpc>
            </a:pPr>
            <a:r>
              <a:rPr lang="en-US" sz="2844" i="true">
                <a:solidFill>
                  <a:srgbClr val="F5EFEB"/>
                </a:solidFill>
                <a:latin typeface="Arial Italics"/>
                <a:ea typeface="Arial Italics"/>
                <a:cs typeface="Arial Italics"/>
                <a:sym typeface="Arial Italics"/>
              </a:rPr>
              <a:t>Who are our primary international competitors in these markets?</a:t>
            </a:r>
          </a:p>
          <a:p>
            <a:pPr algn="just">
              <a:lnSpc>
                <a:spcPts val="398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-504025" y="-343927"/>
            <a:ext cx="6508145" cy="2745254"/>
          </a:xfrm>
          <a:custGeom>
            <a:avLst/>
            <a:gdLst/>
            <a:ahLst/>
            <a:cxnLst/>
            <a:rect r="r" b="b" t="t" l="l"/>
            <a:pathLst>
              <a:path h="2745254" w="6508145">
                <a:moveTo>
                  <a:pt x="0" y="2745254"/>
                </a:moveTo>
                <a:lnTo>
                  <a:pt x="6508145" y="2745254"/>
                </a:lnTo>
                <a:lnTo>
                  <a:pt x="6508145" y="0"/>
                </a:lnTo>
                <a:lnTo>
                  <a:pt x="0" y="0"/>
                </a:lnTo>
                <a:lnTo>
                  <a:pt x="0" y="274525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5889928" y="-343927"/>
            <a:ext cx="6508145" cy="2745254"/>
          </a:xfrm>
          <a:custGeom>
            <a:avLst/>
            <a:gdLst/>
            <a:ahLst/>
            <a:cxnLst/>
            <a:rect r="r" b="b" t="t" l="l"/>
            <a:pathLst>
              <a:path h="2745254" w="6508145">
                <a:moveTo>
                  <a:pt x="6508144" y="2745254"/>
                </a:moveTo>
                <a:lnTo>
                  <a:pt x="0" y="2745254"/>
                </a:lnTo>
                <a:lnTo>
                  <a:pt x="0" y="0"/>
                </a:lnTo>
                <a:lnTo>
                  <a:pt x="6508144" y="0"/>
                </a:lnTo>
                <a:lnTo>
                  <a:pt x="6508144" y="274525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2283880" y="-343927"/>
            <a:ext cx="6508145" cy="2745254"/>
          </a:xfrm>
          <a:custGeom>
            <a:avLst/>
            <a:gdLst/>
            <a:ahLst/>
            <a:cxnLst/>
            <a:rect r="r" b="b" t="t" l="l"/>
            <a:pathLst>
              <a:path h="2745254" w="6508145">
                <a:moveTo>
                  <a:pt x="0" y="2745254"/>
                </a:moveTo>
                <a:lnTo>
                  <a:pt x="6508145" y="2745254"/>
                </a:lnTo>
                <a:lnTo>
                  <a:pt x="6508145" y="0"/>
                </a:lnTo>
                <a:lnTo>
                  <a:pt x="0" y="0"/>
                </a:lnTo>
                <a:lnTo>
                  <a:pt x="0" y="274525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529317" y="1847436"/>
            <a:ext cx="12703611" cy="12691989"/>
          </a:xfrm>
          <a:custGeom>
            <a:avLst/>
            <a:gdLst/>
            <a:ahLst/>
            <a:cxnLst/>
            <a:rect r="r" b="b" t="t" l="l"/>
            <a:pathLst>
              <a:path h="12691989" w="12703611">
                <a:moveTo>
                  <a:pt x="0" y="0"/>
                </a:moveTo>
                <a:lnTo>
                  <a:pt x="12703611" y="0"/>
                </a:lnTo>
                <a:lnTo>
                  <a:pt x="12703611" y="12691988"/>
                </a:lnTo>
                <a:lnTo>
                  <a:pt x="0" y="126919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794964" y="1291550"/>
            <a:ext cx="19753386" cy="10471598"/>
            <a:chOff x="0" y="0"/>
            <a:chExt cx="689074" cy="36528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89074" cy="365289"/>
            </a:xfrm>
            <a:custGeom>
              <a:avLst/>
              <a:gdLst/>
              <a:ahLst/>
              <a:cxnLst/>
              <a:rect r="r" b="b" t="t" l="l"/>
              <a:pathLst>
                <a:path h="365289" w="689074">
                  <a:moveTo>
                    <a:pt x="229815" y="19070"/>
                  </a:moveTo>
                  <a:cubicBezTo>
                    <a:pt x="265028" y="7556"/>
                    <a:pt x="305305" y="0"/>
                    <a:pt x="344722" y="0"/>
                  </a:cubicBezTo>
                  <a:cubicBezTo>
                    <a:pt x="384141" y="0"/>
                    <a:pt x="422072" y="6476"/>
                    <a:pt x="457027" y="17990"/>
                  </a:cubicBezTo>
                  <a:cubicBezTo>
                    <a:pt x="457771" y="18350"/>
                    <a:pt x="458515" y="18350"/>
                    <a:pt x="459258" y="18710"/>
                  </a:cubicBezTo>
                  <a:cubicBezTo>
                    <a:pt x="590528" y="64765"/>
                    <a:pt x="687214" y="186379"/>
                    <a:pt x="689074" y="318562"/>
                  </a:cubicBezTo>
                  <a:lnTo>
                    <a:pt x="689074" y="365289"/>
                  </a:lnTo>
                  <a:lnTo>
                    <a:pt x="0" y="365289"/>
                  </a:lnTo>
                  <a:lnTo>
                    <a:pt x="0" y="318596"/>
                  </a:lnTo>
                  <a:cubicBezTo>
                    <a:pt x="1859" y="185660"/>
                    <a:pt x="97058" y="64045"/>
                    <a:pt x="229815" y="19070"/>
                  </a:cubicBezTo>
                  <a:close/>
                </a:path>
              </a:pathLst>
            </a:custGeom>
            <a:solidFill>
              <a:srgbClr val="2F415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31750"/>
              <a:ext cx="689074" cy="3335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5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4795531" y="998553"/>
            <a:ext cx="1697766" cy="1697766"/>
          </a:xfrm>
          <a:custGeom>
            <a:avLst/>
            <a:gdLst/>
            <a:ahLst/>
            <a:cxnLst/>
            <a:rect r="r" b="b" t="t" l="l"/>
            <a:pathLst>
              <a:path h="1697766" w="1697766">
                <a:moveTo>
                  <a:pt x="0" y="0"/>
                </a:moveTo>
                <a:lnTo>
                  <a:pt x="1697766" y="0"/>
                </a:lnTo>
                <a:lnTo>
                  <a:pt x="1697766" y="1697766"/>
                </a:lnTo>
                <a:lnTo>
                  <a:pt x="0" y="16977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923855" y="998553"/>
            <a:ext cx="1697766" cy="1697766"/>
          </a:xfrm>
          <a:custGeom>
            <a:avLst/>
            <a:gdLst/>
            <a:ahLst/>
            <a:cxnLst/>
            <a:rect r="r" b="b" t="t" l="l"/>
            <a:pathLst>
              <a:path h="1697766" w="1697766">
                <a:moveTo>
                  <a:pt x="0" y="0"/>
                </a:moveTo>
                <a:lnTo>
                  <a:pt x="1697766" y="0"/>
                </a:lnTo>
                <a:lnTo>
                  <a:pt x="1697766" y="1697766"/>
                </a:lnTo>
                <a:lnTo>
                  <a:pt x="0" y="16977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7568366" y="1627460"/>
            <a:ext cx="1203264" cy="1203264"/>
          </a:xfrm>
          <a:custGeom>
            <a:avLst/>
            <a:gdLst/>
            <a:ahLst/>
            <a:cxnLst/>
            <a:rect r="r" b="b" t="t" l="l"/>
            <a:pathLst>
              <a:path h="1203264" w="1203264">
                <a:moveTo>
                  <a:pt x="0" y="0"/>
                </a:moveTo>
                <a:lnTo>
                  <a:pt x="1203265" y="0"/>
                </a:lnTo>
                <a:lnTo>
                  <a:pt x="1203265" y="1203264"/>
                </a:lnTo>
                <a:lnTo>
                  <a:pt x="0" y="120326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601632" y="2401327"/>
            <a:ext cx="1203264" cy="1203264"/>
          </a:xfrm>
          <a:custGeom>
            <a:avLst/>
            <a:gdLst/>
            <a:ahLst/>
            <a:cxnLst/>
            <a:rect r="r" b="b" t="t" l="l"/>
            <a:pathLst>
              <a:path h="1203264" w="1203264">
                <a:moveTo>
                  <a:pt x="0" y="0"/>
                </a:moveTo>
                <a:lnTo>
                  <a:pt x="1203264" y="0"/>
                </a:lnTo>
                <a:lnTo>
                  <a:pt x="1203264" y="1203264"/>
                </a:lnTo>
                <a:lnTo>
                  <a:pt x="0" y="120326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338346" y="3356990"/>
            <a:ext cx="11611307" cy="6687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22"/>
              </a:lnSpc>
            </a:pPr>
            <a:r>
              <a:rPr lang="en-US" sz="2944" i="true">
                <a:solidFill>
                  <a:srgbClr val="F5EFEB"/>
                </a:solidFill>
                <a:latin typeface="Arial Italics"/>
                <a:ea typeface="Arial Italics"/>
                <a:cs typeface="Arial Italics"/>
                <a:sym typeface="Arial Italics"/>
              </a:rPr>
              <a:t>Data Sources: Raw, verified global trade data extracted from ITC Trade Map and UN Comtrade (specifically tracking HS Code 284700).</a:t>
            </a:r>
          </a:p>
          <a:p>
            <a:pPr algn="just">
              <a:lnSpc>
                <a:spcPts val="4122"/>
              </a:lnSpc>
            </a:pPr>
          </a:p>
          <a:p>
            <a:pPr algn="just">
              <a:lnSpc>
                <a:spcPts val="4122"/>
              </a:lnSpc>
            </a:pPr>
            <a:r>
              <a:rPr lang="en-US" sz="2944" i="true">
                <a:solidFill>
                  <a:srgbClr val="F5EFEB"/>
                </a:solidFill>
                <a:latin typeface="Arial Italics"/>
                <a:ea typeface="Arial Italics"/>
                <a:cs typeface="Arial Italics"/>
                <a:sym typeface="Arial Italics"/>
              </a:rPr>
              <a:t>Technical Execution: Building a complete data analytics pipeline using a modern tech stack:</a:t>
            </a:r>
          </a:p>
          <a:p>
            <a:pPr algn="just">
              <a:lnSpc>
                <a:spcPts val="4122"/>
              </a:lnSpc>
            </a:pPr>
          </a:p>
          <a:p>
            <a:pPr algn="just">
              <a:lnSpc>
                <a:spcPts val="4122"/>
              </a:lnSpc>
            </a:pPr>
            <a:r>
              <a:rPr lang="en-US" sz="2944" i="true">
                <a:solidFill>
                  <a:srgbClr val="F5EFEB"/>
                </a:solidFill>
                <a:latin typeface="Arial Italics"/>
                <a:ea typeface="Arial Italics"/>
                <a:cs typeface="Arial Italics"/>
                <a:sym typeface="Arial Italics"/>
              </a:rPr>
              <a:t>SQL &amp; Python: For data extraction, querying, cleaning, and statistical modeling.</a:t>
            </a:r>
          </a:p>
          <a:p>
            <a:pPr algn="just">
              <a:lnSpc>
                <a:spcPts val="4122"/>
              </a:lnSpc>
            </a:pPr>
          </a:p>
          <a:p>
            <a:pPr algn="just">
              <a:lnSpc>
                <a:spcPts val="4122"/>
              </a:lnSpc>
            </a:pPr>
            <a:r>
              <a:rPr lang="en-US" sz="2944" i="true">
                <a:solidFill>
                  <a:srgbClr val="F5EFEB"/>
                </a:solidFill>
                <a:latin typeface="Arial Italics"/>
                <a:ea typeface="Arial Italics"/>
                <a:cs typeface="Arial Italics"/>
                <a:sym typeface="Arial Italics"/>
              </a:rPr>
              <a:t>Excel: For baseline calculations and data auditing.</a:t>
            </a:r>
          </a:p>
          <a:p>
            <a:pPr algn="just">
              <a:lnSpc>
                <a:spcPts val="4122"/>
              </a:lnSpc>
            </a:pPr>
          </a:p>
          <a:p>
            <a:pPr algn="just">
              <a:lnSpc>
                <a:spcPts val="4122"/>
              </a:lnSpc>
              <a:spcBef>
                <a:spcPct val="0"/>
              </a:spcBef>
            </a:pPr>
            <a:r>
              <a:rPr lang="en-US" sz="2944" i="true">
                <a:solidFill>
                  <a:srgbClr val="F5EFEB"/>
                </a:solidFill>
                <a:latin typeface="Arial Italics"/>
                <a:ea typeface="Arial Italics"/>
                <a:cs typeface="Arial Italics"/>
                <a:sym typeface="Arial Italics"/>
              </a:rPr>
              <a:t>Power BI &amp; Tableau: For creating interactive dashboards to visualize market attractiveness and competitor shares.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969516" y="6946135"/>
            <a:ext cx="406792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2F4156"/>
                </a:solidFill>
                <a:latin typeface="Cloud Bold"/>
                <a:ea typeface="Cloud Bold"/>
                <a:cs typeface="Cloud Bold"/>
                <a:sym typeface="Cloud Bold"/>
              </a:rPr>
              <a:t>Key Findings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700000">
            <a:off x="15873961" y="-260421"/>
            <a:ext cx="5815401" cy="5815401"/>
          </a:xfrm>
          <a:custGeom>
            <a:avLst/>
            <a:gdLst/>
            <a:ahLst/>
            <a:cxnLst/>
            <a:rect r="r" b="b" t="t" l="l"/>
            <a:pathLst>
              <a:path h="5815401" w="5815401">
                <a:moveTo>
                  <a:pt x="0" y="0"/>
                </a:moveTo>
                <a:lnTo>
                  <a:pt x="5815401" y="0"/>
                </a:lnTo>
                <a:lnTo>
                  <a:pt x="5815401" y="5815402"/>
                </a:lnTo>
                <a:lnTo>
                  <a:pt x="0" y="58154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700000">
            <a:off x="-3411352" y="4594145"/>
            <a:ext cx="5833728" cy="5833728"/>
          </a:xfrm>
          <a:custGeom>
            <a:avLst/>
            <a:gdLst/>
            <a:ahLst/>
            <a:cxnLst/>
            <a:rect r="r" b="b" t="t" l="l"/>
            <a:pathLst>
              <a:path h="5833728" w="5833728">
                <a:moveTo>
                  <a:pt x="0" y="0"/>
                </a:moveTo>
                <a:lnTo>
                  <a:pt x="5833728" y="0"/>
                </a:lnTo>
                <a:lnTo>
                  <a:pt x="5833728" y="5833728"/>
                </a:lnTo>
                <a:lnTo>
                  <a:pt x="0" y="58337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3908252" y="3602757"/>
            <a:ext cx="6157757" cy="7816504"/>
            <a:chOff x="0" y="0"/>
            <a:chExt cx="640315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40315" cy="812800"/>
            </a:xfrm>
            <a:custGeom>
              <a:avLst/>
              <a:gdLst/>
              <a:ahLst/>
              <a:cxnLst/>
              <a:rect r="r" b="b" t="t" l="l"/>
              <a:pathLst>
                <a:path h="812800" w="640315">
                  <a:moveTo>
                    <a:pt x="320158" y="0"/>
                  </a:moveTo>
                  <a:lnTo>
                    <a:pt x="640315" y="406400"/>
                  </a:lnTo>
                  <a:lnTo>
                    <a:pt x="320158" y="812800"/>
                  </a:lnTo>
                  <a:lnTo>
                    <a:pt x="0" y="406400"/>
                  </a:lnTo>
                  <a:lnTo>
                    <a:pt x="320158" y="0"/>
                  </a:lnTo>
                  <a:close/>
                </a:path>
              </a:pathLst>
            </a:custGeom>
            <a:solidFill>
              <a:srgbClr val="2F415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110054" y="44450"/>
              <a:ext cx="420207" cy="628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5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883832" y="-1260972"/>
            <a:ext cx="6315184" cy="7816504"/>
            <a:chOff x="0" y="0"/>
            <a:chExt cx="656685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56685" cy="812800"/>
            </a:xfrm>
            <a:custGeom>
              <a:avLst/>
              <a:gdLst/>
              <a:ahLst/>
              <a:cxnLst/>
              <a:rect r="r" b="b" t="t" l="l"/>
              <a:pathLst>
                <a:path h="812800" w="656685">
                  <a:moveTo>
                    <a:pt x="328343" y="0"/>
                  </a:moveTo>
                  <a:lnTo>
                    <a:pt x="656685" y="406400"/>
                  </a:lnTo>
                  <a:lnTo>
                    <a:pt x="328343" y="812800"/>
                  </a:lnTo>
                  <a:lnTo>
                    <a:pt x="0" y="406400"/>
                  </a:lnTo>
                  <a:lnTo>
                    <a:pt x="328343" y="0"/>
                  </a:lnTo>
                  <a:close/>
                </a:path>
              </a:pathLst>
            </a:custGeom>
            <a:solidFill>
              <a:srgbClr val="2F4156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12868" y="44450"/>
              <a:ext cx="430950" cy="628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5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false" rot="0">
            <a:off x="244173" y="-512043"/>
            <a:ext cx="4339244" cy="4114800"/>
          </a:xfrm>
          <a:custGeom>
            <a:avLst/>
            <a:gdLst/>
            <a:ahLst/>
            <a:cxnLst/>
            <a:rect r="r" b="b" t="t" l="l"/>
            <a:pathLst>
              <a:path h="4114800" w="4339244">
                <a:moveTo>
                  <a:pt x="4339243" y="0"/>
                </a:moveTo>
                <a:lnTo>
                  <a:pt x="0" y="0"/>
                </a:lnTo>
                <a:lnTo>
                  <a:pt x="0" y="4114800"/>
                </a:lnTo>
                <a:lnTo>
                  <a:pt x="4339243" y="4114800"/>
                </a:lnTo>
                <a:lnTo>
                  <a:pt x="433924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972670" y="-852349"/>
            <a:ext cx="4387287" cy="1881049"/>
          </a:xfrm>
          <a:custGeom>
            <a:avLst/>
            <a:gdLst/>
            <a:ahLst/>
            <a:cxnLst/>
            <a:rect r="r" b="b" t="t" l="l"/>
            <a:pathLst>
              <a:path h="1881049" w="4387287">
                <a:moveTo>
                  <a:pt x="0" y="0"/>
                </a:moveTo>
                <a:lnTo>
                  <a:pt x="4387287" y="0"/>
                </a:lnTo>
                <a:lnTo>
                  <a:pt x="4387287" y="1881049"/>
                </a:lnTo>
                <a:lnTo>
                  <a:pt x="0" y="188104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5107902" y="748432"/>
            <a:ext cx="8320662" cy="1327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true">
                <a:solidFill>
                  <a:srgbClr val="2F4156"/>
                </a:solidFill>
                <a:latin typeface="Clarendon Narrow Bold"/>
                <a:ea typeface="Clarendon Narrow Bold"/>
                <a:cs typeface="Clarendon Narrow Bold"/>
                <a:sym typeface="Clarendon Narrow Bold"/>
              </a:rPr>
              <a:t>Project Objectives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908252" y="3689225"/>
            <a:ext cx="11975580" cy="5140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2"/>
              </a:lnSpc>
            </a:pPr>
            <a:r>
              <a:rPr lang="en-US" sz="3259" i="true">
                <a:solidFill>
                  <a:srgbClr val="2F4156"/>
                </a:solidFill>
                <a:latin typeface="Arial Italics"/>
                <a:ea typeface="Arial Italics"/>
                <a:cs typeface="Arial Italics"/>
                <a:sym typeface="Arial Italics"/>
              </a:rPr>
              <a:t>Main Goal: To identify and rank the most attractive global export markets for Egyptian Hydrogen Peroxide (H₂O₂) using real, empirical trade data.</a:t>
            </a:r>
          </a:p>
          <a:p>
            <a:pPr algn="l">
              <a:lnSpc>
                <a:spcPts val="4562"/>
              </a:lnSpc>
            </a:pPr>
          </a:p>
          <a:p>
            <a:pPr algn="just">
              <a:lnSpc>
                <a:spcPts val="4562"/>
              </a:lnSpc>
            </a:pPr>
            <a:r>
              <a:rPr lang="en-US" sz="3259" i="true">
                <a:solidFill>
                  <a:srgbClr val="2F4156"/>
                </a:solidFill>
                <a:latin typeface="Arial Italics"/>
                <a:ea typeface="Arial Italics"/>
                <a:cs typeface="Arial Italics"/>
                <a:sym typeface="Arial Italics"/>
              </a:rPr>
              <a:t>Key Objectives: </a:t>
            </a:r>
          </a:p>
          <a:p>
            <a:pPr algn="just">
              <a:lnSpc>
                <a:spcPts val="4562"/>
              </a:lnSpc>
              <a:spcBef>
                <a:spcPct val="0"/>
              </a:spcBef>
            </a:pPr>
            <a:r>
              <a:rPr lang="en-US" sz="3259" i="true">
                <a:solidFill>
                  <a:srgbClr val="2F4156"/>
                </a:solidFill>
                <a:latin typeface="Arial Italics"/>
                <a:ea typeface="Arial Italics"/>
                <a:cs typeface="Arial Italics"/>
                <a:sym typeface="Arial Italics"/>
              </a:rPr>
              <a:t>Market Identification: Pinpoint high-growth, high-volume importing countries within strategically close regions (Africa, Middle East, South Asia).</a:t>
            </a:r>
          </a:p>
          <a:p>
            <a:pPr algn="just">
              <a:lnSpc>
                <a:spcPts val="456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700000">
            <a:off x="16089527" y="-171130"/>
            <a:ext cx="5636820" cy="5636820"/>
          </a:xfrm>
          <a:custGeom>
            <a:avLst/>
            <a:gdLst/>
            <a:ahLst/>
            <a:cxnLst/>
            <a:rect r="r" b="b" t="t" l="l"/>
            <a:pathLst>
              <a:path h="5636820" w="5636820">
                <a:moveTo>
                  <a:pt x="0" y="0"/>
                </a:moveTo>
                <a:lnTo>
                  <a:pt x="5636820" y="0"/>
                </a:lnTo>
                <a:lnTo>
                  <a:pt x="5636820" y="5636820"/>
                </a:lnTo>
                <a:lnTo>
                  <a:pt x="0" y="56368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700000">
            <a:off x="-3433723" y="4648153"/>
            <a:ext cx="5725711" cy="5725711"/>
          </a:xfrm>
          <a:custGeom>
            <a:avLst/>
            <a:gdLst/>
            <a:ahLst/>
            <a:cxnLst/>
            <a:rect r="r" b="b" t="t" l="l"/>
            <a:pathLst>
              <a:path h="5725711" w="5725711">
                <a:moveTo>
                  <a:pt x="0" y="0"/>
                </a:moveTo>
                <a:lnTo>
                  <a:pt x="5725712" y="0"/>
                </a:lnTo>
                <a:lnTo>
                  <a:pt x="5725712" y="5725712"/>
                </a:lnTo>
                <a:lnTo>
                  <a:pt x="0" y="57257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3908252" y="3602757"/>
            <a:ext cx="6054256" cy="7816504"/>
            <a:chOff x="0" y="0"/>
            <a:chExt cx="629552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29553" cy="812800"/>
            </a:xfrm>
            <a:custGeom>
              <a:avLst/>
              <a:gdLst/>
              <a:ahLst/>
              <a:cxnLst/>
              <a:rect r="r" b="b" t="t" l="l"/>
              <a:pathLst>
                <a:path h="812800" w="629553">
                  <a:moveTo>
                    <a:pt x="314776" y="0"/>
                  </a:moveTo>
                  <a:lnTo>
                    <a:pt x="629553" y="406400"/>
                  </a:lnTo>
                  <a:lnTo>
                    <a:pt x="314776" y="812800"/>
                  </a:lnTo>
                  <a:lnTo>
                    <a:pt x="0" y="406400"/>
                  </a:lnTo>
                  <a:lnTo>
                    <a:pt x="314776" y="0"/>
                  </a:lnTo>
                  <a:close/>
                </a:path>
              </a:pathLst>
            </a:custGeom>
            <a:solidFill>
              <a:srgbClr val="2F415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108204" y="44450"/>
              <a:ext cx="413144" cy="628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5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232872" y="-1260972"/>
            <a:ext cx="5966144" cy="7816504"/>
            <a:chOff x="0" y="0"/>
            <a:chExt cx="62039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20390" cy="812800"/>
            </a:xfrm>
            <a:custGeom>
              <a:avLst/>
              <a:gdLst/>
              <a:ahLst/>
              <a:cxnLst/>
              <a:rect r="r" b="b" t="t" l="l"/>
              <a:pathLst>
                <a:path h="812800" w="620390">
                  <a:moveTo>
                    <a:pt x="310195" y="0"/>
                  </a:moveTo>
                  <a:lnTo>
                    <a:pt x="620390" y="406400"/>
                  </a:lnTo>
                  <a:lnTo>
                    <a:pt x="310195" y="812800"/>
                  </a:lnTo>
                  <a:lnTo>
                    <a:pt x="0" y="406400"/>
                  </a:lnTo>
                  <a:lnTo>
                    <a:pt x="310195" y="0"/>
                  </a:lnTo>
                  <a:close/>
                </a:path>
              </a:pathLst>
            </a:custGeom>
            <a:solidFill>
              <a:srgbClr val="2F4156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06630" y="44450"/>
              <a:ext cx="407131" cy="628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5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false" rot="0">
            <a:off x="244173" y="-512043"/>
            <a:ext cx="4339244" cy="4114800"/>
          </a:xfrm>
          <a:custGeom>
            <a:avLst/>
            <a:gdLst/>
            <a:ahLst/>
            <a:cxnLst/>
            <a:rect r="r" b="b" t="t" l="l"/>
            <a:pathLst>
              <a:path h="4114800" w="4339244">
                <a:moveTo>
                  <a:pt x="4339243" y="0"/>
                </a:moveTo>
                <a:lnTo>
                  <a:pt x="0" y="0"/>
                </a:lnTo>
                <a:lnTo>
                  <a:pt x="0" y="4114800"/>
                </a:lnTo>
                <a:lnTo>
                  <a:pt x="4339243" y="4114800"/>
                </a:lnTo>
                <a:lnTo>
                  <a:pt x="433924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972670" y="-852349"/>
            <a:ext cx="4387287" cy="1881049"/>
          </a:xfrm>
          <a:custGeom>
            <a:avLst/>
            <a:gdLst/>
            <a:ahLst/>
            <a:cxnLst/>
            <a:rect r="r" b="b" t="t" l="l"/>
            <a:pathLst>
              <a:path h="1881049" w="4387287">
                <a:moveTo>
                  <a:pt x="0" y="0"/>
                </a:moveTo>
                <a:lnTo>
                  <a:pt x="4387287" y="0"/>
                </a:lnTo>
                <a:lnTo>
                  <a:pt x="4387287" y="1881049"/>
                </a:lnTo>
                <a:lnTo>
                  <a:pt x="0" y="188104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050167" y="3386119"/>
            <a:ext cx="11136274" cy="5003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88"/>
              </a:lnSpc>
            </a:pPr>
            <a:r>
              <a:rPr lang="en-US" sz="3134" i="true">
                <a:solidFill>
                  <a:srgbClr val="2F4156"/>
                </a:solidFill>
                <a:latin typeface="Arial Italics"/>
                <a:ea typeface="Arial Italics"/>
                <a:cs typeface="Arial Italics"/>
                <a:sym typeface="Arial Italics"/>
              </a:rPr>
              <a:t>Competitor Analysis: Map out existing international competitors and determine their market shares.</a:t>
            </a:r>
          </a:p>
          <a:p>
            <a:pPr algn="just">
              <a:lnSpc>
                <a:spcPts val="4388"/>
              </a:lnSpc>
            </a:pPr>
          </a:p>
          <a:p>
            <a:pPr algn="just">
              <a:lnSpc>
                <a:spcPts val="4388"/>
              </a:lnSpc>
            </a:pPr>
            <a:r>
              <a:rPr lang="en-US" sz="3134" i="true">
                <a:solidFill>
                  <a:srgbClr val="2F4156"/>
                </a:solidFill>
                <a:latin typeface="Arial Italics"/>
                <a:ea typeface="Arial Italics"/>
                <a:cs typeface="Arial Italics"/>
                <a:sym typeface="Arial Italics"/>
              </a:rPr>
              <a:t>Strategic Evaluation:Measure Egypt's competitive edge regarding export pricing, logistics, and preferential tariffs.</a:t>
            </a:r>
          </a:p>
          <a:p>
            <a:pPr algn="just">
              <a:lnSpc>
                <a:spcPts val="4388"/>
              </a:lnSpc>
            </a:pPr>
          </a:p>
          <a:p>
            <a:pPr algn="just">
              <a:lnSpc>
                <a:spcPts val="4388"/>
              </a:lnSpc>
              <a:spcBef>
                <a:spcPct val="0"/>
              </a:spcBef>
            </a:pPr>
            <a:r>
              <a:rPr lang="en-US" sz="3134" i="true">
                <a:solidFill>
                  <a:srgbClr val="2F4156"/>
                </a:solidFill>
                <a:latin typeface="Arial Italics"/>
                <a:ea typeface="Arial Italics"/>
                <a:cs typeface="Arial Italics"/>
                <a:sym typeface="Arial Italics"/>
              </a:rPr>
              <a:t>Data-Driven Decision: Replace intuition with a weighted scoring index to classify markets into clear priority tiers.</a:t>
            </a:r>
          </a:p>
          <a:p>
            <a:pPr algn="just">
              <a:lnSpc>
                <a:spcPts val="48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700000">
            <a:off x="15925819" y="-238940"/>
            <a:ext cx="5772440" cy="5772440"/>
          </a:xfrm>
          <a:custGeom>
            <a:avLst/>
            <a:gdLst/>
            <a:ahLst/>
            <a:cxnLst/>
            <a:rect r="r" b="b" t="t" l="l"/>
            <a:pathLst>
              <a:path h="5772440" w="5772440">
                <a:moveTo>
                  <a:pt x="0" y="0"/>
                </a:moveTo>
                <a:lnTo>
                  <a:pt x="5772441" y="0"/>
                </a:lnTo>
                <a:lnTo>
                  <a:pt x="5772441" y="5772440"/>
                </a:lnTo>
                <a:lnTo>
                  <a:pt x="0" y="57724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700000">
            <a:off x="-3419647" y="4614172"/>
            <a:ext cx="5793674" cy="5793674"/>
          </a:xfrm>
          <a:custGeom>
            <a:avLst/>
            <a:gdLst/>
            <a:ahLst/>
            <a:cxnLst/>
            <a:rect r="r" b="b" t="t" l="l"/>
            <a:pathLst>
              <a:path h="5793674" w="5793674">
                <a:moveTo>
                  <a:pt x="0" y="0"/>
                </a:moveTo>
                <a:lnTo>
                  <a:pt x="5793674" y="0"/>
                </a:lnTo>
                <a:lnTo>
                  <a:pt x="5793674" y="5793674"/>
                </a:lnTo>
                <a:lnTo>
                  <a:pt x="0" y="57936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3908252" y="3602757"/>
            <a:ext cx="5989717" cy="7816504"/>
            <a:chOff x="0" y="0"/>
            <a:chExt cx="622841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22841" cy="812800"/>
            </a:xfrm>
            <a:custGeom>
              <a:avLst/>
              <a:gdLst/>
              <a:ahLst/>
              <a:cxnLst/>
              <a:rect r="r" b="b" t="t" l="l"/>
              <a:pathLst>
                <a:path h="812800" w="622841">
                  <a:moveTo>
                    <a:pt x="311421" y="0"/>
                  </a:moveTo>
                  <a:lnTo>
                    <a:pt x="622841" y="406400"/>
                  </a:lnTo>
                  <a:lnTo>
                    <a:pt x="311421" y="812800"/>
                  </a:lnTo>
                  <a:lnTo>
                    <a:pt x="0" y="406400"/>
                  </a:lnTo>
                  <a:lnTo>
                    <a:pt x="311421" y="0"/>
                  </a:lnTo>
                  <a:close/>
                </a:path>
              </a:pathLst>
            </a:custGeom>
            <a:solidFill>
              <a:srgbClr val="2F415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107051" y="44450"/>
              <a:ext cx="408740" cy="628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5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149772" y="-1260972"/>
            <a:ext cx="7344476" cy="7816504"/>
            <a:chOff x="0" y="0"/>
            <a:chExt cx="763716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63716" cy="812800"/>
            </a:xfrm>
            <a:custGeom>
              <a:avLst/>
              <a:gdLst/>
              <a:ahLst/>
              <a:cxnLst/>
              <a:rect r="r" b="b" t="t" l="l"/>
              <a:pathLst>
                <a:path h="812800" w="763716">
                  <a:moveTo>
                    <a:pt x="381858" y="0"/>
                  </a:moveTo>
                  <a:lnTo>
                    <a:pt x="763716" y="406400"/>
                  </a:lnTo>
                  <a:lnTo>
                    <a:pt x="381858" y="812800"/>
                  </a:lnTo>
                  <a:lnTo>
                    <a:pt x="0" y="406400"/>
                  </a:lnTo>
                  <a:lnTo>
                    <a:pt x="381858" y="0"/>
                  </a:lnTo>
                  <a:close/>
                </a:path>
              </a:pathLst>
            </a:custGeom>
            <a:solidFill>
              <a:srgbClr val="2F4156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31264" y="44450"/>
              <a:ext cx="501189" cy="628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5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false" rot="0">
            <a:off x="244173" y="-512043"/>
            <a:ext cx="4339244" cy="4114800"/>
          </a:xfrm>
          <a:custGeom>
            <a:avLst/>
            <a:gdLst/>
            <a:ahLst/>
            <a:cxnLst/>
            <a:rect r="r" b="b" t="t" l="l"/>
            <a:pathLst>
              <a:path h="4114800" w="4339244">
                <a:moveTo>
                  <a:pt x="4339243" y="0"/>
                </a:moveTo>
                <a:lnTo>
                  <a:pt x="0" y="0"/>
                </a:lnTo>
                <a:lnTo>
                  <a:pt x="0" y="4114800"/>
                </a:lnTo>
                <a:lnTo>
                  <a:pt x="4339243" y="4114800"/>
                </a:lnTo>
                <a:lnTo>
                  <a:pt x="433924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972670" y="-852349"/>
            <a:ext cx="4387287" cy="1881049"/>
          </a:xfrm>
          <a:custGeom>
            <a:avLst/>
            <a:gdLst/>
            <a:ahLst/>
            <a:cxnLst/>
            <a:rect r="r" b="b" t="t" l="l"/>
            <a:pathLst>
              <a:path h="1881049" w="4387287">
                <a:moveTo>
                  <a:pt x="0" y="0"/>
                </a:moveTo>
                <a:lnTo>
                  <a:pt x="4387287" y="0"/>
                </a:lnTo>
                <a:lnTo>
                  <a:pt x="4387287" y="1881049"/>
                </a:lnTo>
                <a:lnTo>
                  <a:pt x="0" y="188104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5209028" y="1320130"/>
            <a:ext cx="7957286" cy="1327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true">
                <a:solidFill>
                  <a:srgbClr val="2F4156"/>
                </a:solidFill>
                <a:latin typeface="Clarendon Narrow Bold"/>
                <a:ea typeface="Clarendon Narrow Bold"/>
                <a:cs typeface="Clarendon Narrow Bold"/>
                <a:sym typeface="Clarendon Narrow Bold"/>
              </a:rPr>
              <a:t>Project Framework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573936" y="3300074"/>
            <a:ext cx="11947185" cy="6476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56"/>
              </a:lnSpc>
            </a:pPr>
            <a:r>
              <a:rPr lang="en-US" b="true" sz="2825" i="true">
                <a:solidFill>
                  <a:srgbClr val="2F4156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Main Question: What are the most attractive markets for Egyptian Hydrogen Peroxide  exports?</a:t>
            </a:r>
          </a:p>
          <a:p>
            <a:pPr algn="just">
              <a:lnSpc>
                <a:spcPts val="3956"/>
              </a:lnSpc>
            </a:pPr>
            <a:r>
              <a:rPr lang="en-US" b="true" sz="2825" i="true">
                <a:solidFill>
                  <a:srgbClr val="2F4156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Phase 1:</a:t>
            </a:r>
          </a:p>
          <a:p>
            <a:pPr algn="just">
              <a:lnSpc>
                <a:spcPts val="3956"/>
              </a:lnSpc>
            </a:pPr>
            <a:r>
              <a:rPr lang="en-US" b="true" sz="2825" i="true">
                <a:solidFill>
                  <a:srgbClr val="2F4156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 lobal Market OverviewFind the global market size, top 10 importing countries, and highest-growing regions (2020–2024).</a:t>
            </a:r>
          </a:p>
          <a:p>
            <a:pPr algn="just">
              <a:lnSpc>
                <a:spcPts val="3956"/>
              </a:lnSpc>
            </a:pPr>
            <a:r>
              <a:rPr lang="en-US" b="true" sz="2825" i="true">
                <a:solidFill>
                  <a:srgbClr val="2F4156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Strategic Filter: Narrow down to Africa, Middle East, and South Asia for logistical proximity.</a:t>
            </a:r>
          </a:p>
          <a:p>
            <a:pPr algn="just">
              <a:lnSpc>
                <a:spcPts val="3956"/>
              </a:lnSpc>
            </a:pPr>
          </a:p>
          <a:p>
            <a:pPr algn="just">
              <a:lnSpc>
                <a:spcPts val="3956"/>
              </a:lnSpc>
            </a:pPr>
            <a:r>
              <a:rPr lang="en-US" b="true" sz="2825" i="true">
                <a:solidFill>
                  <a:srgbClr val="2F4156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Phase 2:</a:t>
            </a:r>
          </a:p>
          <a:p>
            <a:pPr algn="just">
              <a:lnSpc>
                <a:spcPts val="3956"/>
              </a:lnSpc>
            </a:pPr>
            <a:r>
              <a:rPr lang="en-US" b="true" sz="2825" i="true">
                <a:solidFill>
                  <a:srgbClr val="2F4156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 Target Market Identification Filter countries by 4 pillars: Demand Volume, Growth Rate, Past Egyptian Exports, and Market Monopoly.Output: A short-list of 15 high-potential countries.</a:t>
            </a:r>
          </a:p>
          <a:p>
            <a:pPr algn="just">
              <a:lnSpc>
                <a:spcPts val="395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700000">
            <a:off x="16170248" y="-137695"/>
            <a:ext cx="5569949" cy="5569949"/>
          </a:xfrm>
          <a:custGeom>
            <a:avLst/>
            <a:gdLst/>
            <a:ahLst/>
            <a:cxnLst/>
            <a:rect r="r" b="b" t="t" l="l"/>
            <a:pathLst>
              <a:path h="5569949" w="5569949">
                <a:moveTo>
                  <a:pt x="0" y="0"/>
                </a:moveTo>
                <a:lnTo>
                  <a:pt x="5569949" y="0"/>
                </a:lnTo>
                <a:lnTo>
                  <a:pt x="5569949" y="5569950"/>
                </a:lnTo>
                <a:lnTo>
                  <a:pt x="0" y="55699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700000">
            <a:off x="-3398237" y="4562484"/>
            <a:ext cx="5897050" cy="5897050"/>
          </a:xfrm>
          <a:custGeom>
            <a:avLst/>
            <a:gdLst/>
            <a:ahLst/>
            <a:cxnLst/>
            <a:rect r="r" b="b" t="t" l="l"/>
            <a:pathLst>
              <a:path h="5897050" w="5897050">
                <a:moveTo>
                  <a:pt x="0" y="0"/>
                </a:moveTo>
                <a:lnTo>
                  <a:pt x="5897050" y="0"/>
                </a:lnTo>
                <a:lnTo>
                  <a:pt x="5897050" y="5897050"/>
                </a:lnTo>
                <a:lnTo>
                  <a:pt x="0" y="58970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3908252" y="3602757"/>
            <a:ext cx="6322046" cy="7816504"/>
            <a:chOff x="0" y="0"/>
            <a:chExt cx="657399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57399" cy="812800"/>
            </a:xfrm>
            <a:custGeom>
              <a:avLst/>
              <a:gdLst/>
              <a:ahLst/>
              <a:cxnLst/>
              <a:rect r="r" b="b" t="t" l="l"/>
              <a:pathLst>
                <a:path h="812800" w="657399">
                  <a:moveTo>
                    <a:pt x="328699" y="0"/>
                  </a:moveTo>
                  <a:lnTo>
                    <a:pt x="657399" y="406400"/>
                  </a:lnTo>
                  <a:lnTo>
                    <a:pt x="328699" y="812800"/>
                  </a:lnTo>
                  <a:lnTo>
                    <a:pt x="0" y="406400"/>
                  </a:lnTo>
                  <a:lnTo>
                    <a:pt x="328699" y="0"/>
                  </a:lnTo>
                  <a:close/>
                </a:path>
              </a:pathLst>
            </a:custGeom>
            <a:solidFill>
              <a:srgbClr val="2F415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112990" y="44450"/>
              <a:ext cx="431418" cy="628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5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448728" y="-1260972"/>
            <a:ext cx="7045520" cy="7816504"/>
            <a:chOff x="0" y="0"/>
            <a:chExt cx="732629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32629" cy="812800"/>
            </a:xfrm>
            <a:custGeom>
              <a:avLst/>
              <a:gdLst/>
              <a:ahLst/>
              <a:cxnLst/>
              <a:rect r="r" b="b" t="t" l="l"/>
              <a:pathLst>
                <a:path h="812800" w="732629">
                  <a:moveTo>
                    <a:pt x="366315" y="0"/>
                  </a:moveTo>
                  <a:lnTo>
                    <a:pt x="732629" y="406400"/>
                  </a:lnTo>
                  <a:lnTo>
                    <a:pt x="366315" y="812800"/>
                  </a:lnTo>
                  <a:lnTo>
                    <a:pt x="0" y="406400"/>
                  </a:lnTo>
                  <a:lnTo>
                    <a:pt x="366315" y="0"/>
                  </a:lnTo>
                  <a:close/>
                </a:path>
              </a:pathLst>
            </a:custGeom>
            <a:solidFill>
              <a:srgbClr val="2F4156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25921" y="44450"/>
              <a:ext cx="480788" cy="628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5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0972670" y="-852349"/>
            <a:ext cx="4387287" cy="1881049"/>
          </a:xfrm>
          <a:custGeom>
            <a:avLst/>
            <a:gdLst/>
            <a:ahLst/>
            <a:cxnLst/>
            <a:rect r="r" b="b" t="t" l="l"/>
            <a:pathLst>
              <a:path h="1881049" w="4387287">
                <a:moveTo>
                  <a:pt x="0" y="0"/>
                </a:moveTo>
                <a:lnTo>
                  <a:pt x="4387287" y="0"/>
                </a:lnTo>
                <a:lnTo>
                  <a:pt x="4387287" y="1881049"/>
                </a:lnTo>
                <a:lnTo>
                  <a:pt x="0" y="18810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722233" y="2667157"/>
            <a:ext cx="13383701" cy="7255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31"/>
              </a:lnSpc>
            </a:pPr>
            <a:r>
              <a:rPr lang="en-US" b="true" sz="3165" i="true">
                <a:solidFill>
                  <a:srgbClr val="2F4156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Phase 3: </a:t>
            </a:r>
          </a:p>
          <a:p>
            <a:pPr algn="just">
              <a:lnSpc>
                <a:spcPts val="4431"/>
              </a:lnSpc>
            </a:pPr>
            <a:r>
              <a:rPr lang="en-US" b="true" sz="3165" i="true">
                <a:solidFill>
                  <a:srgbClr val="2F4156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Competitive LandscapeIdentify who the top international exporters are in these 15 countries and calculate their exact market shares.</a:t>
            </a:r>
          </a:p>
          <a:p>
            <a:pPr algn="just">
              <a:lnSpc>
                <a:spcPts val="4431"/>
              </a:lnSpc>
            </a:pPr>
          </a:p>
          <a:p>
            <a:pPr algn="just">
              <a:lnSpc>
                <a:spcPts val="4431"/>
              </a:lnSpc>
            </a:pPr>
            <a:r>
              <a:rPr lang="en-US" b="true" sz="3165" i="true">
                <a:solidFill>
                  <a:srgbClr val="2F4156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Phase 4:</a:t>
            </a:r>
          </a:p>
          <a:p>
            <a:pPr algn="just">
              <a:lnSpc>
                <a:spcPts val="4431"/>
              </a:lnSpc>
            </a:pPr>
            <a:r>
              <a:rPr lang="en-US" b="true" sz="3165" i="true">
                <a:solidFill>
                  <a:srgbClr val="2F4156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 Comparative Advantage Compare Egypt against competitors based on Export Price, Shipping Distance/Time, and Trade Agreements</a:t>
            </a:r>
          </a:p>
          <a:p>
            <a:pPr algn="just">
              <a:lnSpc>
                <a:spcPts val="4431"/>
              </a:lnSpc>
            </a:pPr>
          </a:p>
          <a:p>
            <a:pPr algn="just">
              <a:lnSpc>
                <a:spcPts val="4431"/>
              </a:lnSpc>
            </a:pPr>
            <a:r>
              <a:rPr lang="en-US" b="true" sz="3165" i="true">
                <a:solidFill>
                  <a:srgbClr val="2F4156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.Phase 5: </a:t>
            </a:r>
          </a:p>
          <a:p>
            <a:pPr algn="just">
              <a:lnSpc>
                <a:spcPts val="4431"/>
              </a:lnSpc>
            </a:pPr>
            <a:r>
              <a:rPr lang="en-US" b="true" sz="3165" i="true">
                <a:solidFill>
                  <a:srgbClr val="2F4156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Export Attractiveness Index Build a weighted scoring model to rank markets into 3 simple categories: Priority, Long-Term Opportunity, or Low-Interest.</a:t>
            </a:r>
          </a:p>
          <a:p>
            <a:pPr algn="just">
              <a:lnSpc>
                <a:spcPts val="443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08357" y="6933889"/>
            <a:ext cx="3860943" cy="3860943"/>
          </a:xfrm>
          <a:custGeom>
            <a:avLst/>
            <a:gdLst/>
            <a:ahLst/>
            <a:cxnLst/>
            <a:rect r="r" b="b" t="t" l="l"/>
            <a:pathLst>
              <a:path h="3860943" w="3860943">
                <a:moveTo>
                  <a:pt x="0" y="0"/>
                </a:moveTo>
                <a:lnTo>
                  <a:pt x="3860943" y="0"/>
                </a:lnTo>
                <a:lnTo>
                  <a:pt x="3860943" y="3860943"/>
                </a:lnTo>
                <a:lnTo>
                  <a:pt x="0" y="386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343061" y="6752914"/>
            <a:ext cx="3860943" cy="3860943"/>
          </a:xfrm>
          <a:custGeom>
            <a:avLst/>
            <a:gdLst/>
            <a:ahLst/>
            <a:cxnLst/>
            <a:rect r="r" b="b" t="t" l="l"/>
            <a:pathLst>
              <a:path h="3860943" w="3860943">
                <a:moveTo>
                  <a:pt x="0" y="0"/>
                </a:moveTo>
                <a:lnTo>
                  <a:pt x="3860943" y="0"/>
                </a:lnTo>
                <a:lnTo>
                  <a:pt x="3860943" y="3860943"/>
                </a:lnTo>
                <a:lnTo>
                  <a:pt x="0" y="386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204004" y="6571939"/>
            <a:ext cx="3860943" cy="3860943"/>
          </a:xfrm>
          <a:custGeom>
            <a:avLst/>
            <a:gdLst/>
            <a:ahLst/>
            <a:cxnLst/>
            <a:rect r="r" b="b" t="t" l="l"/>
            <a:pathLst>
              <a:path h="3860943" w="3860943">
                <a:moveTo>
                  <a:pt x="0" y="0"/>
                </a:moveTo>
                <a:lnTo>
                  <a:pt x="3860942" y="0"/>
                </a:lnTo>
                <a:lnTo>
                  <a:pt x="3860942" y="3860943"/>
                </a:lnTo>
                <a:lnTo>
                  <a:pt x="0" y="386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064946" y="7105339"/>
            <a:ext cx="3860943" cy="3860943"/>
          </a:xfrm>
          <a:custGeom>
            <a:avLst/>
            <a:gdLst/>
            <a:ahLst/>
            <a:cxnLst/>
            <a:rect r="r" b="b" t="t" l="l"/>
            <a:pathLst>
              <a:path h="3860943" w="3860943">
                <a:moveTo>
                  <a:pt x="0" y="0"/>
                </a:moveTo>
                <a:lnTo>
                  <a:pt x="3860943" y="0"/>
                </a:lnTo>
                <a:lnTo>
                  <a:pt x="3860943" y="3860943"/>
                </a:lnTo>
                <a:lnTo>
                  <a:pt x="0" y="386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925889" y="6924364"/>
            <a:ext cx="3860943" cy="3860943"/>
          </a:xfrm>
          <a:custGeom>
            <a:avLst/>
            <a:gdLst/>
            <a:ahLst/>
            <a:cxnLst/>
            <a:rect r="r" b="b" t="t" l="l"/>
            <a:pathLst>
              <a:path h="3860943" w="3860943">
                <a:moveTo>
                  <a:pt x="0" y="0"/>
                </a:moveTo>
                <a:lnTo>
                  <a:pt x="3860943" y="0"/>
                </a:lnTo>
                <a:lnTo>
                  <a:pt x="3860943" y="3860943"/>
                </a:lnTo>
                <a:lnTo>
                  <a:pt x="0" y="386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731044" y="-1686996"/>
            <a:ext cx="4047467" cy="4114800"/>
          </a:xfrm>
          <a:custGeom>
            <a:avLst/>
            <a:gdLst/>
            <a:ahLst/>
            <a:cxnLst/>
            <a:rect r="r" b="b" t="t" l="l"/>
            <a:pathLst>
              <a:path h="4114800" w="4047467">
                <a:moveTo>
                  <a:pt x="0" y="0"/>
                </a:moveTo>
                <a:lnTo>
                  <a:pt x="4047467" y="0"/>
                </a:lnTo>
                <a:lnTo>
                  <a:pt x="404746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69286" y="2255649"/>
            <a:ext cx="7307388" cy="7307388"/>
          </a:xfrm>
          <a:custGeom>
            <a:avLst/>
            <a:gdLst/>
            <a:ahLst/>
            <a:cxnLst/>
            <a:rect r="r" b="b" t="t" l="l"/>
            <a:pathLst>
              <a:path h="7307388" w="7307388">
                <a:moveTo>
                  <a:pt x="0" y="0"/>
                </a:moveTo>
                <a:lnTo>
                  <a:pt x="7307389" y="0"/>
                </a:lnTo>
                <a:lnTo>
                  <a:pt x="7307389" y="7307388"/>
                </a:lnTo>
                <a:lnTo>
                  <a:pt x="0" y="73073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422115" y="3108117"/>
            <a:ext cx="15434246" cy="6021161"/>
            <a:chOff x="0" y="0"/>
            <a:chExt cx="1839238" cy="71751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39238" cy="717518"/>
            </a:xfrm>
            <a:custGeom>
              <a:avLst/>
              <a:gdLst/>
              <a:ahLst/>
              <a:cxnLst/>
              <a:rect r="r" b="b" t="t" l="l"/>
              <a:pathLst>
                <a:path h="717518" w="1839238">
                  <a:moveTo>
                    <a:pt x="0" y="0"/>
                  </a:moveTo>
                  <a:lnTo>
                    <a:pt x="1839238" y="0"/>
                  </a:lnTo>
                  <a:lnTo>
                    <a:pt x="1839238" y="717518"/>
                  </a:lnTo>
                  <a:lnTo>
                    <a:pt x="0" y="717518"/>
                  </a:lnTo>
                  <a:close/>
                </a:path>
              </a:pathLst>
            </a:custGeom>
            <a:solidFill>
              <a:srgbClr val="2F415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0"/>
              <a:ext cx="1839238" cy="8127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5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3793802" y="-1859151"/>
            <a:ext cx="4047467" cy="4114800"/>
          </a:xfrm>
          <a:custGeom>
            <a:avLst/>
            <a:gdLst/>
            <a:ahLst/>
            <a:cxnLst/>
            <a:rect r="r" b="b" t="t" l="l"/>
            <a:pathLst>
              <a:path h="4114800" w="4047467">
                <a:moveTo>
                  <a:pt x="0" y="0"/>
                </a:moveTo>
                <a:lnTo>
                  <a:pt x="4047467" y="0"/>
                </a:lnTo>
                <a:lnTo>
                  <a:pt x="404746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422115" y="3364606"/>
            <a:ext cx="15439008" cy="4511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50"/>
              </a:lnSpc>
            </a:pPr>
            <a:r>
              <a:rPr lang="en-US" b="true" sz="2750" i="true" u="sng">
                <a:solidFill>
                  <a:srgbClr val="F5EFEB"/>
                </a:solidFill>
                <a:latin typeface="Cloud Bold Italics"/>
                <a:ea typeface="Cloud Bold Italics"/>
                <a:cs typeface="Cloud Bold Italics"/>
                <a:sym typeface="Cloud Bold Italics"/>
                <a:hlinkClick r:id="rId9" tooltip="https://drive.google.com/drive/folders/14Ivitptfu7PdeFJk9gKd-sZHw-C5XvHi?usp=drive_link"/>
              </a:rPr>
              <a:t>Data Collection &amp; Sources</a:t>
            </a:r>
          </a:p>
          <a:p>
            <a:pPr algn="just">
              <a:lnSpc>
                <a:spcPts val="3850"/>
              </a:lnSpc>
            </a:pPr>
            <a:r>
              <a:rPr lang="en-US" b="true" sz="2750" i="true">
                <a:solidFill>
                  <a:srgbClr val="F5EFEB"/>
                </a:solidFill>
                <a:latin typeface="Cloud Bold Italics"/>
                <a:ea typeface="Cloud Bold Italics"/>
                <a:cs typeface="Cloud Bold Italics"/>
                <a:sym typeface="Cloud Bold Italics"/>
              </a:rPr>
              <a:t>Primary Databases: Used ITC Trade Map and UN Comtrade to get actual global trade volumes and market growth data.</a:t>
            </a:r>
          </a:p>
          <a:p>
            <a:pPr algn="just">
              <a:lnSpc>
                <a:spcPts val="3850"/>
              </a:lnSpc>
            </a:pPr>
          </a:p>
          <a:p>
            <a:pPr algn="just">
              <a:lnSpc>
                <a:spcPts val="4439"/>
              </a:lnSpc>
            </a:pPr>
            <a:r>
              <a:rPr lang="en-US" b="true" sz="3171" i="true">
                <a:solidFill>
                  <a:srgbClr val="F5EFEB"/>
                </a:solidFill>
                <a:latin typeface="Cloud Bold Italics"/>
                <a:ea typeface="Cloud Bold Italics"/>
                <a:cs typeface="Cloud Bold Italics"/>
                <a:sym typeface="Cloud Bold Italics"/>
              </a:rPr>
              <a:t>Competitor Analysis: Tracked international competitors to calculate their exact market share using global trade data.</a:t>
            </a:r>
          </a:p>
          <a:p>
            <a:pPr algn="just">
              <a:lnSpc>
                <a:spcPts val="3850"/>
              </a:lnSpc>
            </a:pPr>
          </a:p>
          <a:p>
            <a:pPr algn="just">
              <a:lnSpc>
                <a:spcPts val="3850"/>
              </a:lnSpc>
              <a:spcBef>
                <a:spcPct val="0"/>
              </a:spcBef>
            </a:pPr>
            <a:r>
              <a:rPr lang="en-US" b="true" sz="2750" i="true">
                <a:solidFill>
                  <a:srgbClr val="F5EFEB"/>
                </a:solidFill>
                <a:latin typeface="Cloud Bold Italics"/>
                <a:ea typeface="Cloud Bold Italics"/>
                <a:cs typeface="Cloud Bold Italics"/>
                <a:sym typeface="Cloud Bold Italics"/>
              </a:rPr>
              <a:t>Product Focus: Analyzed HS Code: 284700 (Hydrogen Peroxide) across 5 years (2020–2024) to see clear trends.  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120573" y="829266"/>
            <a:ext cx="9299605" cy="1327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true">
                <a:solidFill>
                  <a:srgbClr val="2F4156"/>
                </a:solidFill>
                <a:latin typeface="Clarendon Narrow Bold"/>
                <a:ea typeface="Clarendon Narrow Bold"/>
                <a:cs typeface="Clarendon Narrow Bold"/>
                <a:sym typeface="Clarendon Narrow Bold"/>
              </a:rPr>
              <a:t>Data Collection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99808" y="-422828"/>
            <a:ext cx="6902127" cy="4998345"/>
          </a:xfrm>
          <a:custGeom>
            <a:avLst/>
            <a:gdLst/>
            <a:ahLst/>
            <a:cxnLst/>
            <a:rect r="r" b="b" t="t" l="l"/>
            <a:pathLst>
              <a:path h="4998345" w="6902127">
                <a:moveTo>
                  <a:pt x="0" y="0"/>
                </a:moveTo>
                <a:lnTo>
                  <a:pt x="6902126" y="0"/>
                </a:lnTo>
                <a:lnTo>
                  <a:pt x="6902126" y="4998345"/>
                </a:lnTo>
                <a:lnTo>
                  <a:pt x="0" y="49983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4716316" y="6983610"/>
            <a:ext cx="3917152" cy="3660757"/>
          </a:xfrm>
          <a:custGeom>
            <a:avLst/>
            <a:gdLst/>
            <a:ahLst/>
            <a:cxnLst/>
            <a:rect r="r" b="b" t="t" l="l"/>
            <a:pathLst>
              <a:path h="3660757" w="3917152">
                <a:moveTo>
                  <a:pt x="0" y="3660757"/>
                </a:moveTo>
                <a:lnTo>
                  <a:pt x="3917152" y="3660757"/>
                </a:lnTo>
                <a:lnTo>
                  <a:pt x="3917152" y="0"/>
                </a:lnTo>
                <a:lnTo>
                  <a:pt x="0" y="0"/>
                </a:lnTo>
                <a:lnTo>
                  <a:pt x="0" y="3660757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0137493">
            <a:off x="8897064" y="3565488"/>
            <a:ext cx="5021208" cy="488412"/>
          </a:xfrm>
          <a:custGeom>
            <a:avLst/>
            <a:gdLst/>
            <a:ahLst/>
            <a:cxnLst/>
            <a:rect r="r" b="b" t="t" l="l"/>
            <a:pathLst>
              <a:path h="488412" w="5021208">
                <a:moveTo>
                  <a:pt x="0" y="0"/>
                </a:moveTo>
                <a:lnTo>
                  <a:pt x="5021208" y="0"/>
                </a:lnTo>
                <a:lnTo>
                  <a:pt x="5021208" y="488412"/>
                </a:lnTo>
                <a:lnTo>
                  <a:pt x="0" y="48841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39313" r="0" b="-39313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9987704">
            <a:off x="13505144" y="3568386"/>
            <a:ext cx="5143291" cy="482617"/>
          </a:xfrm>
          <a:custGeom>
            <a:avLst/>
            <a:gdLst/>
            <a:ahLst/>
            <a:cxnLst/>
            <a:rect r="r" b="b" t="t" l="l"/>
            <a:pathLst>
              <a:path h="482617" w="5143291">
                <a:moveTo>
                  <a:pt x="0" y="0"/>
                </a:moveTo>
                <a:lnTo>
                  <a:pt x="5143291" y="0"/>
                </a:lnTo>
                <a:lnTo>
                  <a:pt x="5143291" y="482617"/>
                </a:lnTo>
                <a:lnTo>
                  <a:pt x="0" y="48261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42583" r="0" b="-42583"/>
            </a:stretch>
          </a:blipFill>
        </p:spPr>
      </p:sp>
      <p:grpSp>
        <p:nvGrpSpPr>
          <p:cNvPr name="Group 6" id="6"/>
          <p:cNvGrpSpPr/>
          <p:nvPr/>
        </p:nvGrpSpPr>
        <p:grpSpPr>
          <a:xfrm rot="-10800000">
            <a:off x="0" y="2973083"/>
            <a:ext cx="8752275" cy="8208553"/>
            <a:chOff x="0" y="0"/>
            <a:chExt cx="1089347" cy="102167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89347" cy="1021673"/>
            </a:xfrm>
            <a:custGeom>
              <a:avLst/>
              <a:gdLst/>
              <a:ahLst/>
              <a:cxnLst/>
              <a:rect r="r" b="b" t="t" l="l"/>
              <a:pathLst>
                <a:path h="1021673" w="1089347">
                  <a:moveTo>
                    <a:pt x="1089347" y="0"/>
                  </a:moveTo>
                  <a:lnTo>
                    <a:pt x="1089347" y="907373"/>
                  </a:lnTo>
                  <a:lnTo>
                    <a:pt x="544673" y="1021673"/>
                  </a:lnTo>
                  <a:lnTo>
                    <a:pt x="0" y="907373"/>
                  </a:lnTo>
                  <a:lnTo>
                    <a:pt x="0" y="0"/>
                  </a:lnTo>
                  <a:lnTo>
                    <a:pt x="1089347" y="0"/>
                  </a:lnTo>
                  <a:close/>
                </a:path>
              </a:pathLst>
            </a:custGeom>
            <a:solidFill>
              <a:srgbClr val="2F415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089347" cy="9549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5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10800000">
            <a:off x="9326421" y="3089167"/>
            <a:ext cx="9184290" cy="8004796"/>
            <a:chOff x="0" y="0"/>
            <a:chExt cx="1116419" cy="97304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16419" cy="973043"/>
            </a:xfrm>
            <a:custGeom>
              <a:avLst/>
              <a:gdLst/>
              <a:ahLst/>
              <a:cxnLst/>
              <a:rect r="r" b="b" t="t" l="l"/>
              <a:pathLst>
                <a:path h="973043" w="1116419">
                  <a:moveTo>
                    <a:pt x="1116419" y="0"/>
                  </a:moveTo>
                  <a:lnTo>
                    <a:pt x="1116419" y="858743"/>
                  </a:lnTo>
                  <a:lnTo>
                    <a:pt x="558209" y="973043"/>
                  </a:lnTo>
                  <a:lnTo>
                    <a:pt x="0" y="858743"/>
                  </a:lnTo>
                  <a:lnTo>
                    <a:pt x="0" y="0"/>
                  </a:lnTo>
                  <a:lnTo>
                    <a:pt x="1116419" y="0"/>
                  </a:lnTo>
                  <a:close/>
                </a:path>
              </a:pathLst>
            </a:custGeom>
            <a:solidFill>
              <a:srgbClr val="2F415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116419" cy="9063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5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9984394" y="4123029"/>
            <a:ext cx="7594037" cy="5560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7"/>
              </a:lnSpc>
            </a:pPr>
            <a:r>
              <a:rPr lang="en-US" sz="2641" i="true" b="true">
                <a:solidFill>
                  <a:srgbClr val="F5EFEB"/>
                </a:solidFill>
                <a:latin typeface="Cloud Bold Italics"/>
                <a:ea typeface="Cloud Bold Italics"/>
                <a:cs typeface="Cloud Bold Italics"/>
                <a:sym typeface="Cloud Bold Italics"/>
              </a:rPr>
              <a:t>4. </a:t>
            </a:r>
            <a:r>
              <a:rPr lang="en-US" sz="2641" i="true" b="true">
                <a:solidFill>
                  <a:srgbClr val="F5EFEB"/>
                </a:solidFill>
                <a:latin typeface="Cloud Bold Italics"/>
                <a:ea typeface="Cloud Bold Italics"/>
                <a:cs typeface="Cloud Bold Italics"/>
                <a:sym typeface="Cloud Bold Italics"/>
              </a:rPr>
              <a:t>Imputing</a:t>
            </a:r>
            <a:r>
              <a:rPr lang="en-US" sz="2641" i="true" b="true">
                <a:solidFill>
                  <a:srgbClr val="F5EFEB"/>
                </a:solidFill>
                <a:latin typeface="Cloud Bold Italics"/>
                <a:ea typeface="Cloud Bold Italics"/>
                <a:cs typeface="Cloud Bold Italics"/>
                <a:sym typeface="Cloud Bold Italics"/>
              </a:rPr>
              <a:t> Missing Quantities: </a:t>
            </a:r>
          </a:p>
          <a:p>
            <a:pPr algn="l">
              <a:lnSpc>
                <a:spcPts val="3697"/>
              </a:lnSpc>
            </a:pPr>
            <a:r>
              <a:rPr lang="en-US" sz="2641" i="true" b="true">
                <a:solidFill>
                  <a:srgbClr val="F5EFEB"/>
                </a:solidFill>
                <a:latin typeface="Cloud Bold Italics"/>
                <a:ea typeface="Cloud Bold Italics"/>
                <a:cs typeface="Cloud Bold Italics"/>
                <a:sym typeface="Cloud Bold Italics"/>
              </a:rPr>
              <a:t>Fulfilled empty quantity gaps using a calculated trade formula: </a:t>
            </a:r>
          </a:p>
          <a:p>
            <a:pPr algn="l">
              <a:lnSpc>
                <a:spcPts val="3697"/>
              </a:lnSpc>
            </a:pPr>
          </a:p>
          <a:p>
            <a:pPr algn="l">
              <a:lnSpc>
                <a:spcPts val="3697"/>
              </a:lnSpc>
            </a:pPr>
            <a:r>
              <a:rPr lang="en-US" sz="2641" i="true" b="true">
                <a:solidFill>
                  <a:srgbClr val="F5EFEB"/>
                </a:solidFill>
                <a:latin typeface="Cloud Bold Italics"/>
                <a:ea typeface="Cloud Bold Italics"/>
                <a:cs typeface="Cloud Bold Italics"/>
                <a:sym typeface="Cloud Bold Italics"/>
              </a:rPr>
              <a:t>Quantity = total imported value / price</a:t>
            </a:r>
          </a:p>
          <a:p>
            <a:pPr algn="l">
              <a:lnSpc>
                <a:spcPts val="3697"/>
              </a:lnSpc>
            </a:pPr>
          </a:p>
          <a:p>
            <a:pPr algn="l">
              <a:lnSpc>
                <a:spcPts val="3697"/>
              </a:lnSpc>
            </a:pPr>
            <a:r>
              <a:rPr lang="en-US" sz="2641" i="true" b="true">
                <a:solidFill>
                  <a:srgbClr val="F5EFEB"/>
                </a:solidFill>
                <a:latin typeface="Cloud Bold Italics"/>
                <a:ea typeface="Cloud Bold Italics"/>
                <a:cs typeface="Cloud Bold Italics"/>
                <a:sym typeface="Cloud Bold Italics"/>
              </a:rPr>
              <a:t>5.</a:t>
            </a:r>
            <a:r>
              <a:rPr lang="en-US" sz="2641" i="true" b="true">
                <a:solidFill>
                  <a:srgbClr val="F5EFEB"/>
                </a:solidFill>
                <a:latin typeface="Cloud Bold Italics"/>
                <a:ea typeface="Cloud Bold Italics"/>
                <a:cs typeface="Cloud Bold Italics"/>
                <a:sym typeface="Cloud Bold Italics"/>
              </a:rPr>
              <a:t> Market Structure Classification: </a:t>
            </a:r>
          </a:p>
          <a:p>
            <a:pPr algn="l">
              <a:lnSpc>
                <a:spcPts val="3697"/>
              </a:lnSpc>
            </a:pPr>
          </a:p>
          <a:p>
            <a:pPr algn="l">
              <a:lnSpc>
                <a:spcPts val="3697"/>
              </a:lnSpc>
            </a:pPr>
            <a:r>
              <a:rPr lang="en-US" sz="2641" i="true" b="true">
                <a:solidFill>
                  <a:srgbClr val="F5EFEB"/>
                </a:solidFill>
                <a:latin typeface="Cloud Bold Italics"/>
                <a:ea typeface="Cloud Bold Italics"/>
                <a:cs typeface="Cloud Bold Italics"/>
                <a:sym typeface="Cloud Bold Italics"/>
              </a:rPr>
              <a:t>Added a Monopoly indicator column based on Supplier Concentration.</a:t>
            </a:r>
          </a:p>
          <a:p>
            <a:pPr algn="l">
              <a:lnSpc>
                <a:spcPts val="3697"/>
              </a:lnSpc>
            </a:pPr>
            <a:r>
              <a:rPr lang="en-US" b="true" sz="2641" i="true">
                <a:solidFill>
                  <a:srgbClr val="F5EFEB"/>
                </a:solidFill>
                <a:latin typeface="Cloud Bold Italics"/>
                <a:ea typeface="Cloud Bold Italics"/>
                <a:cs typeface="Cloud Bold Italics"/>
                <a:sym typeface="Cloud Bold Italics"/>
              </a:rPr>
              <a:t> If the concentration ratio was greater than 0.5, the market was flagged as a monopoly.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91747" y="4123029"/>
            <a:ext cx="7778084" cy="5796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3423" indent="-271711" lvl="1">
              <a:lnSpc>
                <a:spcPts val="3523"/>
              </a:lnSpc>
              <a:buAutoNum type="arabicPeriod" startAt="1"/>
            </a:pPr>
            <a:r>
              <a:rPr lang="en-US" b="true" sz="2517" i="true">
                <a:solidFill>
                  <a:srgbClr val="F5EFEB"/>
                </a:solidFill>
                <a:latin typeface="Cloud Bold Italics"/>
                <a:ea typeface="Cloud Bold Italics"/>
                <a:cs typeface="Cloud Bold Italics"/>
                <a:sym typeface="Cloud Bold Italics"/>
              </a:rPr>
              <a:t> Handling Growth Outliers: </a:t>
            </a:r>
          </a:p>
          <a:p>
            <a:pPr algn="l">
              <a:lnSpc>
                <a:spcPts val="3523"/>
              </a:lnSpc>
            </a:pPr>
            <a:r>
              <a:rPr lang="en-US" sz="2517" i="true" b="true">
                <a:solidFill>
                  <a:srgbClr val="F5EFEB"/>
                </a:solidFill>
                <a:latin typeface="Cloud Bold Italics"/>
                <a:ea typeface="Cloud Bold Italics"/>
                <a:cs typeface="Cloud Bold Italics"/>
                <a:sym typeface="Cloud Bold Italics"/>
              </a:rPr>
              <a:t>  Calculated and applied the </a:t>
            </a:r>
            <a:r>
              <a:rPr lang="en-US" b="true" sz="2517" i="true" u="sng">
                <a:solidFill>
                  <a:srgbClr val="F5EFEB"/>
                </a:solidFill>
                <a:latin typeface="Cloud Bold Italics"/>
                <a:ea typeface="Cloud Bold Italics"/>
                <a:cs typeface="Cloud Bold Italics"/>
                <a:sym typeface="Cloud Bold Italics"/>
              </a:rPr>
              <a:t>median</a:t>
            </a:r>
            <a:r>
              <a:rPr lang="en-US" sz="2517" i="true" b="true">
                <a:solidFill>
                  <a:srgbClr val="F5EFEB"/>
                </a:solidFill>
                <a:latin typeface="Cloud Bold Italics"/>
                <a:ea typeface="Cloud Bold Italics"/>
                <a:cs typeface="Cloud Bold Italics"/>
                <a:sym typeface="Cloud Bold Italics"/>
              </a:rPr>
              <a:t> for annual growth values </a:t>
            </a:r>
          </a:p>
          <a:p>
            <a:pPr algn="l">
              <a:lnSpc>
                <a:spcPts val="3523"/>
              </a:lnSpc>
            </a:pPr>
          </a:p>
          <a:p>
            <a:pPr algn="l">
              <a:lnSpc>
                <a:spcPts val="3523"/>
              </a:lnSpc>
            </a:pPr>
            <a:r>
              <a:rPr lang="en-US" sz="2517" i="true" b="true">
                <a:solidFill>
                  <a:srgbClr val="F5EFEB"/>
                </a:solidFill>
                <a:latin typeface="Cloud Bold Italics"/>
                <a:ea typeface="Cloud Bold Italics"/>
                <a:cs typeface="Cloud Bold Italics"/>
                <a:sym typeface="Cloud Bold Italics"/>
              </a:rPr>
              <a:t>  2.Regional Segmenting: </a:t>
            </a:r>
          </a:p>
          <a:p>
            <a:pPr algn="l">
              <a:lnSpc>
                <a:spcPts val="3523"/>
              </a:lnSpc>
            </a:pPr>
          </a:p>
          <a:p>
            <a:pPr algn="l">
              <a:lnSpc>
                <a:spcPts val="3523"/>
              </a:lnSpc>
            </a:pPr>
            <a:r>
              <a:rPr lang="en-US" sz="2517" i="true" b="true">
                <a:solidFill>
                  <a:srgbClr val="F5EFEB"/>
                </a:solidFill>
                <a:latin typeface="Cloud Bold Italics"/>
                <a:ea typeface="Cloud Bold Italics"/>
                <a:cs typeface="Cloud Bold Italics"/>
                <a:sym typeface="Cloud Bold Italics"/>
              </a:rPr>
              <a:t>Added a custom Region column to group countries and facilitate the logistical filter (Africa, Middle East, South Asia). </a:t>
            </a:r>
          </a:p>
          <a:p>
            <a:pPr algn="l">
              <a:lnSpc>
                <a:spcPts val="3523"/>
              </a:lnSpc>
            </a:pPr>
          </a:p>
          <a:p>
            <a:pPr algn="l">
              <a:lnSpc>
                <a:spcPts val="3523"/>
              </a:lnSpc>
            </a:pPr>
            <a:r>
              <a:rPr lang="en-US" sz="2517" i="true" b="true">
                <a:solidFill>
                  <a:srgbClr val="F5EFEB"/>
                </a:solidFill>
                <a:latin typeface="Cloud Bold Italics"/>
                <a:ea typeface="Cloud Bold Italics"/>
                <a:cs typeface="Cloud Bold Italics"/>
                <a:sym typeface="Cloud Bold Italics"/>
              </a:rPr>
              <a:t> 3.Resolving Price Gaps: </a:t>
            </a:r>
          </a:p>
          <a:p>
            <a:pPr algn="l">
              <a:lnSpc>
                <a:spcPts val="3523"/>
              </a:lnSpc>
            </a:pPr>
            <a:r>
              <a:rPr lang="en-US" b="true" sz="2517" i="true">
                <a:solidFill>
                  <a:srgbClr val="F5EFEB"/>
                </a:solidFill>
                <a:latin typeface="Cloud Bold Italics"/>
                <a:ea typeface="Cloud Bold Italics"/>
                <a:cs typeface="Cloud Bold Italics"/>
                <a:sym typeface="Cloud Bold Italics"/>
              </a:rPr>
              <a:t>Researched and filled missing Unit Values per Ton using reliable global trade benchmarks.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116230" y="103331"/>
            <a:ext cx="8055539" cy="1817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31"/>
              </a:lnSpc>
            </a:pPr>
            <a:r>
              <a:rPr lang="en-US" sz="4950" b="true">
                <a:solidFill>
                  <a:srgbClr val="2F4156"/>
                </a:solidFill>
                <a:latin typeface="Clarendon Narrow Bold"/>
                <a:ea typeface="Clarendon Narrow Bold"/>
                <a:cs typeface="Clarendon Narrow Bold"/>
                <a:sym typeface="Clarendon Narrow Bold"/>
              </a:rPr>
              <a:t>DataCleaning&amp; enhancement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700000">
            <a:off x="-3485338" y="4772763"/>
            <a:ext cx="5476492" cy="5476492"/>
          </a:xfrm>
          <a:custGeom>
            <a:avLst/>
            <a:gdLst/>
            <a:ahLst/>
            <a:cxnLst/>
            <a:rect r="r" b="b" t="t" l="l"/>
            <a:pathLst>
              <a:path h="5476492" w="5476492">
                <a:moveTo>
                  <a:pt x="0" y="0"/>
                </a:moveTo>
                <a:lnTo>
                  <a:pt x="5476492" y="0"/>
                </a:lnTo>
                <a:lnTo>
                  <a:pt x="5476492" y="5476492"/>
                </a:lnTo>
                <a:lnTo>
                  <a:pt x="0" y="54764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3908252" y="3602757"/>
            <a:ext cx="5703351" cy="7816504"/>
            <a:chOff x="0" y="0"/>
            <a:chExt cx="593064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93064" cy="812800"/>
            </a:xfrm>
            <a:custGeom>
              <a:avLst/>
              <a:gdLst/>
              <a:ahLst/>
              <a:cxnLst/>
              <a:rect r="r" b="b" t="t" l="l"/>
              <a:pathLst>
                <a:path h="812800" w="593064">
                  <a:moveTo>
                    <a:pt x="296532" y="0"/>
                  </a:moveTo>
                  <a:lnTo>
                    <a:pt x="593064" y="406400"/>
                  </a:lnTo>
                  <a:lnTo>
                    <a:pt x="296532" y="812800"/>
                  </a:lnTo>
                  <a:lnTo>
                    <a:pt x="0" y="406400"/>
                  </a:lnTo>
                  <a:lnTo>
                    <a:pt x="296532" y="0"/>
                  </a:lnTo>
                  <a:close/>
                </a:path>
              </a:pathLst>
            </a:custGeom>
            <a:solidFill>
              <a:srgbClr val="2F415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01933" y="44450"/>
              <a:ext cx="389198" cy="628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5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972670" y="-852349"/>
            <a:ext cx="4387287" cy="1881049"/>
          </a:xfrm>
          <a:custGeom>
            <a:avLst/>
            <a:gdLst/>
            <a:ahLst/>
            <a:cxnLst/>
            <a:rect r="r" b="b" t="t" l="l"/>
            <a:pathLst>
              <a:path h="1881049" w="4387287">
                <a:moveTo>
                  <a:pt x="0" y="0"/>
                </a:moveTo>
                <a:lnTo>
                  <a:pt x="4387287" y="0"/>
                </a:lnTo>
                <a:lnTo>
                  <a:pt x="4387287" y="1881049"/>
                </a:lnTo>
                <a:lnTo>
                  <a:pt x="0" y="18810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97692" y="817242"/>
            <a:ext cx="16645089" cy="3853576"/>
          </a:xfrm>
          <a:custGeom>
            <a:avLst/>
            <a:gdLst/>
            <a:ahLst/>
            <a:cxnLst/>
            <a:rect r="r" b="b" t="t" l="l"/>
            <a:pathLst>
              <a:path h="3853576" w="16645089">
                <a:moveTo>
                  <a:pt x="0" y="0"/>
                </a:moveTo>
                <a:lnTo>
                  <a:pt x="16645089" y="0"/>
                </a:lnTo>
                <a:lnTo>
                  <a:pt x="16645089" y="3853576"/>
                </a:lnTo>
                <a:lnTo>
                  <a:pt x="0" y="38535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338" t="-41426" r="-1436" b="-94409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978372" y="4892883"/>
            <a:ext cx="14331257" cy="5236251"/>
          </a:xfrm>
          <a:custGeom>
            <a:avLst/>
            <a:gdLst/>
            <a:ahLst/>
            <a:cxnLst/>
            <a:rect r="r" b="b" t="t" l="l"/>
            <a:pathLst>
              <a:path h="5236251" w="14331257">
                <a:moveTo>
                  <a:pt x="0" y="0"/>
                </a:moveTo>
                <a:lnTo>
                  <a:pt x="14331256" y="0"/>
                </a:lnTo>
                <a:lnTo>
                  <a:pt x="14331256" y="5236251"/>
                </a:lnTo>
                <a:lnTo>
                  <a:pt x="0" y="523625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08357" y="6933889"/>
            <a:ext cx="3860943" cy="3860943"/>
          </a:xfrm>
          <a:custGeom>
            <a:avLst/>
            <a:gdLst/>
            <a:ahLst/>
            <a:cxnLst/>
            <a:rect r="r" b="b" t="t" l="l"/>
            <a:pathLst>
              <a:path h="3860943" w="3860943">
                <a:moveTo>
                  <a:pt x="0" y="0"/>
                </a:moveTo>
                <a:lnTo>
                  <a:pt x="3860943" y="0"/>
                </a:lnTo>
                <a:lnTo>
                  <a:pt x="3860943" y="3860943"/>
                </a:lnTo>
                <a:lnTo>
                  <a:pt x="0" y="386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343061" y="6752914"/>
            <a:ext cx="3860943" cy="3860943"/>
          </a:xfrm>
          <a:custGeom>
            <a:avLst/>
            <a:gdLst/>
            <a:ahLst/>
            <a:cxnLst/>
            <a:rect r="r" b="b" t="t" l="l"/>
            <a:pathLst>
              <a:path h="3860943" w="3860943">
                <a:moveTo>
                  <a:pt x="0" y="0"/>
                </a:moveTo>
                <a:lnTo>
                  <a:pt x="3860943" y="0"/>
                </a:lnTo>
                <a:lnTo>
                  <a:pt x="3860943" y="3860943"/>
                </a:lnTo>
                <a:lnTo>
                  <a:pt x="0" y="386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204004" y="6571939"/>
            <a:ext cx="3860943" cy="3860943"/>
          </a:xfrm>
          <a:custGeom>
            <a:avLst/>
            <a:gdLst/>
            <a:ahLst/>
            <a:cxnLst/>
            <a:rect r="r" b="b" t="t" l="l"/>
            <a:pathLst>
              <a:path h="3860943" w="3860943">
                <a:moveTo>
                  <a:pt x="0" y="0"/>
                </a:moveTo>
                <a:lnTo>
                  <a:pt x="3860942" y="0"/>
                </a:lnTo>
                <a:lnTo>
                  <a:pt x="3860942" y="3860943"/>
                </a:lnTo>
                <a:lnTo>
                  <a:pt x="0" y="386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064946" y="7105339"/>
            <a:ext cx="3860943" cy="3860943"/>
          </a:xfrm>
          <a:custGeom>
            <a:avLst/>
            <a:gdLst/>
            <a:ahLst/>
            <a:cxnLst/>
            <a:rect r="r" b="b" t="t" l="l"/>
            <a:pathLst>
              <a:path h="3860943" w="3860943">
                <a:moveTo>
                  <a:pt x="0" y="0"/>
                </a:moveTo>
                <a:lnTo>
                  <a:pt x="3860943" y="0"/>
                </a:lnTo>
                <a:lnTo>
                  <a:pt x="3860943" y="3860943"/>
                </a:lnTo>
                <a:lnTo>
                  <a:pt x="0" y="386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925889" y="6924364"/>
            <a:ext cx="3860943" cy="3860943"/>
          </a:xfrm>
          <a:custGeom>
            <a:avLst/>
            <a:gdLst/>
            <a:ahLst/>
            <a:cxnLst/>
            <a:rect r="r" b="b" t="t" l="l"/>
            <a:pathLst>
              <a:path h="3860943" w="3860943">
                <a:moveTo>
                  <a:pt x="0" y="0"/>
                </a:moveTo>
                <a:lnTo>
                  <a:pt x="3860943" y="0"/>
                </a:lnTo>
                <a:lnTo>
                  <a:pt x="3860943" y="3860943"/>
                </a:lnTo>
                <a:lnTo>
                  <a:pt x="0" y="386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457052" y="1252186"/>
            <a:ext cx="4047467" cy="4114800"/>
          </a:xfrm>
          <a:custGeom>
            <a:avLst/>
            <a:gdLst/>
            <a:ahLst/>
            <a:cxnLst/>
            <a:rect r="r" b="b" t="t" l="l"/>
            <a:pathLst>
              <a:path h="4114800" w="4047467">
                <a:moveTo>
                  <a:pt x="0" y="0"/>
                </a:moveTo>
                <a:lnTo>
                  <a:pt x="4047467" y="0"/>
                </a:lnTo>
                <a:lnTo>
                  <a:pt x="404746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69286" y="2255649"/>
            <a:ext cx="7307388" cy="7307388"/>
          </a:xfrm>
          <a:custGeom>
            <a:avLst/>
            <a:gdLst/>
            <a:ahLst/>
            <a:cxnLst/>
            <a:rect r="r" b="b" t="t" l="l"/>
            <a:pathLst>
              <a:path h="7307388" w="7307388">
                <a:moveTo>
                  <a:pt x="0" y="0"/>
                </a:moveTo>
                <a:lnTo>
                  <a:pt x="7307389" y="0"/>
                </a:lnTo>
                <a:lnTo>
                  <a:pt x="7307389" y="7307388"/>
                </a:lnTo>
                <a:lnTo>
                  <a:pt x="0" y="73073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-94943" y="1842977"/>
            <a:ext cx="18305410" cy="8531266"/>
            <a:chOff x="0" y="0"/>
            <a:chExt cx="2181383" cy="101663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81383" cy="1016637"/>
            </a:xfrm>
            <a:custGeom>
              <a:avLst/>
              <a:gdLst/>
              <a:ahLst/>
              <a:cxnLst/>
              <a:rect r="r" b="b" t="t" l="l"/>
              <a:pathLst>
                <a:path h="1016637" w="2181383">
                  <a:moveTo>
                    <a:pt x="0" y="0"/>
                  </a:moveTo>
                  <a:lnTo>
                    <a:pt x="2181383" y="0"/>
                  </a:lnTo>
                  <a:lnTo>
                    <a:pt x="2181383" y="1016637"/>
                  </a:lnTo>
                  <a:lnTo>
                    <a:pt x="0" y="1016637"/>
                  </a:lnTo>
                  <a:close/>
                </a:path>
              </a:pathLst>
            </a:custGeom>
            <a:solidFill>
              <a:srgbClr val="2F415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0"/>
              <a:ext cx="2181383" cy="11118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5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3793802" y="-1859151"/>
            <a:ext cx="4047467" cy="4114800"/>
          </a:xfrm>
          <a:custGeom>
            <a:avLst/>
            <a:gdLst/>
            <a:ahLst/>
            <a:cxnLst/>
            <a:rect r="r" b="b" t="t" l="l"/>
            <a:pathLst>
              <a:path h="4114800" w="4047467">
                <a:moveTo>
                  <a:pt x="0" y="0"/>
                </a:moveTo>
                <a:lnTo>
                  <a:pt x="4047467" y="0"/>
                </a:lnTo>
                <a:lnTo>
                  <a:pt x="404746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922980" y="17274"/>
            <a:ext cx="8508397" cy="1658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4500" b="true">
                <a:solidFill>
                  <a:srgbClr val="2F4156"/>
                </a:solidFill>
                <a:latin typeface="Clarendon Narrow Bold"/>
                <a:ea typeface="Clarendon Narrow Bold"/>
                <a:cs typeface="Clarendon Narrow Bold"/>
                <a:sym typeface="Clarendon Narrow Bold"/>
              </a:rPr>
              <a:t>Data Transformation &amp; Feature Engineering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648" y="2431035"/>
            <a:ext cx="18280352" cy="6700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46"/>
              </a:lnSpc>
            </a:pPr>
            <a:r>
              <a:rPr lang="en-US" sz="3175" i="true">
                <a:solidFill>
                  <a:srgbClr val="F5EFEB"/>
                </a:solidFill>
                <a:latin typeface="Arial Italics"/>
                <a:ea typeface="Arial Italics"/>
                <a:cs typeface="Arial Italics"/>
                <a:sym typeface="Arial Italics"/>
              </a:rPr>
              <a:t> Phase 2:   Target Market Filtration &amp; Shortlisting (The 15 Target Countries)</a:t>
            </a:r>
          </a:p>
          <a:p>
            <a:pPr algn="l">
              <a:lnSpc>
                <a:spcPts val="4446"/>
              </a:lnSpc>
            </a:pPr>
          </a:p>
          <a:p>
            <a:pPr algn="l" marL="685644" indent="-342822" lvl="1">
              <a:lnSpc>
                <a:spcPts val="4446"/>
              </a:lnSpc>
              <a:buFont typeface="Arial"/>
              <a:buChar char="•"/>
            </a:pPr>
            <a:r>
              <a:rPr lang="en-US" sz="3175" i="true">
                <a:solidFill>
                  <a:srgbClr val="F5EFEB"/>
                </a:solidFill>
                <a:latin typeface="Arial Italics"/>
                <a:ea typeface="Arial Italics"/>
                <a:cs typeface="Arial Italics"/>
                <a:sym typeface="Arial Italics"/>
              </a:rPr>
              <a:t>R</a:t>
            </a:r>
            <a:r>
              <a:rPr lang="en-US" sz="3175" i="true">
                <a:solidFill>
                  <a:srgbClr val="F5EFEB"/>
                </a:solidFill>
                <a:latin typeface="Arial Italics"/>
                <a:ea typeface="Arial Italics"/>
                <a:cs typeface="Arial Italics"/>
                <a:sym typeface="Arial Italics"/>
              </a:rPr>
              <a:t>egional Focus: Filtered the global database to Africa &amp; the Middle East for optimal logistics and shipping costs.</a:t>
            </a:r>
          </a:p>
          <a:p>
            <a:pPr algn="l" marL="685644" indent="-342822" lvl="1">
              <a:lnSpc>
                <a:spcPts val="4446"/>
              </a:lnSpc>
              <a:buFont typeface="Arial"/>
              <a:buChar char="•"/>
            </a:pPr>
            <a:r>
              <a:rPr lang="en-US" sz="3175" i="true">
                <a:solidFill>
                  <a:srgbClr val="F5EFEB"/>
                </a:solidFill>
                <a:latin typeface="Arial Italics"/>
                <a:ea typeface="Arial Italics"/>
                <a:cs typeface="Arial Italics"/>
                <a:sym typeface="Arial Italics"/>
              </a:rPr>
              <a:t>Analyzed the top importing countries and the fastest-growing markets over the last 5 years.</a:t>
            </a:r>
          </a:p>
          <a:p>
            <a:pPr algn="l">
              <a:lnSpc>
                <a:spcPts val="4446"/>
              </a:lnSpc>
            </a:pPr>
          </a:p>
          <a:p>
            <a:pPr algn="l" marL="685644" indent="-342822" lvl="1">
              <a:lnSpc>
                <a:spcPts val="4446"/>
              </a:lnSpc>
              <a:buFont typeface="Arial"/>
              <a:buChar char="•"/>
            </a:pPr>
            <a:r>
              <a:rPr lang="en-US" sz="3175" i="true">
                <a:solidFill>
                  <a:srgbClr val="F5EFEB"/>
                </a:solidFill>
                <a:latin typeface="Arial Italics"/>
                <a:ea typeface="Arial Italics"/>
                <a:cs typeface="Arial Italics"/>
                <a:sym typeface="Arial Italics"/>
              </a:rPr>
              <a:t>Key Features Checked: Evaluated Egypt’s historical footprint and supplier concentration to by pass monopolies and find open markets.</a:t>
            </a:r>
          </a:p>
          <a:p>
            <a:pPr algn="l">
              <a:lnSpc>
                <a:spcPts val="4446"/>
              </a:lnSpc>
            </a:pPr>
          </a:p>
          <a:p>
            <a:pPr algn="l" marL="685644" indent="-342822" lvl="1">
              <a:lnSpc>
                <a:spcPts val="4446"/>
              </a:lnSpc>
              <a:buFont typeface="Arial"/>
              <a:buChar char="•"/>
            </a:pPr>
            <a:r>
              <a:rPr lang="en-US" sz="3175" i="true">
                <a:solidFill>
                  <a:srgbClr val="F5EFEB"/>
                </a:solidFill>
                <a:latin typeface="Arial Italics"/>
                <a:ea typeface="Arial Italics"/>
                <a:cs typeface="Arial Italics"/>
                <a:sym typeface="Arial Italics"/>
              </a:rPr>
              <a:t>R</a:t>
            </a:r>
            <a:r>
              <a:rPr lang="en-US" sz="3175" i="true">
                <a:solidFill>
                  <a:srgbClr val="F5EFEB"/>
                </a:solidFill>
                <a:latin typeface="Arial Italics"/>
                <a:ea typeface="Arial Italics"/>
                <a:cs typeface="Arial Italics"/>
                <a:sym typeface="Arial Italics"/>
              </a:rPr>
              <a:t>equired countries to meet at least 2 out of 3 criteria to ensure data accuracy.</a:t>
            </a:r>
          </a:p>
          <a:p>
            <a:pPr algn="l" marL="685644" indent="-342822" lvl="1">
              <a:lnSpc>
                <a:spcPts val="4446"/>
              </a:lnSpc>
              <a:buFont typeface="Arial"/>
              <a:buChar char="•"/>
            </a:pPr>
            <a:r>
              <a:rPr lang="en-US" sz="3175" i="true">
                <a:solidFill>
                  <a:srgbClr val="F5EFEB"/>
                </a:solidFill>
                <a:latin typeface="Arial Italics"/>
                <a:ea typeface="Arial Italics"/>
                <a:cs typeface="Arial Italics"/>
                <a:sym typeface="Arial Italics"/>
              </a:rPr>
              <a:t>The Tools Used: Combined Excel Pivot Tables and Python (.nlargest()) to process the data.</a:t>
            </a:r>
          </a:p>
          <a:p>
            <a:pPr algn="l">
              <a:lnSpc>
                <a:spcPts val="4446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08357" y="6933889"/>
            <a:ext cx="3860943" cy="3860943"/>
          </a:xfrm>
          <a:custGeom>
            <a:avLst/>
            <a:gdLst/>
            <a:ahLst/>
            <a:cxnLst/>
            <a:rect r="r" b="b" t="t" l="l"/>
            <a:pathLst>
              <a:path h="3860943" w="3860943">
                <a:moveTo>
                  <a:pt x="0" y="0"/>
                </a:moveTo>
                <a:lnTo>
                  <a:pt x="3860943" y="0"/>
                </a:lnTo>
                <a:lnTo>
                  <a:pt x="3860943" y="3860943"/>
                </a:lnTo>
                <a:lnTo>
                  <a:pt x="0" y="386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343061" y="6752914"/>
            <a:ext cx="3860943" cy="3860943"/>
          </a:xfrm>
          <a:custGeom>
            <a:avLst/>
            <a:gdLst/>
            <a:ahLst/>
            <a:cxnLst/>
            <a:rect r="r" b="b" t="t" l="l"/>
            <a:pathLst>
              <a:path h="3860943" w="3860943">
                <a:moveTo>
                  <a:pt x="0" y="0"/>
                </a:moveTo>
                <a:lnTo>
                  <a:pt x="3860943" y="0"/>
                </a:lnTo>
                <a:lnTo>
                  <a:pt x="3860943" y="3860943"/>
                </a:lnTo>
                <a:lnTo>
                  <a:pt x="0" y="386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204004" y="6571939"/>
            <a:ext cx="3860943" cy="3860943"/>
          </a:xfrm>
          <a:custGeom>
            <a:avLst/>
            <a:gdLst/>
            <a:ahLst/>
            <a:cxnLst/>
            <a:rect r="r" b="b" t="t" l="l"/>
            <a:pathLst>
              <a:path h="3860943" w="3860943">
                <a:moveTo>
                  <a:pt x="0" y="0"/>
                </a:moveTo>
                <a:lnTo>
                  <a:pt x="3860942" y="0"/>
                </a:lnTo>
                <a:lnTo>
                  <a:pt x="3860942" y="3860943"/>
                </a:lnTo>
                <a:lnTo>
                  <a:pt x="0" y="386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064946" y="7105339"/>
            <a:ext cx="3860943" cy="3860943"/>
          </a:xfrm>
          <a:custGeom>
            <a:avLst/>
            <a:gdLst/>
            <a:ahLst/>
            <a:cxnLst/>
            <a:rect r="r" b="b" t="t" l="l"/>
            <a:pathLst>
              <a:path h="3860943" w="3860943">
                <a:moveTo>
                  <a:pt x="0" y="0"/>
                </a:moveTo>
                <a:lnTo>
                  <a:pt x="3860943" y="0"/>
                </a:lnTo>
                <a:lnTo>
                  <a:pt x="3860943" y="3860943"/>
                </a:lnTo>
                <a:lnTo>
                  <a:pt x="0" y="386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925889" y="6924364"/>
            <a:ext cx="3860943" cy="3860943"/>
          </a:xfrm>
          <a:custGeom>
            <a:avLst/>
            <a:gdLst/>
            <a:ahLst/>
            <a:cxnLst/>
            <a:rect r="r" b="b" t="t" l="l"/>
            <a:pathLst>
              <a:path h="3860943" w="3860943">
                <a:moveTo>
                  <a:pt x="0" y="0"/>
                </a:moveTo>
                <a:lnTo>
                  <a:pt x="3860943" y="0"/>
                </a:lnTo>
                <a:lnTo>
                  <a:pt x="3860943" y="3860943"/>
                </a:lnTo>
                <a:lnTo>
                  <a:pt x="0" y="386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343061" y="371261"/>
            <a:ext cx="11379955" cy="9544478"/>
          </a:xfrm>
          <a:custGeom>
            <a:avLst/>
            <a:gdLst/>
            <a:ahLst/>
            <a:cxnLst/>
            <a:rect r="r" b="b" t="t" l="l"/>
            <a:pathLst>
              <a:path h="9544478" w="11379955">
                <a:moveTo>
                  <a:pt x="0" y="0"/>
                </a:moveTo>
                <a:lnTo>
                  <a:pt x="11379955" y="0"/>
                </a:lnTo>
                <a:lnTo>
                  <a:pt x="11379955" y="9544478"/>
                </a:lnTo>
                <a:lnTo>
                  <a:pt x="0" y="95444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08357" y="6933889"/>
            <a:ext cx="3860943" cy="3860943"/>
          </a:xfrm>
          <a:custGeom>
            <a:avLst/>
            <a:gdLst/>
            <a:ahLst/>
            <a:cxnLst/>
            <a:rect r="r" b="b" t="t" l="l"/>
            <a:pathLst>
              <a:path h="3860943" w="3860943">
                <a:moveTo>
                  <a:pt x="0" y="0"/>
                </a:moveTo>
                <a:lnTo>
                  <a:pt x="3860943" y="0"/>
                </a:lnTo>
                <a:lnTo>
                  <a:pt x="3860943" y="3860943"/>
                </a:lnTo>
                <a:lnTo>
                  <a:pt x="0" y="386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343061" y="6752914"/>
            <a:ext cx="3860943" cy="3860943"/>
          </a:xfrm>
          <a:custGeom>
            <a:avLst/>
            <a:gdLst/>
            <a:ahLst/>
            <a:cxnLst/>
            <a:rect r="r" b="b" t="t" l="l"/>
            <a:pathLst>
              <a:path h="3860943" w="3860943">
                <a:moveTo>
                  <a:pt x="0" y="0"/>
                </a:moveTo>
                <a:lnTo>
                  <a:pt x="3860943" y="0"/>
                </a:lnTo>
                <a:lnTo>
                  <a:pt x="3860943" y="3860943"/>
                </a:lnTo>
                <a:lnTo>
                  <a:pt x="0" y="386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204004" y="6571939"/>
            <a:ext cx="3860943" cy="3860943"/>
          </a:xfrm>
          <a:custGeom>
            <a:avLst/>
            <a:gdLst/>
            <a:ahLst/>
            <a:cxnLst/>
            <a:rect r="r" b="b" t="t" l="l"/>
            <a:pathLst>
              <a:path h="3860943" w="3860943">
                <a:moveTo>
                  <a:pt x="0" y="0"/>
                </a:moveTo>
                <a:lnTo>
                  <a:pt x="3860942" y="0"/>
                </a:lnTo>
                <a:lnTo>
                  <a:pt x="3860942" y="3860943"/>
                </a:lnTo>
                <a:lnTo>
                  <a:pt x="0" y="386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064946" y="7105339"/>
            <a:ext cx="3860943" cy="3860943"/>
          </a:xfrm>
          <a:custGeom>
            <a:avLst/>
            <a:gdLst/>
            <a:ahLst/>
            <a:cxnLst/>
            <a:rect r="r" b="b" t="t" l="l"/>
            <a:pathLst>
              <a:path h="3860943" w="3860943">
                <a:moveTo>
                  <a:pt x="0" y="0"/>
                </a:moveTo>
                <a:lnTo>
                  <a:pt x="3860943" y="0"/>
                </a:lnTo>
                <a:lnTo>
                  <a:pt x="3860943" y="3860943"/>
                </a:lnTo>
                <a:lnTo>
                  <a:pt x="0" y="386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925889" y="6924364"/>
            <a:ext cx="3860943" cy="3860943"/>
          </a:xfrm>
          <a:custGeom>
            <a:avLst/>
            <a:gdLst/>
            <a:ahLst/>
            <a:cxnLst/>
            <a:rect r="r" b="b" t="t" l="l"/>
            <a:pathLst>
              <a:path h="3860943" w="3860943">
                <a:moveTo>
                  <a:pt x="0" y="0"/>
                </a:moveTo>
                <a:lnTo>
                  <a:pt x="3860943" y="0"/>
                </a:lnTo>
                <a:lnTo>
                  <a:pt x="3860943" y="3860943"/>
                </a:lnTo>
                <a:lnTo>
                  <a:pt x="0" y="386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457052" y="1252186"/>
            <a:ext cx="4047467" cy="4114800"/>
          </a:xfrm>
          <a:custGeom>
            <a:avLst/>
            <a:gdLst/>
            <a:ahLst/>
            <a:cxnLst/>
            <a:rect r="r" b="b" t="t" l="l"/>
            <a:pathLst>
              <a:path h="4114800" w="4047467">
                <a:moveTo>
                  <a:pt x="0" y="0"/>
                </a:moveTo>
                <a:lnTo>
                  <a:pt x="4047467" y="0"/>
                </a:lnTo>
                <a:lnTo>
                  <a:pt x="404746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69286" y="2255649"/>
            <a:ext cx="7307388" cy="7307388"/>
          </a:xfrm>
          <a:custGeom>
            <a:avLst/>
            <a:gdLst/>
            <a:ahLst/>
            <a:cxnLst/>
            <a:rect r="r" b="b" t="t" l="l"/>
            <a:pathLst>
              <a:path h="7307388" w="7307388">
                <a:moveTo>
                  <a:pt x="0" y="0"/>
                </a:moveTo>
                <a:lnTo>
                  <a:pt x="7307389" y="0"/>
                </a:lnTo>
                <a:lnTo>
                  <a:pt x="7307389" y="7307388"/>
                </a:lnTo>
                <a:lnTo>
                  <a:pt x="0" y="73073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-94943" y="2696522"/>
            <a:ext cx="18382943" cy="7135016"/>
            <a:chOff x="0" y="0"/>
            <a:chExt cx="2190623" cy="85025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0623" cy="850252"/>
            </a:xfrm>
            <a:custGeom>
              <a:avLst/>
              <a:gdLst/>
              <a:ahLst/>
              <a:cxnLst/>
              <a:rect r="r" b="b" t="t" l="l"/>
              <a:pathLst>
                <a:path h="850252" w="2190623">
                  <a:moveTo>
                    <a:pt x="0" y="0"/>
                  </a:moveTo>
                  <a:lnTo>
                    <a:pt x="2190623" y="0"/>
                  </a:lnTo>
                  <a:lnTo>
                    <a:pt x="2190623" y="850252"/>
                  </a:lnTo>
                  <a:lnTo>
                    <a:pt x="0" y="850252"/>
                  </a:lnTo>
                  <a:close/>
                </a:path>
              </a:pathLst>
            </a:custGeom>
            <a:solidFill>
              <a:srgbClr val="2F415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0"/>
              <a:ext cx="2190623" cy="9455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5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3793802" y="-1859151"/>
            <a:ext cx="4047467" cy="4114800"/>
          </a:xfrm>
          <a:custGeom>
            <a:avLst/>
            <a:gdLst/>
            <a:ahLst/>
            <a:cxnLst/>
            <a:rect r="r" b="b" t="t" l="l"/>
            <a:pathLst>
              <a:path h="4114800" w="4047467">
                <a:moveTo>
                  <a:pt x="0" y="0"/>
                </a:moveTo>
                <a:lnTo>
                  <a:pt x="4047467" y="0"/>
                </a:lnTo>
                <a:lnTo>
                  <a:pt x="404746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922980" y="596920"/>
            <a:ext cx="8508397" cy="1658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4500" b="true">
                <a:solidFill>
                  <a:srgbClr val="2F4156"/>
                </a:solidFill>
                <a:latin typeface="Clarendon Narrow Bold"/>
                <a:ea typeface="Clarendon Narrow Bold"/>
                <a:cs typeface="Clarendon Narrow Bold"/>
                <a:sym typeface="Clarendon Narrow Bold"/>
              </a:rPr>
              <a:t>Data Transformation &amp; Feature Engineering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7001" y="3312437"/>
            <a:ext cx="17784268" cy="5945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01"/>
              </a:lnSpc>
            </a:pPr>
            <a:r>
              <a:rPr lang="en-US" sz="3072" i="true">
                <a:solidFill>
                  <a:srgbClr val="F5EFEB"/>
                </a:solidFill>
                <a:latin typeface="Arial Italics"/>
                <a:ea typeface="Arial Italics"/>
                <a:cs typeface="Arial Italics"/>
                <a:sym typeface="Arial Italics"/>
              </a:rPr>
              <a:t>      Phase 3: Competitive Landscape &amp; Market Share Extraction</a:t>
            </a:r>
          </a:p>
          <a:p>
            <a:pPr algn="l">
              <a:lnSpc>
                <a:spcPts val="4301"/>
              </a:lnSpc>
            </a:pPr>
          </a:p>
          <a:p>
            <a:pPr algn="l" marL="663386" indent="-331693" lvl="1">
              <a:lnSpc>
                <a:spcPts val="4301"/>
              </a:lnSpc>
              <a:buFont typeface="Arial"/>
              <a:buChar char="•"/>
            </a:pPr>
            <a:r>
              <a:rPr lang="en-US" sz="3072" i="true">
                <a:solidFill>
                  <a:srgbClr val="F5EFEB"/>
                </a:solidFill>
                <a:latin typeface="Arial Italics"/>
                <a:ea typeface="Arial Italics"/>
                <a:cs typeface="Arial Italics"/>
                <a:sym typeface="Arial Italics"/>
              </a:rPr>
              <a:t>In the next step of our data transformation, we focused entirely on the competitor matrix.</a:t>
            </a:r>
          </a:p>
          <a:p>
            <a:pPr algn="l">
              <a:lnSpc>
                <a:spcPts val="4301"/>
              </a:lnSpc>
            </a:pPr>
          </a:p>
          <a:p>
            <a:pPr algn="l" marL="663386" indent="-331693" lvl="1">
              <a:lnSpc>
                <a:spcPts val="4301"/>
              </a:lnSpc>
              <a:buFont typeface="Arial"/>
              <a:buChar char="•"/>
            </a:pPr>
            <a:r>
              <a:rPr lang="en-US" sz="3072" i="true">
                <a:solidFill>
                  <a:srgbClr val="F5EFEB"/>
                </a:solidFill>
                <a:latin typeface="Arial Italics"/>
                <a:ea typeface="Arial Italics"/>
                <a:cs typeface="Arial Italics"/>
                <a:sym typeface="Arial Italics"/>
              </a:rPr>
              <a:t>For each of our 15 selected target countries, we extracted the specific international competitors supplying them and calculated their exact market shares. </a:t>
            </a:r>
          </a:p>
          <a:p>
            <a:pPr algn="l">
              <a:lnSpc>
                <a:spcPts val="4301"/>
              </a:lnSpc>
            </a:pPr>
          </a:p>
          <a:p>
            <a:pPr algn="l" marL="663386" indent="-331693" lvl="1">
              <a:lnSpc>
                <a:spcPts val="4301"/>
              </a:lnSpc>
              <a:buFont typeface="Arial"/>
              <a:buChar char="•"/>
            </a:pPr>
            <a:r>
              <a:rPr lang="en-US" sz="3072" i="true">
                <a:solidFill>
                  <a:srgbClr val="F5EFEB"/>
                </a:solidFill>
                <a:latin typeface="Arial Italics"/>
                <a:ea typeface="Arial Italics"/>
                <a:cs typeface="Arial Italics"/>
                <a:sym typeface="Arial Italics"/>
              </a:rPr>
              <a:t>The goal was to identify which markets face intense global rivalry and which ones offer an open window for entry. </a:t>
            </a:r>
          </a:p>
          <a:p>
            <a:pPr algn="l">
              <a:lnSpc>
                <a:spcPts val="4301"/>
              </a:lnSpc>
            </a:pPr>
          </a:p>
          <a:p>
            <a:pPr algn="l" marL="663386" indent="-331693" lvl="1">
              <a:lnSpc>
                <a:spcPts val="4301"/>
              </a:lnSpc>
              <a:buFont typeface="Arial"/>
              <a:buChar char="•"/>
            </a:pPr>
            <a:r>
              <a:rPr lang="en-US" sz="3072" i="true">
                <a:solidFill>
                  <a:srgbClr val="F5EFEB"/>
                </a:solidFill>
                <a:latin typeface="Arial Italics"/>
                <a:ea typeface="Arial Italics"/>
                <a:cs typeface="Arial Italics"/>
                <a:sym typeface="Arial Italics"/>
              </a:rPr>
              <a:t>This entire matrix was aggregated and structured using Excel 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08357" y="6933889"/>
            <a:ext cx="3860943" cy="3860943"/>
          </a:xfrm>
          <a:custGeom>
            <a:avLst/>
            <a:gdLst/>
            <a:ahLst/>
            <a:cxnLst/>
            <a:rect r="r" b="b" t="t" l="l"/>
            <a:pathLst>
              <a:path h="3860943" w="3860943">
                <a:moveTo>
                  <a:pt x="0" y="0"/>
                </a:moveTo>
                <a:lnTo>
                  <a:pt x="3860943" y="0"/>
                </a:lnTo>
                <a:lnTo>
                  <a:pt x="3860943" y="3860943"/>
                </a:lnTo>
                <a:lnTo>
                  <a:pt x="0" y="386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343061" y="6752914"/>
            <a:ext cx="3860943" cy="3860943"/>
          </a:xfrm>
          <a:custGeom>
            <a:avLst/>
            <a:gdLst/>
            <a:ahLst/>
            <a:cxnLst/>
            <a:rect r="r" b="b" t="t" l="l"/>
            <a:pathLst>
              <a:path h="3860943" w="3860943">
                <a:moveTo>
                  <a:pt x="0" y="0"/>
                </a:moveTo>
                <a:lnTo>
                  <a:pt x="3860943" y="0"/>
                </a:lnTo>
                <a:lnTo>
                  <a:pt x="3860943" y="3860943"/>
                </a:lnTo>
                <a:lnTo>
                  <a:pt x="0" y="386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204004" y="6571939"/>
            <a:ext cx="3860943" cy="3860943"/>
          </a:xfrm>
          <a:custGeom>
            <a:avLst/>
            <a:gdLst/>
            <a:ahLst/>
            <a:cxnLst/>
            <a:rect r="r" b="b" t="t" l="l"/>
            <a:pathLst>
              <a:path h="3860943" w="3860943">
                <a:moveTo>
                  <a:pt x="0" y="0"/>
                </a:moveTo>
                <a:lnTo>
                  <a:pt x="3860942" y="0"/>
                </a:lnTo>
                <a:lnTo>
                  <a:pt x="3860942" y="3860943"/>
                </a:lnTo>
                <a:lnTo>
                  <a:pt x="0" y="386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064946" y="7105339"/>
            <a:ext cx="3860943" cy="3860943"/>
          </a:xfrm>
          <a:custGeom>
            <a:avLst/>
            <a:gdLst/>
            <a:ahLst/>
            <a:cxnLst/>
            <a:rect r="r" b="b" t="t" l="l"/>
            <a:pathLst>
              <a:path h="3860943" w="3860943">
                <a:moveTo>
                  <a:pt x="0" y="0"/>
                </a:moveTo>
                <a:lnTo>
                  <a:pt x="3860943" y="0"/>
                </a:lnTo>
                <a:lnTo>
                  <a:pt x="3860943" y="3860943"/>
                </a:lnTo>
                <a:lnTo>
                  <a:pt x="0" y="386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925889" y="6924364"/>
            <a:ext cx="3860943" cy="3860943"/>
          </a:xfrm>
          <a:custGeom>
            <a:avLst/>
            <a:gdLst/>
            <a:ahLst/>
            <a:cxnLst/>
            <a:rect r="r" b="b" t="t" l="l"/>
            <a:pathLst>
              <a:path h="3860943" w="3860943">
                <a:moveTo>
                  <a:pt x="0" y="0"/>
                </a:moveTo>
                <a:lnTo>
                  <a:pt x="3860943" y="0"/>
                </a:lnTo>
                <a:lnTo>
                  <a:pt x="3860943" y="3860943"/>
                </a:lnTo>
                <a:lnTo>
                  <a:pt x="0" y="386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98734" y="3781169"/>
            <a:ext cx="16560566" cy="6387337"/>
          </a:xfrm>
          <a:custGeom>
            <a:avLst/>
            <a:gdLst/>
            <a:ahLst/>
            <a:cxnLst/>
            <a:rect r="r" b="b" t="t" l="l"/>
            <a:pathLst>
              <a:path h="6387337" w="16560566">
                <a:moveTo>
                  <a:pt x="0" y="0"/>
                </a:moveTo>
                <a:lnTo>
                  <a:pt x="16560566" y="0"/>
                </a:lnTo>
                <a:lnTo>
                  <a:pt x="16560566" y="6387337"/>
                </a:lnTo>
                <a:lnTo>
                  <a:pt x="0" y="63873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634" r="0" b="-634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98734" y="0"/>
            <a:ext cx="17159474" cy="3255750"/>
          </a:xfrm>
          <a:custGeom>
            <a:avLst/>
            <a:gdLst/>
            <a:ahLst/>
            <a:cxnLst/>
            <a:rect r="r" b="b" t="t" l="l"/>
            <a:pathLst>
              <a:path h="3255750" w="17159474">
                <a:moveTo>
                  <a:pt x="0" y="0"/>
                </a:moveTo>
                <a:lnTo>
                  <a:pt x="17159473" y="0"/>
                </a:lnTo>
                <a:lnTo>
                  <a:pt x="17159473" y="3255750"/>
                </a:lnTo>
                <a:lnTo>
                  <a:pt x="0" y="32557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662" r="0" b="-1662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712998" y="6979121"/>
            <a:ext cx="3145210" cy="3046579"/>
          </a:xfrm>
          <a:custGeom>
            <a:avLst/>
            <a:gdLst/>
            <a:ahLst/>
            <a:cxnLst/>
            <a:rect r="r" b="b" t="t" l="l"/>
            <a:pathLst>
              <a:path h="3046579" w="3145210">
                <a:moveTo>
                  <a:pt x="0" y="0"/>
                </a:moveTo>
                <a:lnTo>
                  <a:pt x="3145209" y="0"/>
                </a:lnTo>
                <a:lnTo>
                  <a:pt x="3145209" y="3046579"/>
                </a:lnTo>
                <a:lnTo>
                  <a:pt x="0" y="30465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08357" y="6933889"/>
            <a:ext cx="3860943" cy="3860943"/>
          </a:xfrm>
          <a:custGeom>
            <a:avLst/>
            <a:gdLst/>
            <a:ahLst/>
            <a:cxnLst/>
            <a:rect r="r" b="b" t="t" l="l"/>
            <a:pathLst>
              <a:path h="3860943" w="3860943">
                <a:moveTo>
                  <a:pt x="0" y="0"/>
                </a:moveTo>
                <a:lnTo>
                  <a:pt x="3860943" y="0"/>
                </a:lnTo>
                <a:lnTo>
                  <a:pt x="3860943" y="3860943"/>
                </a:lnTo>
                <a:lnTo>
                  <a:pt x="0" y="386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343061" y="6752914"/>
            <a:ext cx="3860943" cy="3860943"/>
          </a:xfrm>
          <a:custGeom>
            <a:avLst/>
            <a:gdLst/>
            <a:ahLst/>
            <a:cxnLst/>
            <a:rect r="r" b="b" t="t" l="l"/>
            <a:pathLst>
              <a:path h="3860943" w="3860943">
                <a:moveTo>
                  <a:pt x="0" y="0"/>
                </a:moveTo>
                <a:lnTo>
                  <a:pt x="3860943" y="0"/>
                </a:lnTo>
                <a:lnTo>
                  <a:pt x="3860943" y="3860943"/>
                </a:lnTo>
                <a:lnTo>
                  <a:pt x="0" y="386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204004" y="6571939"/>
            <a:ext cx="3860943" cy="3860943"/>
          </a:xfrm>
          <a:custGeom>
            <a:avLst/>
            <a:gdLst/>
            <a:ahLst/>
            <a:cxnLst/>
            <a:rect r="r" b="b" t="t" l="l"/>
            <a:pathLst>
              <a:path h="3860943" w="3860943">
                <a:moveTo>
                  <a:pt x="0" y="0"/>
                </a:moveTo>
                <a:lnTo>
                  <a:pt x="3860942" y="0"/>
                </a:lnTo>
                <a:lnTo>
                  <a:pt x="3860942" y="3860943"/>
                </a:lnTo>
                <a:lnTo>
                  <a:pt x="0" y="386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064946" y="7105339"/>
            <a:ext cx="3860943" cy="3860943"/>
          </a:xfrm>
          <a:custGeom>
            <a:avLst/>
            <a:gdLst/>
            <a:ahLst/>
            <a:cxnLst/>
            <a:rect r="r" b="b" t="t" l="l"/>
            <a:pathLst>
              <a:path h="3860943" w="3860943">
                <a:moveTo>
                  <a:pt x="0" y="0"/>
                </a:moveTo>
                <a:lnTo>
                  <a:pt x="3860943" y="0"/>
                </a:lnTo>
                <a:lnTo>
                  <a:pt x="3860943" y="3860943"/>
                </a:lnTo>
                <a:lnTo>
                  <a:pt x="0" y="386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925889" y="6924364"/>
            <a:ext cx="3860943" cy="3860943"/>
          </a:xfrm>
          <a:custGeom>
            <a:avLst/>
            <a:gdLst/>
            <a:ahLst/>
            <a:cxnLst/>
            <a:rect r="r" b="b" t="t" l="l"/>
            <a:pathLst>
              <a:path h="3860943" w="3860943">
                <a:moveTo>
                  <a:pt x="0" y="0"/>
                </a:moveTo>
                <a:lnTo>
                  <a:pt x="3860943" y="0"/>
                </a:lnTo>
                <a:lnTo>
                  <a:pt x="3860943" y="3860943"/>
                </a:lnTo>
                <a:lnTo>
                  <a:pt x="0" y="386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457052" y="1252186"/>
            <a:ext cx="4047467" cy="4114800"/>
          </a:xfrm>
          <a:custGeom>
            <a:avLst/>
            <a:gdLst/>
            <a:ahLst/>
            <a:cxnLst/>
            <a:rect r="r" b="b" t="t" l="l"/>
            <a:pathLst>
              <a:path h="4114800" w="4047467">
                <a:moveTo>
                  <a:pt x="0" y="0"/>
                </a:moveTo>
                <a:lnTo>
                  <a:pt x="4047467" y="0"/>
                </a:lnTo>
                <a:lnTo>
                  <a:pt x="404746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69286" y="2255649"/>
            <a:ext cx="7307388" cy="7307388"/>
          </a:xfrm>
          <a:custGeom>
            <a:avLst/>
            <a:gdLst/>
            <a:ahLst/>
            <a:cxnLst/>
            <a:rect r="r" b="b" t="t" l="l"/>
            <a:pathLst>
              <a:path h="7307388" w="7307388">
                <a:moveTo>
                  <a:pt x="0" y="0"/>
                </a:moveTo>
                <a:lnTo>
                  <a:pt x="7307389" y="0"/>
                </a:lnTo>
                <a:lnTo>
                  <a:pt x="7307389" y="7307388"/>
                </a:lnTo>
                <a:lnTo>
                  <a:pt x="0" y="73073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-94943" y="3287659"/>
            <a:ext cx="18382943" cy="6514045"/>
            <a:chOff x="0" y="0"/>
            <a:chExt cx="2190623" cy="77625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0623" cy="776253"/>
            </a:xfrm>
            <a:custGeom>
              <a:avLst/>
              <a:gdLst/>
              <a:ahLst/>
              <a:cxnLst/>
              <a:rect r="r" b="b" t="t" l="l"/>
              <a:pathLst>
                <a:path h="776253" w="2190623">
                  <a:moveTo>
                    <a:pt x="0" y="0"/>
                  </a:moveTo>
                  <a:lnTo>
                    <a:pt x="2190623" y="0"/>
                  </a:lnTo>
                  <a:lnTo>
                    <a:pt x="2190623" y="776253"/>
                  </a:lnTo>
                  <a:lnTo>
                    <a:pt x="0" y="776253"/>
                  </a:lnTo>
                  <a:close/>
                </a:path>
              </a:pathLst>
            </a:custGeom>
            <a:solidFill>
              <a:srgbClr val="2F415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0"/>
              <a:ext cx="2190623" cy="871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5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3793802" y="-1859151"/>
            <a:ext cx="4047467" cy="4114800"/>
          </a:xfrm>
          <a:custGeom>
            <a:avLst/>
            <a:gdLst/>
            <a:ahLst/>
            <a:cxnLst/>
            <a:rect r="r" b="b" t="t" l="l"/>
            <a:pathLst>
              <a:path h="4114800" w="4047467">
                <a:moveTo>
                  <a:pt x="0" y="0"/>
                </a:moveTo>
                <a:lnTo>
                  <a:pt x="4047467" y="0"/>
                </a:lnTo>
                <a:lnTo>
                  <a:pt x="404746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922980" y="596920"/>
            <a:ext cx="8508397" cy="1658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4500" b="true">
                <a:solidFill>
                  <a:srgbClr val="2F4156"/>
                </a:solidFill>
                <a:latin typeface="Clarendon Narrow Bold"/>
                <a:ea typeface="Clarendon Narrow Bold"/>
                <a:cs typeface="Clarendon Narrow Bold"/>
                <a:sym typeface="Clarendon Narrow Bold"/>
              </a:rPr>
              <a:t>Data Transformation &amp; Feature Engineering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-94943" y="3743165"/>
            <a:ext cx="18199860" cy="4977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8888" indent="-339444" lvl="1">
              <a:lnSpc>
                <a:spcPts val="4402"/>
              </a:lnSpc>
              <a:buFont typeface="Arial"/>
              <a:buChar char="•"/>
            </a:pPr>
            <a:r>
              <a:rPr lang="en-US" sz="3144" i="true">
                <a:solidFill>
                  <a:srgbClr val="F5EFEB"/>
                </a:solidFill>
                <a:latin typeface="Arial Italics"/>
                <a:ea typeface="Arial Italics"/>
                <a:cs typeface="Arial Italics"/>
                <a:sym typeface="Arial Italics"/>
              </a:rPr>
              <a:t>Phase 4: Comparative Analysis &amp; Feature Engineering</a:t>
            </a:r>
          </a:p>
          <a:p>
            <a:pPr algn="l">
              <a:lnSpc>
                <a:spcPts val="4402"/>
              </a:lnSpc>
            </a:pPr>
          </a:p>
          <a:p>
            <a:pPr algn="l" marL="678888" indent="-339444" lvl="1">
              <a:lnSpc>
                <a:spcPts val="4402"/>
              </a:lnSpc>
              <a:buFont typeface="Arial"/>
              <a:buChar char="•"/>
            </a:pPr>
            <a:r>
              <a:rPr lang="en-US" sz="3144" i="true">
                <a:solidFill>
                  <a:srgbClr val="F5EFEB"/>
                </a:solidFill>
                <a:latin typeface="Arial Italics"/>
                <a:ea typeface="Arial Italics"/>
                <a:cs typeface="Arial Italics"/>
                <a:sym typeface="Arial Italics"/>
              </a:rPr>
              <a:t>F</a:t>
            </a:r>
            <a:r>
              <a:rPr lang="en-US" sz="3144" i="true">
                <a:solidFill>
                  <a:srgbClr val="F5EFEB"/>
                </a:solidFill>
                <a:latin typeface="Arial Italics"/>
                <a:ea typeface="Arial Italics"/>
                <a:cs typeface="Arial Italics"/>
                <a:sym typeface="Arial Italics"/>
              </a:rPr>
              <a:t>ound the top competing countries for our 15 target markets.</a:t>
            </a:r>
          </a:p>
          <a:p>
            <a:pPr algn="l">
              <a:lnSpc>
                <a:spcPts val="4402"/>
              </a:lnSpc>
            </a:pPr>
          </a:p>
          <a:p>
            <a:pPr algn="l" marL="678888" indent="-339444" lvl="1">
              <a:lnSpc>
                <a:spcPts val="4402"/>
              </a:lnSpc>
              <a:buFont typeface="Arial"/>
              <a:buChar char="•"/>
            </a:pPr>
            <a:r>
              <a:rPr lang="en-US" sz="3144" i="true">
                <a:solidFill>
                  <a:srgbClr val="F5EFEB"/>
                </a:solidFill>
                <a:latin typeface="Arial Italics"/>
                <a:ea typeface="Arial Italics"/>
                <a:cs typeface="Arial Italics"/>
                <a:sym typeface="Arial Italics"/>
              </a:rPr>
              <a:t>Used XLOOKUP to match and extract export prices, tariff rates, and shipping distances for Egypt vs. rivals.</a:t>
            </a:r>
          </a:p>
          <a:p>
            <a:pPr algn="l">
              <a:lnSpc>
                <a:spcPts val="4402"/>
              </a:lnSpc>
            </a:pPr>
          </a:p>
          <a:p>
            <a:pPr algn="l" marL="678888" indent="-339444" lvl="1">
              <a:lnSpc>
                <a:spcPts val="4402"/>
              </a:lnSpc>
              <a:buFont typeface="Arial"/>
              <a:buChar char="•"/>
            </a:pPr>
            <a:r>
              <a:rPr lang="en-US" sz="3144" i="true">
                <a:solidFill>
                  <a:srgbClr val="F5EFEB"/>
                </a:solidFill>
                <a:latin typeface="Arial Italics"/>
                <a:ea typeface="Arial Italics"/>
                <a:cs typeface="Arial Italics"/>
                <a:sym typeface="Arial Italics"/>
              </a:rPr>
              <a:t>The Final Output: Saved all of this clean data into a dedicated Competitive Analysis Table.</a:t>
            </a:r>
          </a:p>
          <a:p>
            <a:pPr algn="l">
              <a:lnSpc>
                <a:spcPts val="4402"/>
              </a:lnSpc>
            </a:p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08357" y="6933889"/>
            <a:ext cx="3860943" cy="3860943"/>
          </a:xfrm>
          <a:custGeom>
            <a:avLst/>
            <a:gdLst/>
            <a:ahLst/>
            <a:cxnLst/>
            <a:rect r="r" b="b" t="t" l="l"/>
            <a:pathLst>
              <a:path h="3860943" w="3860943">
                <a:moveTo>
                  <a:pt x="0" y="0"/>
                </a:moveTo>
                <a:lnTo>
                  <a:pt x="3860943" y="0"/>
                </a:lnTo>
                <a:lnTo>
                  <a:pt x="3860943" y="3860943"/>
                </a:lnTo>
                <a:lnTo>
                  <a:pt x="0" y="386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343061" y="6752914"/>
            <a:ext cx="3860943" cy="3860943"/>
          </a:xfrm>
          <a:custGeom>
            <a:avLst/>
            <a:gdLst/>
            <a:ahLst/>
            <a:cxnLst/>
            <a:rect r="r" b="b" t="t" l="l"/>
            <a:pathLst>
              <a:path h="3860943" w="3860943">
                <a:moveTo>
                  <a:pt x="0" y="0"/>
                </a:moveTo>
                <a:lnTo>
                  <a:pt x="3860943" y="0"/>
                </a:lnTo>
                <a:lnTo>
                  <a:pt x="3860943" y="3860943"/>
                </a:lnTo>
                <a:lnTo>
                  <a:pt x="0" y="386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204004" y="6571939"/>
            <a:ext cx="3860943" cy="3860943"/>
          </a:xfrm>
          <a:custGeom>
            <a:avLst/>
            <a:gdLst/>
            <a:ahLst/>
            <a:cxnLst/>
            <a:rect r="r" b="b" t="t" l="l"/>
            <a:pathLst>
              <a:path h="3860943" w="3860943">
                <a:moveTo>
                  <a:pt x="0" y="0"/>
                </a:moveTo>
                <a:lnTo>
                  <a:pt x="3860942" y="0"/>
                </a:lnTo>
                <a:lnTo>
                  <a:pt x="3860942" y="3860943"/>
                </a:lnTo>
                <a:lnTo>
                  <a:pt x="0" y="386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064946" y="7105339"/>
            <a:ext cx="3860943" cy="3860943"/>
          </a:xfrm>
          <a:custGeom>
            <a:avLst/>
            <a:gdLst/>
            <a:ahLst/>
            <a:cxnLst/>
            <a:rect r="r" b="b" t="t" l="l"/>
            <a:pathLst>
              <a:path h="3860943" w="3860943">
                <a:moveTo>
                  <a:pt x="0" y="0"/>
                </a:moveTo>
                <a:lnTo>
                  <a:pt x="3860943" y="0"/>
                </a:lnTo>
                <a:lnTo>
                  <a:pt x="3860943" y="3860943"/>
                </a:lnTo>
                <a:lnTo>
                  <a:pt x="0" y="386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925889" y="6924364"/>
            <a:ext cx="3860943" cy="3860943"/>
          </a:xfrm>
          <a:custGeom>
            <a:avLst/>
            <a:gdLst/>
            <a:ahLst/>
            <a:cxnLst/>
            <a:rect r="r" b="b" t="t" l="l"/>
            <a:pathLst>
              <a:path h="3860943" w="3860943">
                <a:moveTo>
                  <a:pt x="0" y="0"/>
                </a:moveTo>
                <a:lnTo>
                  <a:pt x="3860943" y="0"/>
                </a:lnTo>
                <a:lnTo>
                  <a:pt x="3860943" y="3860943"/>
                </a:lnTo>
                <a:lnTo>
                  <a:pt x="0" y="386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91889" y="2389413"/>
            <a:ext cx="17394339" cy="5508174"/>
          </a:xfrm>
          <a:custGeom>
            <a:avLst/>
            <a:gdLst/>
            <a:ahLst/>
            <a:cxnLst/>
            <a:rect r="r" b="b" t="t" l="l"/>
            <a:pathLst>
              <a:path h="5508174" w="17394339">
                <a:moveTo>
                  <a:pt x="0" y="0"/>
                </a:moveTo>
                <a:lnTo>
                  <a:pt x="17394338" y="0"/>
                </a:lnTo>
                <a:lnTo>
                  <a:pt x="17394338" y="5508174"/>
                </a:lnTo>
                <a:lnTo>
                  <a:pt x="0" y="55081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82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240533" y="-1482576"/>
            <a:ext cx="4047467" cy="4114800"/>
          </a:xfrm>
          <a:custGeom>
            <a:avLst/>
            <a:gdLst/>
            <a:ahLst/>
            <a:cxnLst/>
            <a:rect r="r" b="b" t="t" l="l"/>
            <a:pathLst>
              <a:path h="4114800" w="4047467">
                <a:moveTo>
                  <a:pt x="0" y="0"/>
                </a:moveTo>
                <a:lnTo>
                  <a:pt x="4047467" y="0"/>
                </a:lnTo>
                <a:lnTo>
                  <a:pt x="404746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08357" y="6933889"/>
            <a:ext cx="3860943" cy="3860943"/>
          </a:xfrm>
          <a:custGeom>
            <a:avLst/>
            <a:gdLst/>
            <a:ahLst/>
            <a:cxnLst/>
            <a:rect r="r" b="b" t="t" l="l"/>
            <a:pathLst>
              <a:path h="3860943" w="3860943">
                <a:moveTo>
                  <a:pt x="0" y="0"/>
                </a:moveTo>
                <a:lnTo>
                  <a:pt x="3860943" y="0"/>
                </a:lnTo>
                <a:lnTo>
                  <a:pt x="3860943" y="3860943"/>
                </a:lnTo>
                <a:lnTo>
                  <a:pt x="0" y="386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343061" y="6752914"/>
            <a:ext cx="3860943" cy="3860943"/>
          </a:xfrm>
          <a:custGeom>
            <a:avLst/>
            <a:gdLst/>
            <a:ahLst/>
            <a:cxnLst/>
            <a:rect r="r" b="b" t="t" l="l"/>
            <a:pathLst>
              <a:path h="3860943" w="3860943">
                <a:moveTo>
                  <a:pt x="0" y="0"/>
                </a:moveTo>
                <a:lnTo>
                  <a:pt x="3860943" y="0"/>
                </a:lnTo>
                <a:lnTo>
                  <a:pt x="3860943" y="3860943"/>
                </a:lnTo>
                <a:lnTo>
                  <a:pt x="0" y="386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204004" y="6571939"/>
            <a:ext cx="3860943" cy="3860943"/>
          </a:xfrm>
          <a:custGeom>
            <a:avLst/>
            <a:gdLst/>
            <a:ahLst/>
            <a:cxnLst/>
            <a:rect r="r" b="b" t="t" l="l"/>
            <a:pathLst>
              <a:path h="3860943" w="3860943">
                <a:moveTo>
                  <a:pt x="0" y="0"/>
                </a:moveTo>
                <a:lnTo>
                  <a:pt x="3860942" y="0"/>
                </a:lnTo>
                <a:lnTo>
                  <a:pt x="3860942" y="3860943"/>
                </a:lnTo>
                <a:lnTo>
                  <a:pt x="0" y="386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064946" y="7105339"/>
            <a:ext cx="3860943" cy="3860943"/>
          </a:xfrm>
          <a:custGeom>
            <a:avLst/>
            <a:gdLst/>
            <a:ahLst/>
            <a:cxnLst/>
            <a:rect r="r" b="b" t="t" l="l"/>
            <a:pathLst>
              <a:path h="3860943" w="3860943">
                <a:moveTo>
                  <a:pt x="0" y="0"/>
                </a:moveTo>
                <a:lnTo>
                  <a:pt x="3860943" y="0"/>
                </a:lnTo>
                <a:lnTo>
                  <a:pt x="3860943" y="3860943"/>
                </a:lnTo>
                <a:lnTo>
                  <a:pt x="0" y="386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925889" y="6924364"/>
            <a:ext cx="3860943" cy="3860943"/>
          </a:xfrm>
          <a:custGeom>
            <a:avLst/>
            <a:gdLst/>
            <a:ahLst/>
            <a:cxnLst/>
            <a:rect r="r" b="b" t="t" l="l"/>
            <a:pathLst>
              <a:path h="3860943" w="3860943">
                <a:moveTo>
                  <a:pt x="0" y="0"/>
                </a:moveTo>
                <a:lnTo>
                  <a:pt x="3860943" y="0"/>
                </a:lnTo>
                <a:lnTo>
                  <a:pt x="3860943" y="3860943"/>
                </a:lnTo>
                <a:lnTo>
                  <a:pt x="0" y="386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457052" y="1252186"/>
            <a:ext cx="4047467" cy="4114800"/>
          </a:xfrm>
          <a:custGeom>
            <a:avLst/>
            <a:gdLst/>
            <a:ahLst/>
            <a:cxnLst/>
            <a:rect r="r" b="b" t="t" l="l"/>
            <a:pathLst>
              <a:path h="4114800" w="4047467">
                <a:moveTo>
                  <a:pt x="0" y="0"/>
                </a:moveTo>
                <a:lnTo>
                  <a:pt x="4047467" y="0"/>
                </a:lnTo>
                <a:lnTo>
                  <a:pt x="404746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69286" y="2255649"/>
            <a:ext cx="7307388" cy="7307388"/>
          </a:xfrm>
          <a:custGeom>
            <a:avLst/>
            <a:gdLst/>
            <a:ahLst/>
            <a:cxnLst/>
            <a:rect r="r" b="b" t="t" l="l"/>
            <a:pathLst>
              <a:path h="7307388" w="7307388">
                <a:moveTo>
                  <a:pt x="0" y="0"/>
                </a:moveTo>
                <a:lnTo>
                  <a:pt x="7307389" y="0"/>
                </a:lnTo>
                <a:lnTo>
                  <a:pt x="7307389" y="7307388"/>
                </a:lnTo>
                <a:lnTo>
                  <a:pt x="0" y="73073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-12814" y="2408018"/>
            <a:ext cx="18379985" cy="7002651"/>
            <a:chOff x="0" y="0"/>
            <a:chExt cx="2190270" cy="83447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0270" cy="834478"/>
            </a:xfrm>
            <a:custGeom>
              <a:avLst/>
              <a:gdLst/>
              <a:ahLst/>
              <a:cxnLst/>
              <a:rect r="r" b="b" t="t" l="l"/>
              <a:pathLst>
                <a:path h="834478" w="2190270">
                  <a:moveTo>
                    <a:pt x="0" y="0"/>
                  </a:moveTo>
                  <a:lnTo>
                    <a:pt x="2190270" y="0"/>
                  </a:lnTo>
                  <a:lnTo>
                    <a:pt x="2190270" y="834478"/>
                  </a:lnTo>
                  <a:lnTo>
                    <a:pt x="0" y="834478"/>
                  </a:lnTo>
                  <a:close/>
                </a:path>
              </a:pathLst>
            </a:custGeom>
            <a:solidFill>
              <a:srgbClr val="2F415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0"/>
              <a:ext cx="2190270" cy="9297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5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3793802" y="-1859151"/>
            <a:ext cx="4047467" cy="4114800"/>
          </a:xfrm>
          <a:custGeom>
            <a:avLst/>
            <a:gdLst/>
            <a:ahLst/>
            <a:cxnLst/>
            <a:rect r="r" b="b" t="t" l="l"/>
            <a:pathLst>
              <a:path h="4114800" w="4047467">
                <a:moveTo>
                  <a:pt x="0" y="0"/>
                </a:moveTo>
                <a:lnTo>
                  <a:pt x="4047467" y="0"/>
                </a:lnTo>
                <a:lnTo>
                  <a:pt x="404746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922980" y="596920"/>
            <a:ext cx="8508397" cy="1658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4500" b="true">
                <a:solidFill>
                  <a:srgbClr val="2F4156"/>
                </a:solidFill>
                <a:latin typeface="Clarendon Narrow Bold"/>
                <a:ea typeface="Clarendon Narrow Bold"/>
                <a:cs typeface="Clarendon Narrow Bold"/>
                <a:sym typeface="Clarendon Narrow Bold"/>
              </a:rPr>
              <a:t>Data Transformation &amp; Feature Engineering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09563" y="2812433"/>
            <a:ext cx="17849824" cy="5967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5831" indent="-332916" lvl="1">
              <a:lnSpc>
                <a:spcPts val="4317"/>
              </a:lnSpc>
              <a:buFont typeface="Arial"/>
              <a:buChar char="•"/>
            </a:pPr>
            <a:r>
              <a:rPr lang="en-US" sz="3083" i="true">
                <a:solidFill>
                  <a:srgbClr val="F5EFEB"/>
                </a:solidFill>
                <a:latin typeface="Arial Italics"/>
                <a:ea typeface="Arial Italics"/>
                <a:cs typeface="Arial Italics"/>
                <a:sym typeface="Arial Italics"/>
              </a:rPr>
              <a:t>Phase 5:  The Weighted Scoring &amp; Final Ranking Model</a:t>
            </a:r>
          </a:p>
          <a:p>
            <a:pPr algn="l">
              <a:lnSpc>
                <a:spcPts val="4317"/>
              </a:lnSpc>
            </a:pPr>
          </a:p>
          <a:p>
            <a:pPr algn="l" marL="665831" indent="-332916" lvl="1">
              <a:lnSpc>
                <a:spcPts val="4317"/>
              </a:lnSpc>
              <a:buFont typeface="Arial"/>
              <a:buChar char="•"/>
            </a:pPr>
            <a:r>
              <a:rPr lang="en-US" sz="3083" i="true">
                <a:solidFill>
                  <a:srgbClr val="F5EFEB"/>
                </a:solidFill>
                <a:latin typeface="Arial Italics"/>
                <a:ea typeface="Arial Italics"/>
                <a:cs typeface="Arial Italics"/>
                <a:sym typeface="Arial Italics"/>
              </a:rPr>
              <a:t>Central Decision Table: Gathered shipping distances, tariff rates, market sizes, and 5-year growth rates into one final table.</a:t>
            </a:r>
          </a:p>
          <a:p>
            <a:pPr algn="l">
              <a:lnSpc>
                <a:spcPts val="4317"/>
              </a:lnSpc>
            </a:pPr>
          </a:p>
          <a:p>
            <a:pPr algn="l" marL="665831" indent="-332916" lvl="1">
              <a:lnSpc>
                <a:spcPts val="4317"/>
              </a:lnSpc>
              <a:buFont typeface="Arial"/>
              <a:buChar char="•"/>
            </a:pPr>
            <a:r>
              <a:rPr lang="en-US" sz="3083" i="true">
                <a:solidFill>
                  <a:srgbClr val="F5EFEB"/>
                </a:solidFill>
                <a:latin typeface="Arial Italics"/>
                <a:ea typeface="Arial Italics"/>
                <a:cs typeface="Arial Italics"/>
                <a:sym typeface="Arial Italics"/>
              </a:rPr>
              <a:t>Weighted Scoring Model: Built an Excel model to score each metric based on its business importance.</a:t>
            </a:r>
          </a:p>
          <a:p>
            <a:pPr algn="l">
              <a:lnSpc>
                <a:spcPts val="4317"/>
              </a:lnSpc>
            </a:pPr>
          </a:p>
          <a:p>
            <a:pPr algn="l" marL="665831" indent="-332916" lvl="1">
              <a:lnSpc>
                <a:spcPts val="4317"/>
              </a:lnSpc>
              <a:buFont typeface="Arial"/>
              <a:buChar char="•"/>
            </a:pPr>
            <a:r>
              <a:rPr lang="en-US" sz="3083" i="true">
                <a:solidFill>
                  <a:srgbClr val="F5EFEB"/>
                </a:solidFill>
                <a:latin typeface="Arial Italics"/>
                <a:ea typeface="Arial Italics"/>
                <a:cs typeface="Arial Italics"/>
                <a:sym typeface="Arial Italics"/>
              </a:rPr>
              <a:t>Final Ranking Tiers: Automatically sorted the 15 countries into three clear groups: Priority, Long-Term, and Low-Interest opportunities.</a:t>
            </a:r>
          </a:p>
          <a:p>
            <a:pPr algn="l">
              <a:lnSpc>
                <a:spcPts val="4317"/>
              </a:lnSpc>
            </a:p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08357" y="6933889"/>
            <a:ext cx="3860943" cy="3860943"/>
          </a:xfrm>
          <a:custGeom>
            <a:avLst/>
            <a:gdLst/>
            <a:ahLst/>
            <a:cxnLst/>
            <a:rect r="r" b="b" t="t" l="l"/>
            <a:pathLst>
              <a:path h="3860943" w="3860943">
                <a:moveTo>
                  <a:pt x="0" y="0"/>
                </a:moveTo>
                <a:lnTo>
                  <a:pt x="3860943" y="0"/>
                </a:lnTo>
                <a:lnTo>
                  <a:pt x="3860943" y="3860943"/>
                </a:lnTo>
                <a:lnTo>
                  <a:pt x="0" y="386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343061" y="6752914"/>
            <a:ext cx="3860943" cy="3860943"/>
          </a:xfrm>
          <a:custGeom>
            <a:avLst/>
            <a:gdLst/>
            <a:ahLst/>
            <a:cxnLst/>
            <a:rect r="r" b="b" t="t" l="l"/>
            <a:pathLst>
              <a:path h="3860943" w="3860943">
                <a:moveTo>
                  <a:pt x="0" y="0"/>
                </a:moveTo>
                <a:lnTo>
                  <a:pt x="3860943" y="0"/>
                </a:lnTo>
                <a:lnTo>
                  <a:pt x="3860943" y="3860943"/>
                </a:lnTo>
                <a:lnTo>
                  <a:pt x="0" y="386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204004" y="6571939"/>
            <a:ext cx="3860943" cy="3860943"/>
          </a:xfrm>
          <a:custGeom>
            <a:avLst/>
            <a:gdLst/>
            <a:ahLst/>
            <a:cxnLst/>
            <a:rect r="r" b="b" t="t" l="l"/>
            <a:pathLst>
              <a:path h="3860943" w="3860943">
                <a:moveTo>
                  <a:pt x="0" y="0"/>
                </a:moveTo>
                <a:lnTo>
                  <a:pt x="3860942" y="0"/>
                </a:lnTo>
                <a:lnTo>
                  <a:pt x="3860942" y="3860943"/>
                </a:lnTo>
                <a:lnTo>
                  <a:pt x="0" y="386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064946" y="7105339"/>
            <a:ext cx="3860943" cy="3860943"/>
          </a:xfrm>
          <a:custGeom>
            <a:avLst/>
            <a:gdLst/>
            <a:ahLst/>
            <a:cxnLst/>
            <a:rect r="r" b="b" t="t" l="l"/>
            <a:pathLst>
              <a:path h="3860943" w="3860943">
                <a:moveTo>
                  <a:pt x="0" y="0"/>
                </a:moveTo>
                <a:lnTo>
                  <a:pt x="3860943" y="0"/>
                </a:lnTo>
                <a:lnTo>
                  <a:pt x="3860943" y="3860943"/>
                </a:lnTo>
                <a:lnTo>
                  <a:pt x="0" y="386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925889" y="6924364"/>
            <a:ext cx="3860943" cy="3860943"/>
          </a:xfrm>
          <a:custGeom>
            <a:avLst/>
            <a:gdLst/>
            <a:ahLst/>
            <a:cxnLst/>
            <a:rect r="r" b="b" t="t" l="l"/>
            <a:pathLst>
              <a:path h="3860943" w="3860943">
                <a:moveTo>
                  <a:pt x="0" y="0"/>
                </a:moveTo>
                <a:lnTo>
                  <a:pt x="3860943" y="0"/>
                </a:lnTo>
                <a:lnTo>
                  <a:pt x="3860943" y="3860943"/>
                </a:lnTo>
                <a:lnTo>
                  <a:pt x="0" y="386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0" y="3510154"/>
            <a:ext cx="18288000" cy="4646806"/>
          </a:xfrm>
          <a:custGeom>
            <a:avLst/>
            <a:gdLst/>
            <a:ahLst/>
            <a:cxnLst/>
            <a:rect r="r" b="b" t="t" l="l"/>
            <a:pathLst>
              <a:path h="4646806" w="18288000">
                <a:moveTo>
                  <a:pt x="0" y="0"/>
                </a:moveTo>
                <a:lnTo>
                  <a:pt x="18288000" y="0"/>
                </a:lnTo>
                <a:lnTo>
                  <a:pt x="18288000" y="4646806"/>
                </a:lnTo>
                <a:lnTo>
                  <a:pt x="0" y="46468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67" r="-586" b="-709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67431" y="-455196"/>
            <a:ext cx="3423957" cy="3246855"/>
          </a:xfrm>
          <a:custGeom>
            <a:avLst/>
            <a:gdLst/>
            <a:ahLst/>
            <a:cxnLst/>
            <a:rect r="r" b="b" t="t" l="l"/>
            <a:pathLst>
              <a:path h="3246855" w="3423957">
                <a:moveTo>
                  <a:pt x="0" y="0"/>
                </a:moveTo>
                <a:lnTo>
                  <a:pt x="3423957" y="0"/>
                </a:lnTo>
                <a:lnTo>
                  <a:pt x="3423957" y="3246855"/>
                </a:lnTo>
                <a:lnTo>
                  <a:pt x="0" y="324685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700000">
            <a:off x="15474568" y="-425855"/>
            <a:ext cx="6146269" cy="6146269"/>
          </a:xfrm>
          <a:custGeom>
            <a:avLst/>
            <a:gdLst/>
            <a:ahLst/>
            <a:cxnLst/>
            <a:rect r="r" b="b" t="t" l="l"/>
            <a:pathLst>
              <a:path h="6146269" w="6146269">
                <a:moveTo>
                  <a:pt x="0" y="0"/>
                </a:moveTo>
                <a:lnTo>
                  <a:pt x="6146269" y="0"/>
                </a:lnTo>
                <a:lnTo>
                  <a:pt x="6146269" y="6146270"/>
                </a:lnTo>
                <a:lnTo>
                  <a:pt x="0" y="61462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700000">
            <a:off x="-3372430" y="4500179"/>
            <a:ext cx="6021660" cy="6021660"/>
          </a:xfrm>
          <a:custGeom>
            <a:avLst/>
            <a:gdLst/>
            <a:ahLst/>
            <a:cxnLst/>
            <a:rect r="r" b="b" t="t" l="l"/>
            <a:pathLst>
              <a:path h="6021660" w="6021660">
                <a:moveTo>
                  <a:pt x="0" y="0"/>
                </a:moveTo>
                <a:lnTo>
                  <a:pt x="6021660" y="0"/>
                </a:lnTo>
                <a:lnTo>
                  <a:pt x="6021660" y="6021660"/>
                </a:lnTo>
                <a:lnTo>
                  <a:pt x="0" y="60216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3908252" y="3602757"/>
            <a:ext cx="6496363" cy="7816504"/>
            <a:chOff x="0" y="0"/>
            <a:chExt cx="675525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75525" cy="812800"/>
            </a:xfrm>
            <a:custGeom>
              <a:avLst/>
              <a:gdLst/>
              <a:ahLst/>
              <a:cxnLst/>
              <a:rect r="r" b="b" t="t" l="l"/>
              <a:pathLst>
                <a:path h="812800" w="675525">
                  <a:moveTo>
                    <a:pt x="337762" y="0"/>
                  </a:moveTo>
                  <a:lnTo>
                    <a:pt x="675525" y="406400"/>
                  </a:lnTo>
                  <a:lnTo>
                    <a:pt x="337762" y="812800"/>
                  </a:lnTo>
                  <a:lnTo>
                    <a:pt x="0" y="406400"/>
                  </a:lnTo>
                  <a:lnTo>
                    <a:pt x="337762" y="0"/>
                  </a:lnTo>
                  <a:close/>
                </a:path>
              </a:pathLst>
            </a:custGeom>
            <a:solidFill>
              <a:srgbClr val="2F415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116106" y="44450"/>
              <a:ext cx="443313" cy="628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5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677745" y="-1260972"/>
            <a:ext cx="7816504" cy="781650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F4156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39700" y="44450"/>
              <a:ext cx="533400" cy="628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5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3690799" y="6743699"/>
            <a:ext cx="4339244" cy="4114800"/>
          </a:xfrm>
          <a:custGeom>
            <a:avLst/>
            <a:gdLst/>
            <a:ahLst/>
            <a:cxnLst/>
            <a:rect r="r" b="b" t="t" l="l"/>
            <a:pathLst>
              <a:path h="4114800" w="4339244">
                <a:moveTo>
                  <a:pt x="0" y="0"/>
                </a:moveTo>
                <a:lnTo>
                  <a:pt x="4339243" y="0"/>
                </a:lnTo>
                <a:lnTo>
                  <a:pt x="433924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244173" y="-512043"/>
            <a:ext cx="4339244" cy="4114800"/>
          </a:xfrm>
          <a:custGeom>
            <a:avLst/>
            <a:gdLst/>
            <a:ahLst/>
            <a:cxnLst/>
            <a:rect r="r" b="b" t="t" l="l"/>
            <a:pathLst>
              <a:path h="4114800" w="4339244">
                <a:moveTo>
                  <a:pt x="4339243" y="0"/>
                </a:moveTo>
                <a:lnTo>
                  <a:pt x="0" y="0"/>
                </a:lnTo>
                <a:lnTo>
                  <a:pt x="0" y="4114800"/>
                </a:lnTo>
                <a:lnTo>
                  <a:pt x="4339243" y="4114800"/>
                </a:lnTo>
                <a:lnTo>
                  <a:pt x="433924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413794" y="9258300"/>
            <a:ext cx="4387287" cy="1881049"/>
          </a:xfrm>
          <a:custGeom>
            <a:avLst/>
            <a:gdLst/>
            <a:ahLst/>
            <a:cxnLst/>
            <a:rect r="r" b="b" t="t" l="l"/>
            <a:pathLst>
              <a:path h="1881049" w="4387287">
                <a:moveTo>
                  <a:pt x="0" y="0"/>
                </a:moveTo>
                <a:lnTo>
                  <a:pt x="4387287" y="0"/>
                </a:lnTo>
                <a:lnTo>
                  <a:pt x="4387287" y="1881049"/>
                </a:lnTo>
                <a:lnTo>
                  <a:pt x="0" y="188104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972670" y="-852349"/>
            <a:ext cx="4387287" cy="1881049"/>
          </a:xfrm>
          <a:custGeom>
            <a:avLst/>
            <a:gdLst/>
            <a:ahLst/>
            <a:cxnLst/>
            <a:rect r="r" b="b" t="t" l="l"/>
            <a:pathLst>
              <a:path h="1881049" w="4387287">
                <a:moveTo>
                  <a:pt x="0" y="0"/>
                </a:moveTo>
                <a:lnTo>
                  <a:pt x="4387287" y="0"/>
                </a:lnTo>
                <a:lnTo>
                  <a:pt x="4387287" y="1881049"/>
                </a:lnTo>
                <a:lnTo>
                  <a:pt x="0" y="188104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4314624" y="848347"/>
            <a:ext cx="8995165" cy="1743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19"/>
              </a:lnSpc>
            </a:pPr>
            <a:r>
              <a:rPr lang="en-US" sz="4728" b="true">
                <a:solidFill>
                  <a:srgbClr val="2F4156"/>
                </a:solidFill>
                <a:latin typeface="Clarendon Narrow Bold"/>
                <a:ea typeface="Clarendon Narrow Bold"/>
                <a:cs typeface="Clarendon Narrow Bold"/>
                <a:sym typeface="Clarendon Narrow Bold"/>
              </a:rPr>
              <a:t>Data Modeling &amp; Database Schema Design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526964" y="3850731"/>
            <a:ext cx="12613869" cy="3993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62"/>
              </a:lnSpc>
            </a:pPr>
            <a:r>
              <a:rPr lang="en-US" b="true" sz="2830" i="true">
                <a:solidFill>
                  <a:srgbClr val="2F4156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This stage transitioned the project from isolated spreadsheets into an optimized data modeling</a:t>
            </a:r>
          </a:p>
          <a:p>
            <a:pPr algn="just">
              <a:lnSpc>
                <a:spcPts val="3962"/>
              </a:lnSpc>
            </a:pPr>
          </a:p>
          <a:p>
            <a:pPr algn="just">
              <a:lnSpc>
                <a:spcPts val="3962"/>
              </a:lnSpc>
            </a:pPr>
            <a:r>
              <a:rPr lang="en-US" b="true" sz="2830" i="true">
                <a:solidFill>
                  <a:srgbClr val="2F4156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 Key Assignment &amp; Relational Mapping</a:t>
            </a:r>
          </a:p>
          <a:p>
            <a:pPr algn="just">
              <a:lnSpc>
                <a:spcPts val="3962"/>
              </a:lnSpc>
            </a:pPr>
            <a:r>
              <a:rPr lang="en-US" b="true" sz="2830" i="true">
                <a:solidFill>
                  <a:srgbClr val="2F4156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To establish data integrity and link the tables logically, structural keys were </a:t>
            </a:r>
          </a:p>
          <a:p>
            <a:pPr algn="just">
              <a:lnSpc>
                <a:spcPts val="3962"/>
              </a:lnSpc>
            </a:pPr>
          </a:p>
          <a:p>
            <a:pPr algn="just">
              <a:lnSpc>
                <a:spcPts val="3962"/>
              </a:lnSpc>
            </a:pP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700000">
            <a:off x="15850611" y="-270092"/>
            <a:ext cx="5834745" cy="5834745"/>
          </a:xfrm>
          <a:custGeom>
            <a:avLst/>
            <a:gdLst/>
            <a:ahLst/>
            <a:cxnLst/>
            <a:rect r="r" b="b" t="t" l="l"/>
            <a:pathLst>
              <a:path h="5834745" w="5834745">
                <a:moveTo>
                  <a:pt x="0" y="0"/>
                </a:moveTo>
                <a:lnTo>
                  <a:pt x="5834745" y="0"/>
                </a:lnTo>
                <a:lnTo>
                  <a:pt x="5834745" y="5834744"/>
                </a:lnTo>
                <a:lnTo>
                  <a:pt x="0" y="58347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700000">
            <a:off x="-3427271" y="4632577"/>
            <a:ext cx="5756864" cy="5756864"/>
          </a:xfrm>
          <a:custGeom>
            <a:avLst/>
            <a:gdLst/>
            <a:ahLst/>
            <a:cxnLst/>
            <a:rect r="r" b="b" t="t" l="l"/>
            <a:pathLst>
              <a:path h="5756864" w="5756864">
                <a:moveTo>
                  <a:pt x="0" y="0"/>
                </a:moveTo>
                <a:lnTo>
                  <a:pt x="5756864" y="0"/>
                </a:lnTo>
                <a:lnTo>
                  <a:pt x="5756864" y="5756864"/>
                </a:lnTo>
                <a:lnTo>
                  <a:pt x="0" y="57568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3908252" y="3602757"/>
            <a:ext cx="6165941" cy="7816504"/>
            <a:chOff x="0" y="0"/>
            <a:chExt cx="641166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41166" cy="812800"/>
            </a:xfrm>
            <a:custGeom>
              <a:avLst/>
              <a:gdLst/>
              <a:ahLst/>
              <a:cxnLst/>
              <a:rect r="r" b="b" t="t" l="l"/>
              <a:pathLst>
                <a:path h="812800" w="641166">
                  <a:moveTo>
                    <a:pt x="320583" y="0"/>
                  </a:moveTo>
                  <a:lnTo>
                    <a:pt x="641166" y="406400"/>
                  </a:lnTo>
                  <a:lnTo>
                    <a:pt x="320583" y="812800"/>
                  </a:lnTo>
                  <a:lnTo>
                    <a:pt x="0" y="406400"/>
                  </a:lnTo>
                  <a:lnTo>
                    <a:pt x="320583" y="0"/>
                  </a:lnTo>
                  <a:close/>
                </a:path>
              </a:pathLst>
            </a:custGeom>
            <a:solidFill>
              <a:srgbClr val="2F415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110200" y="44450"/>
              <a:ext cx="420765" cy="628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5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677745" y="-1260972"/>
            <a:ext cx="7816504" cy="781650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F4156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39700" y="44450"/>
              <a:ext cx="533400" cy="628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5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false" rot="0">
            <a:off x="244173" y="-512043"/>
            <a:ext cx="4339244" cy="4114800"/>
          </a:xfrm>
          <a:custGeom>
            <a:avLst/>
            <a:gdLst/>
            <a:ahLst/>
            <a:cxnLst/>
            <a:rect r="r" b="b" t="t" l="l"/>
            <a:pathLst>
              <a:path h="4114800" w="4339244">
                <a:moveTo>
                  <a:pt x="4339243" y="0"/>
                </a:moveTo>
                <a:lnTo>
                  <a:pt x="0" y="0"/>
                </a:lnTo>
                <a:lnTo>
                  <a:pt x="0" y="4114800"/>
                </a:lnTo>
                <a:lnTo>
                  <a:pt x="4339243" y="4114800"/>
                </a:lnTo>
                <a:lnTo>
                  <a:pt x="433924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413794" y="9258300"/>
            <a:ext cx="4387287" cy="1881049"/>
          </a:xfrm>
          <a:custGeom>
            <a:avLst/>
            <a:gdLst/>
            <a:ahLst/>
            <a:cxnLst/>
            <a:rect r="r" b="b" t="t" l="l"/>
            <a:pathLst>
              <a:path h="1881049" w="4387287">
                <a:moveTo>
                  <a:pt x="0" y="0"/>
                </a:moveTo>
                <a:lnTo>
                  <a:pt x="4387287" y="0"/>
                </a:lnTo>
                <a:lnTo>
                  <a:pt x="4387287" y="1881049"/>
                </a:lnTo>
                <a:lnTo>
                  <a:pt x="0" y="188104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972670" y="-852349"/>
            <a:ext cx="4387287" cy="1881049"/>
          </a:xfrm>
          <a:custGeom>
            <a:avLst/>
            <a:gdLst/>
            <a:ahLst/>
            <a:cxnLst/>
            <a:rect r="r" b="b" t="t" l="l"/>
            <a:pathLst>
              <a:path h="1881049" w="4387287">
                <a:moveTo>
                  <a:pt x="0" y="0"/>
                </a:moveTo>
                <a:lnTo>
                  <a:pt x="4387287" y="0"/>
                </a:lnTo>
                <a:lnTo>
                  <a:pt x="4387287" y="1881049"/>
                </a:lnTo>
                <a:lnTo>
                  <a:pt x="0" y="188104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389348" y="424905"/>
            <a:ext cx="8995165" cy="1743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19"/>
              </a:lnSpc>
            </a:pPr>
            <a:r>
              <a:rPr lang="en-US" sz="4728" b="true">
                <a:solidFill>
                  <a:srgbClr val="2F4156"/>
                </a:solidFill>
                <a:latin typeface="Clarendon Narrow Bold"/>
                <a:ea typeface="Clarendon Narrow Bold"/>
                <a:cs typeface="Clarendon Narrow Bold"/>
                <a:sym typeface="Clarendon Narrow Bold"/>
              </a:rPr>
              <a:t>Data Modeling &amp; Database Schema Design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277578" y="3536082"/>
            <a:ext cx="12582842" cy="4610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31109" indent="-315555" lvl="1">
              <a:lnSpc>
                <a:spcPts val="4092"/>
              </a:lnSpc>
              <a:buFont typeface="Arial"/>
              <a:buChar char="•"/>
            </a:pPr>
            <a:r>
              <a:rPr lang="en-US" b="true" sz="2923" i="true">
                <a:solidFill>
                  <a:srgbClr val="2F4156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Primary Keys (PK): Added unique IDs to every table (like ImporterID and TID) to keep rows clean and organized.</a:t>
            </a:r>
          </a:p>
          <a:p>
            <a:pPr algn="just">
              <a:lnSpc>
                <a:spcPts val="4092"/>
              </a:lnSpc>
            </a:pPr>
          </a:p>
          <a:p>
            <a:pPr algn="just" marL="631109" indent="-315555" lvl="1">
              <a:lnSpc>
                <a:spcPts val="4092"/>
              </a:lnSpc>
              <a:buFont typeface="Arial"/>
              <a:buChar char="•"/>
            </a:pPr>
            <a:r>
              <a:rPr lang="en-US" b="true" sz="2923" i="true">
                <a:solidFill>
                  <a:srgbClr val="2F4156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Foreign Keys (FK): Connected tables together so data could talk across different datasets.</a:t>
            </a:r>
          </a:p>
          <a:p>
            <a:pPr algn="just">
              <a:lnSpc>
                <a:spcPts val="4092"/>
              </a:lnSpc>
            </a:pPr>
          </a:p>
          <a:p>
            <a:pPr algn="just" marL="631109" indent="-315555" lvl="1">
              <a:lnSpc>
                <a:spcPts val="4092"/>
              </a:lnSpc>
              <a:buFont typeface="Arial"/>
              <a:buChar char="•"/>
            </a:pPr>
            <a:r>
              <a:rPr lang="en-US" b="true" sz="2923" i="true">
                <a:solidFill>
                  <a:srgbClr val="2F4156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XLOOKUP Mapping: Used Excel XLOOKUP to match up data fields and easily link main buyers to their target markets and competitors.</a:t>
            </a:r>
          </a:p>
          <a:p>
            <a:pPr algn="just">
              <a:lnSpc>
                <a:spcPts val="4092"/>
              </a:lnSpc>
            </a:pP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700000">
            <a:off x="14590867" y="-791896"/>
            <a:ext cx="6878351" cy="6878351"/>
          </a:xfrm>
          <a:custGeom>
            <a:avLst/>
            <a:gdLst/>
            <a:ahLst/>
            <a:cxnLst/>
            <a:rect r="r" b="b" t="t" l="l"/>
            <a:pathLst>
              <a:path h="6878351" w="6878351">
                <a:moveTo>
                  <a:pt x="0" y="0"/>
                </a:moveTo>
                <a:lnTo>
                  <a:pt x="6878351" y="0"/>
                </a:lnTo>
                <a:lnTo>
                  <a:pt x="6878351" y="6878352"/>
                </a:lnTo>
                <a:lnTo>
                  <a:pt x="0" y="68783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700000">
            <a:off x="-3195003" y="4071833"/>
            <a:ext cx="6878351" cy="6878351"/>
          </a:xfrm>
          <a:custGeom>
            <a:avLst/>
            <a:gdLst/>
            <a:ahLst/>
            <a:cxnLst/>
            <a:rect r="r" b="b" t="t" l="l"/>
            <a:pathLst>
              <a:path h="6878351" w="6878351">
                <a:moveTo>
                  <a:pt x="0" y="0"/>
                </a:moveTo>
                <a:lnTo>
                  <a:pt x="6878351" y="0"/>
                </a:lnTo>
                <a:lnTo>
                  <a:pt x="6878351" y="6878352"/>
                </a:lnTo>
                <a:lnTo>
                  <a:pt x="0" y="68783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3908252" y="3602757"/>
            <a:ext cx="6496363" cy="7816504"/>
            <a:chOff x="0" y="0"/>
            <a:chExt cx="675525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75525" cy="812800"/>
            </a:xfrm>
            <a:custGeom>
              <a:avLst/>
              <a:gdLst/>
              <a:ahLst/>
              <a:cxnLst/>
              <a:rect r="r" b="b" t="t" l="l"/>
              <a:pathLst>
                <a:path h="812800" w="675525">
                  <a:moveTo>
                    <a:pt x="337762" y="0"/>
                  </a:moveTo>
                  <a:lnTo>
                    <a:pt x="675525" y="406400"/>
                  </a:lnTo>
                  <a:lnTo>
                    <a:pt x="337762" y="812800"/>
                  </a:lnTo>
                  <a:lnTo>
                    <a:pt x="0" y="406400"/>
                  </a:lnTo>
                  <a:lnTo>
                    <a:pt x="337762" y="0"/>
                  </a:lnTo>
                  <a:close/>
                </a:path>
              </a:pathLst>
            </a:custGeom>
            <a:solidFill>
              <a:srgbClr val="2F415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116106" y="44450"/>
              <a:ext cx="443313" cy="628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5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677745" y="-1260972"/>
            <a:ext cx="7816504" cy="781650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F4156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39700" y="44450"/>
              <a:ext cx="533400" cy="628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5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3690799" y="6743699"/>
            <a:ext cx="4339244" cy="4114800"/>
          </a:xfrm>
          <a:custGeom>
            <a:avLst/>
            <a:gdLst/>
            <a:ahLst/>
            <a:cxnLst/>
            <a:rect r="r" b="b" t="t" l="l"/>
            <a:pathLst>
              <a:path h="4114800" w="4339244">
                <a:moveTo>
                  <a:pt x="0" y="0"/>
                </a:moveTo>
                <a:lnTo>
                  <a:pt x="4339243" y="0"/>
                </a:lnTo>
                <a:lnTo>
                  <a:pt x="433924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244173" y="-512043"/>
            <a:ext cx="4339244" cy="4114800"/>
          </a:xfrm>
          <a:custGeom>
            <a:avLst/>
            <a:gdLst/>
            <a:ahLst/>
            <a:cxnLst/>
            <a:rect r="r" b="b" t="t" l="l"/>
            <a:pathLst>
              <a:path h="4114800" w="4339244">
                <a:moveTo>
                  <a:pt x="4339243" y="0"/>
                </a:moveTo>
                <a:lnTo>
                  <a:pt x="0" y="0"/>
                </a:lnTo>
                <a:lnTo>
                  <a:pt x="0" y="4114800"/>
                </a:lnTo>
                <a:lnTo>
                  <a:pt x="4339243" y="4114800"/>
                </a:lnTo>
                <a:lnTo>
                  <a:pt x="433924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413794" y="9258300"/>
            <a:ext cx="4387287" cy="1881049"/>
          </a:xfrm>
          <a:custGeom>
            <a:avLst/>
            <a:gdLst/>
            <a:ahLst/>
            <a:cxnLst/>
            <a:rect r="r" b="b" t="t" l="l"/>
            <a:pathLst>
              <a:path h="1881049" w="4387287">
                <a:moveTo>
                  <a:pt x="0" y="0"/>
                </a:moveTo>
                <a:lnTo>
                  <a:pt x="4387287" y="0"/>
                </a:lnTo>
                <a:lnTo>
                  <a:pt x="4387287" y="1881049"/>
                </a:lnTo>
                <a:lnTo>
                  <a:pt x="0" y="188104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972670" y="-852349"/>
            <a:ext cx="4387287" cy="1881049"/>
          </a:xfrm>
          <a:custGeom>
            <a:avLst/>
            <a:gdLst/>
            <a:ahLst/>
            <a:cxnLst/>
            <a:rect r="r" b="b" t="t" l="l"/>
            <a:pathLst>
              <a:path h="1881049" w="4387287">
                <a:moveTo>
                  <a:pt x="0" y="0"/>
                </a:moveTo>
                <a:lnTo>
                  <a:pt x="4387287" y="0"/>
                </a:lnTo>
                <a:lnTo>
                  <a:pt x="4387287" y="1881049"/>
                </a:lnTo>
                <a:lnTo>
                  <a:pt x="0" y="188104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2389050" y="1545357"/>
            <a:ext cx="13509900" cy="7408047"/>
          </a:xfrm>
          <a:custGeom>
            <a:avLst/>
            <a:gdLst/>
            <a:ahLst/>
            <a:cxnLst/>
            <a:rect r="r" b="b" t="t" l="l"/>
            <a:pathLst>
              <a:path h="7408047" w="13509900">
                <a:moveTo>
                  <a:pt x="0" y="0"/>
                </a:moveTo>
                <a:lnTo>
                  <a:pt x="13509900" y="0"/>
                </a:lnTo>
                <a:lnTo>
                  <a:pt x="13509900" y="7408047"/>
                </a:lnTo>
                <a:lnTo>
                  <a:pt x="0" y="740804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4300" r="-471" b="-2625"/>
            </a:stretch>
          </a:blipFill>
        </p:spPr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08357" y="6933889"/>
            <a:ext cx="3860943" cy="3860943"/>
          </a:xfrm>
          <a:custGeom>
            <a:avLst/>
            <a:gdLst/>
            <a:ahLst/>
            <a:cxnLst/>
            <a:rect r="r" b="b" t="t" l="l"/>
            <a:pathLst>
              <a:path h="3860943" w="3860943">
                <a:moveTo>
                  <a:pt x="0" y="0"/>
                </a:moveTo>
                <a:lnTo>
                  <a:pt x="3860943" y="0"/>
                </a:lnTo>
                <a:lnTo>
                  <a:pt x="3860943" y="3860943"/>
                </a:lnTo>
                <a:lnTo>
                  <a:pt x="0" y="386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343061" y="6752914"/>
            <a:ext cx="3860943" cy="3860943"/>
          </a:xfrm>
          <a:custGeom>
            <a:avLst/>
            <a:gdLst/>
            <a:ahLst/>
            <a:cxnLst/>
            <a:rect r="r" b="b" t="t" l="l"/>
            <a:pathLst>
              <a:path h="3860943" w="3860943">
                <a:moveTo>
                  <a:pt x="0" y="0"/>
                </a:moveTo>
                <a:lnTo>
                  <a:pt x="3860943" y="0"/>
                </a:lnTo>
                <a:lnTo>
                  <a:pt x="3860943" y="3860943"/>
                </a:lnTo>
                <a:lnTo>
                  <a:pt x="0" y="386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204004" y="6571939"/>
            <a:ext cx="3860943" cy="3860943"/>
          </a:xfrm>
          <a:custGeom>
            <a:avLst/>
            <a:gdLst/>
            <a:ahLst/>
            <a:cxnLst/>
            <a:rect r="r" b="b" t="t" l="l"/>
            <a:pathLst>
              <a:path h="3860943" w="3860943">
                <a:moveTo>
                  <a:pt x="0" y="0"/>
                </a:moveTo>
                <a:lnTo>
                  <a:pt x="3860942" y="0"/>
                </a:lnTo>
                <a:lnTo>
                  <a:pt x="3860942" y="3860943"/>
                </a:lnTo>
                <a:lnTo>
                  <a:pt x="0" y="386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064946" y="7105339"/>
            <a:ext cx="3860943" cy="3860943"/>
          </a:xfrm>
          <a:custGeom>
            <a:avLst/>
            <a:gdLst/>
            <a:ahLst/>
            <a:cxnLst/>
            <a:rect r="r" b="b" t="t" l="l"/>
            <a:pathLst>
              <a:path h="3860943" w="3860943">
                <a:moveTo>
                  <a:pt x="0" y="0"/>
                </a:moveTo>
                <a:lnTo>
                  <a:pt x="3860943" y="0"/>
                </a:lnTo>
                <a:lnTo>
                  <a:pt x="3860943" y="3860943"/>
                </a:lnTo>
                <a:lnTo>
                  <a:pt x="0" y="386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925889" y="6924364"/>
            <a:ext cx="3860943" cy="3860943"/>
          </a:xfrm>
          <a:custGeom>
            <a:avLst/>
            <a:gdLst/>
            <a:ahLst/>
            <a:cxnLst/>
            <a:rect r="r" b="b" t="t" l="l"/>
            <a:pathLst>
              <a:path h="3860943" w="3860943">
                <a:moveTo>
                  <a:pt x="0" y="0"/>
                </a:moveTo>
                <a:lnTo>
                  <a:pt x="3860943" y="0"/>
                </a:lnTo>
                <a:lnTo>
                  <a:pt x="3860943" y="3860943"/>
                </a:lnTo>
                <a:lnTo>
                  <a:pt x="0" y="386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793802" y="-1859151"/>
            <a:ext cx="4047467" cy="4114800"/>
          </a:xfrm>
          <a:custGeom>
            <a:avLst/>
            <a:gdLst/>
            <a:ahLst/>
            <a:cxnLst/>
            <a:rect r="r" b="b" t="t" l="l"/>
            <a:pathLst>
              <a:path h="4114800" w="4047467">
                <a:moveTo>
                  <a:pt x="0" y="0"/>
                </a:moveTo>
                <a:lnTo>
                  <a:pt x="4047467" y="0"/>
                </a:lnTo>
                <a:lnTo>
                  <a:pt x="404746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616498" y="3309586"/>
            <a:ext cx="17420050" cy="6585319"/>
            <a:chOff x="0" y="0"/>
            <a:chExt cx="4822122" cy="18229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22122" cy="1822912"/>
            </a:xfrm>
            <a:custGeom>
              <a:avLst/>
              <a:gdLst/>
              <a:ahLst/>
              <a:cxnLst/>
              <a:rect r="r" b="b" t="t" l="l"/>
              <a:pathLst>
                <a:path h="1822912" w="4822122">
                  <a:moveTo>
                    <a:pt x="4662102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1662892"/>
                  </a:lnTo>
                  <a:lnTo>
                    <a:pt x="160020" y="1822912"/>
                  </a:lnTo>
                  <a:lnTo>
                    <a:pt x="4662102" y="1822912"/>
                  </a:lnTo>
                  <a:lnTo>
                    <a:pt x="4822122" y="1662892"/>
                  </a:lnTo>
                  <a:lnTo>
                    <a:pt x="4822122" y="160020"/>
                  </a:lnTo>
                  <a:lnTo>
                    <a:pt x="4662102" y="0"/>
                  </a:lnTo>
                  <a:close/>
                </a:path>
              </a:pathLst>
            </a:custGeom>
            <a:solidFill>
              <a:srgbClr val="2F415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63500" y="-31750"/>
              <a:ext cx="4695122" cy="17911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5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4608694" y="678821"/>
            <a:ext cx="9152487" cy="1781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12"/>
              </a:lnSpc>
            </a:pPr>
            <a:r>
              <a:rPr lang="en-US" sz="4865" b="true">
                <a:solidFill>
                  <a:srgbClr val="2F4156"/>
                </a:solidFill>
                <a:latin typeface="Clarendon Narrow Bold"/>
                <a:ea typeface="Clarendon Narrow Bold"/>
                <a:cs typeface="Clarendon Narrow Bold"/>
                <a:sym typeface="Clarendon Narrow Bold"/>
              </a:rPr>
              <a:t>SQL Analytics &amp; Insights Extraction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45982" y="3882024"/>
            <a:ext cx="15613318" cy="5239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39738" indent="-319869" lvl="1">
              <a:lnSpc>
                <a:spcPts val="4148"/>
              </a:lnSpc>
              <a:buFont typeface="Arial"/>
              <a:buChar char="•"/>
            </a:pPr>
            <a:r>
              <a:rPr lang="en-US" b="true" sz="2963" i="true">
                <a:solidFill>
                  <a:srgbClr val="F5EFEB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Custom SQL Scripting: Wrote native SQL queries from scratch to pull and analyze data for all 5 business phases.</a:t>
            </a:r>
          </a:p>
          <a:p>
            <a:pPr algn="just">
              <a:lnSpc>
                <a:spcPts val="4148"/>
              </a:lnSpc>
            </a:pPr>
          </a:p>
          <a:p>
            <a:pPr algn="just">
              <a:lnSpc>
                <a:spcPts val="4148"/>
              </a:lnSpc>
            </a:pPr>
            <a:r>
              <a:rPr lang="en-US" b="true" sz="2963" i="true">
                <a:solidFill>
                  <a:srgbClr val="F5EFEB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 Filtering (Phase 2): Created SQL Views (Top Importers, Most Dynamic, Actual Market) and combined them using UNION.</a:t>
            </a:r>
          </a:p>
          <a:p>
            <a:pPr algn="just" marL="639738" indent="-319869" lvl="1">
              <a:lnSpc>
                <a:spcPts val="4148"/>
              </a:lnSpc>
              <a:buFont typeface="Arial"/>
              <a:buChar char="•"/>
            </a:pPr>
            <a:r>
              <a:rPr lang="en-US" b="true" sz="2963" i="true">
                <a:solidFill>
                  <a:srgbClr val="F5EFEB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Rule Execution: Used CASE WHEN logic to automatically find and extract countries meeting &gt;=2 core criteria.</a:t>
            </a:r>
          </a:p>
          <a:p>
            <a:pPr algn="just" marL="639738" indent="-319869" lvl="1">
              <a:lnSpc>
                <a:spcPts val="4148"/>
              </a:lnSpc>
              <a:buFont typeface="Arial"/>
              <a:buChar char="•"/>
            </a:pPr>
            <a:r>
              <a:rPr lang="en-US" b="true" sz="2963" i="true">
                <a:solidFill>
                  <a:srgbClr val="F5EFEB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Competitor Aggregation: Grouped and calculated the exact market shares for every rival company in our target countries.</a:t>
            </a:r>
          </a:p>
          <a:p>
            <a:pPr algn="just">
              <a:lnSpc>
                <a:spcPts val="4148"/>
              </a:lnSpc>
            </a:pP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700000">
            <a:off x="14590867" y="-791896"/>
            <a:ext cx="6878351" cy="6878351"/>
          </a:xfrm>
          <a:custGeom>
            <a:avLst/>
            <a:gdLst/>
            <a:ahLst/>
            <a:cxnLst/>
            <a:rect r="r" b="b" t="t" l="l"/>
            <a:pathLst>
              <a:path h="6878351" w="6878351">
                <a:moveTo>
                  <a:pt x="0" y="0"/>
                </a:moveTo>
                <a:lnTo>
                  <a:pt x="6878351" y="0"/>
                </a:lnTo>
                <a:lnTo>
                  <a:pt x="6878351" y="6878352"/>
                </a:lnTo>
                <a:lnTo>
                  <a:pt x="0" y="68783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700000">
            <a:off x="-3195003" y="4071833"/>
            <a:ext cx="6878351" cy="6878351"/>
          </a:xfrm>
          <a:custGeom>
            <a:avLst/>
            <a:gdLst/>
            <a:ahLst/>
            <a:cxnLst/>
            <a:rect r="r" b="b" t="t" l="l"/>
            <a:pathLst>
              <a:path h="6878351" w="6878351">
                <a:moveTo>
                  <a:pt x="0" y="0"/>
                </a:moveTo>
                <a:lnTo>
                  <a:pt x="6878351" y="0"/>
                </a:lnTo>
                <a:lnTo>
                  <a:pt x="6878351" y="6878352"/>
                </a:lnTo>
                <a:lnTo>
                  <a:pt x="0" y="68783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3908252" y="3602757"/>
            <a:ext cx="7816504" cy="7816504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F415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139700" y="44450"/>
              <a:ext cx="533400" cy="628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5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254303" y="-1211155"/>
            <a:ext cx="7816504" cy="781650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F4156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39700" y="44450"/>
              <a:ext cx="533400" cy="628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5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3690799" y="6743699"/>
            <a:ext cx="4339244" cy="4114800"/>
          </a:xfrm>
          <a:custGeom>
            <a:avLst/>
            <a:gdLst/>
            <a:ahLst/>
            <a:cxnLst/>
            <a:rect r="r" b="b" t="t" l="l"/>
            <a:pathLst>
              <a:path h="4114800" w="4339244">
                <a:moveTo>
                  <a:pt x="0" y="0"/>
                </a:moveTo>
                <a:lnTo>
                  <a:pt x="4339243" y="0"/>
                </a:lnTo>
                <a:lnTo>
                  <a:pt x="433924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244173" y="-512043"/>
            <a:ext cx="4339244" cy="4114800"/>
          </a:xfrm>
          <a:custGeom>
            <a:avLst/>
            <a:gdLst/>
            <a:ahLst/>
            <a:cxnLst/>
            <a:rect r="r" b="b" t="t" l="l"/>
            <a:pathLst>
              <a:path h="4114800" w="4339244">
                <a:moveTo>
                  <a:pt x="4339243" y="0"/>
                </a:moveTo>
                <a:lnTo>
                  <a:pt x="0" y="0"/>
                </a:lnTo>
                <a:lnTo>
                  <a:pt x="0" y="4114800"/>
                </a:lnTo>
                <a:lnTo>
                  <a:pt x="4339243" y="4114800"/>
                </a:lnTo>
                <a:lnTo>
                  <a:pt x="433924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413794" y="9258300"/>
            <a:ext cx="4387287" cy="1881049"/>
          </a:xfrm>
          <a:custGeom>
            <a:avLst/>
            <a:gdLst/>
            <a:ahLst/>
            <a:cxnLst/>
            <a:rect r="r" b="b" t="t" l="l"/>
            <a:pathLst>
              <a:path h="1881049" w="4387287">
                <a:moveTo>
                  <a:pt x="0" y="0"/>
                </a:moveTo>
                <a:lnTo>
                  <a:pt x="4387287" y="0"/>
                </a:lnTo>
                <a:lnTo>
                  <a:pt x="4387287" y="1881049"/>
                </a:lnTo>
                <a:lnTo>
                  <a:pt x="0" y="188104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972670" y="-852349"/>
            <a:ext cx="4387287" cy="1881049"/>
          </a:xfrm>
          <a:custGeom>
            <a:avLst/>
            <a:gdLst/>
            <a:ahLst/>
            <a:cxnLst/>
            <a:rect r="r" b="b" t="t" l="l"/>
            <a:pathLst>
              <a:path h="1881049" w="4387287">
                <a:moveTo>
                  <a:pt x="0" y="0"/>
                </a:moveTo>
                <a:lnTo>
                  <a:pt x="4387287" y="0"/>
                </a:lnTo>
                <a:lnTo>
                  <a:pt x="4387287" y="1881049"/>
                </a:lnTo>
                <a:lnTo>
                  <a:pt x="0" y="188104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244173" y="1028700"/>
            <a:ext cx="10616980" cy="7960699"/>
          </a:xfrm>
          <a:custGeom>
            <a:avLst/>
            <a:gdLst/>
            <a:ahLst/>
            <a:cxnLst/>
            <a:rect r="r" b="b" t="t" l="l"/>
            <a:pathLst>
              <a:path h="7960699" w="10616980">
                <a:moveTo>
                  <a:pt x="0" y="0"/>
                </a:moveTo>
                <a:lnTo>
                  <a:pt x="10616980" y="0"/>
                </a:lnTo>
                <a:lnTo>
                  <a:pt x="10616980" y="7960699"/>
                </a:lnTo>
                <a:lnTo>
                  <a:pt x="0" y="796069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46" t="0" r="-146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259598" y="4626097"/>
            <a:ext cx="9980229" cy="5641682"/>
          </a:xfrm>
          <a:custGeom>
            <a:avLst/>
            <a:gdLst/>
            <a:ahLst/>
            <a:cxnLst/>
            <a:rect r="r" b="b" t="t" l="l"/>
            <a:pathLst>
              <a:path h="5641682" w="9980229">
                <a:moveTo>
                  <a:pt x="0" y="0"/>
                </a:moveTo>
                <a:lnTo>
                  <a:pt x="9980229" y="0"/>
                </a:lnTo>
                <a:lnTo>
                  <a:pt x="9980229" y="5641682"/>
                </a:lnTo>
                <a:lnTo>
                  <a:pt x="0" y="564168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-6988" b="0"/>
            </a:stretch>
          </a:blipFill>
        </p:spPr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08357" y="6933889"/>
            <a:ext cx="3860943" cy="3860943"/>
          </a:xfrm>
          <a:custGeom>
            <a:avLst/>
            <a:gdLst/>
            <a:ahLst/>
            <a:cxnLst/>
            <a:rect r="r" b="b" t="t" l="l"/>
            <a:pathLst>
              <a:path h="3860943" w="3860943">
                <a:moveTo>
                  <a:pt x="0" y="0"/>
                </a:moveTo>
                <a:lnTo>
                  <a:pt x="3860943" y="0"/>
                </a:lnTo>
                <a:lnTo>
                  <a:pt x="3860943" y="3860943"/>
                </a:lnTo>
                <a:lnTo>
                  <a:pt x="0" y="386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343061" y="6752914"/>
            <a:ext cx="3860943" cy="3860943"/>
          </a:xfrm>
          <a:custGeom>
            <a:avLst/>
            <a:gdLst/>
            <a:ahLst/>
            <a:cxnLst/>
            <a:rect r="r" b="b" t="t" l="l"/>
            <a:pathLst>
              <a:path h="3860943" w="3860943">
                <a:moveTo>
                  <a:pt x="0" y="0"/>
                </a:moveTo>
                <a:lnTo>
                  <a:pt x="3860943" y="0"/>
                </a:lnTo>
                <a:lnTo>
                  <a:pt x="3860943" y="3860943"/>
                </a:lnTo>
                <a:lnTo>
                  <a:pt x="0" y="386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204004" y="6571939"/>
            <a:ext cx="3860943" cy="3860943"/>
          </a:xfrm>
          <a:custGeom>
            <a:avLst/>
            <a:gdLst/>
            <a:ahLst/>
            <a:cxnLst/>
            <a:rect r="r" b="b" t="t" l="l"/>
            <a:pathLst>
              <a:path h="3860943" w="3860943">
                <a:moveTo>
                  <a:pt x="0" y="0"/>
                </a:moveTo>
                <a:lnTo>
                  <a:pt x="3860942" y="0"/>
                </a:lnTo>
                <a:lnTo>
                  <a:pt x="3860942" y="3860943"/>
                </a:lnTo>
                <a:lnTo>
                  <a:pt x="0" y="386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064946" y="7105339"/>
            <a:ext cx="3860943" cy="3860943"/>
          </a:xfrm>
          <a:custGeom>
            <a:avLst/>
            <a:gdLst/>
            <a:ahLst/>
            <a:cxnLst/>
            <a:rect r="r" b="b" t="t" l="l"/>
            <a:pathLst>
              <a:path h="3860943" w="3860943">
                <a:moveTo>
                  <a:pt x="0" y="0"/>
                </a:moveTo>
                <a:lnTo>
                  <a:pt x="3860943" y="0"/>
                </a:lnTo>
                <a:lnTo>
                  <a:pt x="3860943" y="3860943"/>
                </a:lnTo>
                <a:lnTo>
                  <a:pt x="0" y="386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925889" y="6924364"/>
            <a:ext cx="3860943" cy="3860943"/>
          </a:xfrm>
          <a:custGeom>
            <a:avLst/>
            <a:gdLst/>
            <a:ahLst/>
            <a:cxnLst/>
            <a:rect r="r" b="b" t="t" l="l"/>
            <a:pathLst>
              <a:path h="3860943" w="3860943">
                <a:moveTo>
                  <a:pt x="0" y="0"/>
                </a:moveTo>
                <a:lnTo>
                  <a:pt x="3860943" y="0"/>
                </a:lnTo>
                <a:lnTo>
                  <a:pt x="3860943" y="3860943"/>
                </a:lnTo>
                <a:lnTo>
                  <a:pt x="0" y="386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457052" y="1252186"/>
            <a:ext cx="4047467" cy="4114800"/>
          </a:xfrm>
          <a:custGeom>
            <a:avLst/>
            <a:gdLst/>
            <a:ahLst/>
            <a:cxnLst/>
            <a:rect r="r" b="b" t="t" l="l"/>
            <a:pathLst>
              <a:path h="4114800" w="4047467">
                <a:moveTo>
                  <a:pt x="0" y="0"/>
                </a:moveTo>
                <a:lnTo>
                  <a:pt x="4047467" y="0"/>
                </a:lnTo>
                <a:lnTo>
                  <a:pt x="404746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793802" y="-1859151"/>
            <a:ext cx="4047467" cy="4114800"/>
          </a:xfrm>
          <a:custGeom>
            <a:avLst/>
            <a:gdLst/>
            <a:ahLst/>
            <a:cxnLst/>
            <a:rect r="r" b="b" t="t" l="l"/>
            <a:pathLst>
              <a:path h="4114800" w="4047467">
                <a:moveTo>
                  <a:pt x="0" y="0"/>
                </a:moveTo>
                <a:lnTo>
                  <a:pt x="4047467" y="0"/>
                </a:lnTo>
                <a:lnTo>
                  <a:pt x="404746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65449" y="3212897"/>
            <a:ext cx="17927781" cy="6777257"/>
            <a:chOff x="0" y="0"/>
            <a:chExt cx="4822122" cy="182291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822122" cy="1822912"/>
            </a:xfrm>
            <a:custGeom>
              <a:avLst/>
              <a:gdLst/>
              <a:ahLst/>
              <a:cxnLst/>
              <a:rect r="r" b="b" t="t" l="l"/>
              <a:pathLst>
                <a:path h="1822912" w="4822122">
                  <a:moveTo>
                    <a:pt x="4662102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1662892"/>
                  </a:lnTo>
                  <a:lnTo>
                    <a:pt x="160020" y="1822912"/>
                  </a:lnTo>
                  <a:lnTo>
                    <a:pt x="4662102" y="1822912"/>
                  </a:lnTo>
                  <a:lnTo>
                    <a:pt x="4822122" y="1662892"/>
                  </a:lnTo>
                  <a:lnTo>
                    <a:pt x="4822122" y="160020"/>
                  </a:lnTo>
                  <a:lnTo>
                    <a:pt x="4662102" y="0"/>
                  </a:lnTo>
                  <a:close/>
                </a:path>
              </a:pathLst>
            </a:custGeom>
            <a:solidFill>
              <a:srgbClr val="2F415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63500" y="-31750"/>
              <a:ext cx="4695122" cy="17911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5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4608694" y="650246"/>
            <a:ext cx="9152487" cy="1981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12"/>
              </a:lnSpc>
            </a:pPr>
            <a:r>
              <a:rPr lang="en-US" sz="5365" b="true">
                <a:solidFill>
                  <a:srgbClr val="2F4156"/>
                </a:solidFill>
                <a:latin typeface="Clarendon Narrow Bold"/>
                <a:ea typeface="Clarendon Narrow Bold"/>
                <a:cs typeface="Clarendon Narrow Bold"/>
                <a:sym typeface="Clarendon Narrow Bold"/>
              </a:rPr>
              <a:t>SQL Analytics &amp; Insights Extraction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16371" y="4119888"/>
            <a:ext cx="16439989" cy="5557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28569" indent="-314285" lvl="1">
              <a:lnSpc>
                <a:spcPts val="4075"/>
              </a:lnSpc>
              <a:buFont typeface="Arial"/>
              <a:buChar char="•"/>
            </a:pPr>
            <a:r>
              <a:rPr lang="en-US" b="true" sz="2911" i="true">
                <a:solidFill>
                  <a:srgbClr val="F5EFEB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Competitor </a:t>
            </a:r>
            <a:r>
              <a:rPr lang="en-US" b="true" sz="2911" i="true">
                <a:solidFill>
                  <a:srgbClr val="F5EFEB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 (Phases 3 &amp; 4): </a:t>
            </a:r>
          </a:p>
          <a:p>
            <a:pPr algn="just" marL="583525" indent="-291763" lvl="1">
              <a:lnSpc>
                <a:spcPts val="3783"/>
              </a:lnSpc>
              <a:buFont typeface="Arial"/>
              <a:buChar char="•"/>
            </a:pPr>
            <a:r>
              <a:rPr lang="en-US" b="true" sz="2702" i="true">
                <a:solidFill>
                  <a:srgbClr val="F5EFEB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Wrote relational JOIN queries to find the top 10 global rivals and compare their prices, distances, and tariffs against Egypt.</a:t>
            </a:r>
          </a:p>
          <a:p>
            <a:pPr algn="just">
              <a:lnSpc>
                <a:spcPts val="3783"/>
              </a:lnSpc>
            </a:pPr>
          </a:p>
          <a:p>
            <a:pPr algn="just" marL="628569" indent="-314285" lvl="1">
              <a:lnSpc>
                <a:spcPts val="4075"/>
              </a:lnSpc>
              <a:buFont typeface="Arial"/>
              <a:buChar char="•"/>
            </a:pPr>
            <a:r>
              <a:rPr lang="en-US" b="true" sz="2911" i="true">
                <a:solidFill>
                  <a:srgbClr val="F5EFEB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Smart Tiering (Phase 5): Used SQL Window Functions (NTILE(5) OVER(...)) to automatically group countries into scores from 1 to 5 for size, growth, logistics, and tariffs.</a:t>
            </a:r>
          </a:p>
          <a:p>
            <a:pPr algn="just">
              <a:lnSpc>
                <a:spcPts val="4075"/>
              </a:lnSpc>
            </a:pPr>
          </a:p>
          <a:p>
            <a:pPr algn="just" marL="628569" indent="-314285" lvl="1">
              <a:lnSpc>
                <a:spcPts val="4075"/>
              </a:lnSpc>
              <a:buFont typeface="Arial"/>
              <a:buChar char="•"/>
            </a:pPr>
            <a:r>
              <a:rPr lang="en-US" b="true" sz="2911" i="true">
                <a:solidFill>
                  <a:srgbClr val="F5EFEB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Automated Final Ranking: Ran the final weighted scoring algorithm natively in SQL to instantly sort markets into Priority, Long-Term, or Low-Interest groups.</a:t>
            </a:r>
          </a:p>
          <a:p>
            <a:pPr algn="just">
              <a:lnSpc>
                <a:spcPts val="4075"/>
              </a:lnSpc>
            </a:pP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690799" y="6743699"/>
            <a:ext cx="4339244" cy="4114800"/>
          </a:xfrm>
          <a:custGeom>
            <a:avLst/>
            <a:gdLst/>
            <a:ahLst/>
            <a:cxnLst/>
            <a:rect r="r" b="b" t="t" l="l"/>
            <a:pathLst>
              <a:path h="4114800" w="4339244">
                <a:moveTo>
                  <a:pt x="0" y="0"/>
                </a:moveTo>
                <a:lnTo>
                  <a:pt x="4339243" y="0"/>
                </a:lnTo>
                <a:lnTo>
                  <a:pt x="433924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244173" y="-512043"/>
            <a:ext cx="4339244" cy="4114800"/>
          </a:xfrm>
          <a:custGeom>
            <a:avLst/>
            <a:gdLst/>
            <a:ahLst/>
            <a:cxnLst/>
            <a:rect r="r" b="b" t="t" l="l"/>
            <a:pathLst>
              <a:path h="4114800" w="4339244">
                <a:moveTo>
                  <a:pt x="4339243" y="0"/>
                </a:moveTo>
                <a:lnTo>
                  <a:pt x="0" y="0"/>
                </a:lnTo>
                <a:lnTo>
                  <a:pt x="0" y="4114800"/>
                </a:lnTo>
                <a:lnTo>
                  <a:pt x="4339243" y="4114800"/>
                </a:lnTo>
                <a:lnTo>
                  <a:pt x="433924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413794" y="9258300"/>
            <a:ext cx="4387287" cy="1881049"/>
          </a:xfrm>
          <a:custGeom>
            <a:avLst/>
            <a:gdLst/>
            <a:ahLst/>
            <a:cxnLst/>
            <a:rect r="r" b="b" t="t" l="l"/>
            <a:pathLst>
              <a:path h="1881049" w="4387287">
                <a:moveTo>
                  <a:pt x="0" y="0"/>
                </a:moveTo>
                <a:lnTo>
                  <a:pt x="4387287" y="0"/>
                </a:lnTo>
                <a:lnTo>
                  <a:pt x="4387287" y="1881049"/>
                </a:lnTo>
                <a:lnTo>
                  <a:pt x="0" y="18810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972670" y="-852349"/>
            <a:ext cx="4387287" cy="1881049"/>
          </a:xfrm>
          <a:custGeom>
            <a:avLst/>
            <a:gdLst/>
            <a:ahLst/>
            <a:cxnLst/>
            <a:rect r="r" b="b" t="t" l="l"/>
            <a:pathLst>
              <a:path h="1881049" w="4387287">
                <a:moveTo>
                  <a:pt x="0" y="0"/>
                </a:moveTo>
                <a:lnTo>
                  <a:pt x="4387287" y="0"/>
                </a:lnTo>
                <a:lnTo>
                  <a:pt x="4387287" y="1881049"/>
                </a:lnTo>
                <a:lnTo>
                  <a:pt x="0" y="18810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240035"/>
            <a:ext cx="9084389" cy="8561064"/>
          </a:xfrm>
          <a:custGeom>
            <a:avLst/>
            <a:gdLst/>
            <a:ahLst/>
            <a:cxnLst/>
            <a:rect r="r" b="b" t="t" l="l"/>
            <a:pathLst>
              <a:path h="8561064" w="9084389">
                <a:moveTo>
                  <a:pt x="0" y="0"/>
                </a:moveTo>
                <a:lnTo>
                  <a:pt x="9084389" y="0"/>
                </a:lnTo>
                <a:lnTo>
                  <a:pt x="9084389" y="8561064"/>
                </a:lnTo>
                <a:lnTo>
                  <a:pt x="0" y="856106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386180" y="1031576"/>
            <a:ext cx="10643863" cy="7095253"/>
          </a:xfrm>
          <a:custGeom>
            <a:avLst/>
            <a:gdLst/>
            <a:ahLst/>
            <a:cxnLst/>
            <a:rect r="r" b="b" t="t" l="l"/>
            <a:pathLst>
              <a:path h="7095253" w="10643863">
                <a:moveTo>
                  <a:pt x="0" y="0"/>
                </a:moveTo>
                <a:lnTo>
                  <a:pt x="10643862" y="0"/>
                </a:lnTo>
                <a:lnTo>
                  <a:pt x="10643862" y="7095253"/>
                </a:lnTo>
                <a:lnTo>
                  <a:pt x="0" y="709525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2635" r="0" b="-207"/>
            </a:stretch>
          </a:blipFill>
        </p:spPr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08357" y="6933889"/>
            <a:ext cx="3860943" cy="3860943"/>
          </a:xfrm>
          <a:custGeom>
            <a:avLst/>
            <a:gdLst/>
            <a:ahLst/>
            <a:cxnLst/>
            <a:rect r="r" b="b" t="t" l="l"/>
            <a:pathLst>
              <a:path h="3860943" w="3860943">
                <a:moveTo>
                  <a:pt x="0" y="0"/>
                </a:moveTo>
                <a:lnTo>
                  <a:pt x="3860943" y="0"/>
                </a:lnTo>
                <a:lnTo>
                  <a:pt x="3860943" y="3860943"/>
                </a:lnTo>
                <a:lnTo>
                  <a:pt x="0" y="386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343061" y="6752914"/>
            <a:ext cx="3860943" cy="3860943"/>
          </a:xfrm>
          <a:custGeom>
            <a:avLst/>
            <a:gdLst/>
            <a:ahLst/>
            <a:cxnLst/>
            <a:rect r="r" b="b" t="t" l="l"/>
            <a:pathLst>
              <a:path h="3860943" w="3860943">
                <a:moveTo>
                  <a:pt x="0" y="0"/>
                </a:moveTo>
                <a:lnTo>
                  <a:pt x="3860943" y="0"/>
                </a:lnTo>
                <a:lnTo>
                  <a:pt x="3860943" y="3860943"/>
                </a:lnTo>
                <a:lnTo>
                  <a:pt x="0" y="386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204004" y="6571939"/>
            <a:ext cx="3860943" cy="3860943"/>
          </a:xfrm>
          <a:custGeom>
            <a:avLst/>
            <a:gdLst/>
            <a:ahLst/>
            <a:cxnLst/>
            <a:rect r="r" b="b" t="t" l="l"/>
            <a:pathLst>
              <a:path h="3860943" w="3860943">
                <a:moveTo>
                  <a:pt x="0" y="0"/>
                </a:moveTo>
                <a:lnTo>
                  <a:pt x="3860942" y="0"/>
                </a:lnTo>
                <a:lnTo>
                  <a:pt x="3860942" y="3860943"/>
                </a:lnTo>
                <a:lnTo>
                  <a:pt x="0" y="386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064946" y="7105339"/>
            <a:ext cx="3860943" cy="3860943"/>
          </a:xfrm>
          <a:custGeom>
            <a:avLst/>
            <a:gdLst/>
            <a:ahLst/>
            <a:cxnLst/>
            <a:rect r="r" b="b" t="t" l="l"/>
            <a:pathLst>
              <a:path h="3860943" w="3860943">
                <a:moveTo>
                  <a:pt x="0" y="0"/>
                </a:moveTo>
                <a:lnTo>
                  <a:pt x="3860943" y="0"/>
                </a:lnTo>
                <a:lnTo>
                  <a:pt x="3860943" y="3860943"/>
                </a:lnTo>
                <a:lnTo>
                  <a:pt x="0" y="386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925889" y="6924364"/>
            <a:ext cx="3860943" cy="3860943"/>
          </a:xfrm>
          <a:custGeom>
            <a:avLst/>
            <a:gdLst/>
            <a:ahLst/>
            <a:cxnLst/>
            <a:rect r="r" b="b" t="t" l="l"/>
            <a:pathLst>
              <a:path h="3860943" w="3860943">
                <a:moveTo>
                  <a:pt x="0" y="0"/>
                </a:moveTo>
                <a:lnTo>
                  <a:pt x="3860943" y="0"/>
                </a:lnTo>
                <a:lnTo>
                  <a:pt x="3860943" y="3860943"/>
                </a:lnTo>
                <a:lnTo>
                  <a:pt x="0" y="386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793802" y="-1859151"/>
            <a:ext cx="4047467" cy="4114800"/>
          </a:xfrm>
          <a:custGeom>
            <a:avLst/>
            <a:gdLst/>
            <a:ahLst/>
            <a:cxnLst/>
            <a:rect r="r" b="b" t="t" l="l"/>
            <a:pathLst>
              <a:path h="4114800" w="4047467">
                <a:moveTo>
                  <a:pt x="0" y="0"/>
                </a:moveTo>
                <a:lnTo>
                  <a:pt x="4047467" y="0"/>
                </a:lnTo>
                <a:lnTo>
                  <a:pt x="404746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616498" y="3498057"/>
            <a:ext cx="16921490" cy="6396848"/>
            <a:chOff x="0" y="0"/>
            <a:chExt cx="4822122" cy="18229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22122" cy="1822912"/>
            </a:xfrm>
            <a:custGeom>
              <a:avLst/>
              <a:gdLst/>
              <a:ahLst/>
              <a:cxnLst/>
              <a:rect r="r" b="b" t="t" l="l"/>
              <a:pathLst>
                <a:path h="1822912" w="4822122">
                  <a:moveTo>
                    <a:pt x="4662102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1662892"/>
                  </a:lnTo>
                  <a:lnTo>
                    <a:pt x="160020" y="1822912"/>
                  </a:lnTo>
                  <a:lnTo>
                    <a:pt x="4662102" y="1822912"/>
                  </a:lnTo>
                  <a:lnTo>
                    <a:pt x="4822122" y="1662892"/>
                  </a:lnTo>
                  <a:lnTo>
                    <a:pt x="4822122" y="160020"/>
                  </a:lnTo>
                  <a:lnTo>
                    <a:pt x="4662102" y="0"/>
                  </a:lnTo>
                  <a:close/>
                </a:path>
              </a:pathLst>
            </a:custGeom>
            <a:solidFill>
              <a:srgbClr val="2F415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63500" y="-31750"/>
              <a:ext cx="4695122" cy="17911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5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4608694" y="688346"/>
            <a:ext cx="9152487" cy="1719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32"/>
              </a:lnSpc>
            </a:pPr>
            <a:r>
              <a:rPr lang="en-US" sz="4665" b="true">
                <a:solidFill>
                  <a:srgbClr val="2F4156"/>
                </a:solidFill>
                <a:latin typeface="Clarendon Narrow Bold"/>
                <a:ea typeface="Clarendon Narrow Bold"/>
                <a:cs typeface="Clarendon Narrow Bold"/>
                <a:sym typeface="Clarendon Narrow Bold"/>
              </a:rPr>
              <a:t>SQL Analytics &amp; Insights Extraction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21073" y="5207851"/>
            <a:ext cx="14762889" cy="3133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87"/>
              </a:lnSpc>
            </a:pPr>
            <a:r>
              <a:rPr lang="en-US" b="true" sz="2990" i="true">
                <a:solidFill>
                  <a:srgbClr val="F5EFEB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 Used SQL Window Functions (NTILE(5) OVER(...)) to automatically group countries into scores from 1 to 5 for size, growth, logistics, and tariffs.</a:t>
            </a:r>
          </a:p>
          <a:p>
            <a:pPr algn="just">
              <a:lnSpc>
                <a:spcPts val="4187"/>
              </a:lnSpc>
            </a:pPr>
          </a:p>
          <a:p>
            <a:pPr algn="just" marL="645720" indent="-322860" lvl="1">
              <a:lnSpc>
                <a:spcPts val="4187"/>
              </a:lnSpc>
              <a:buFont typeface="Arial"/>
              <a:buChar char="•"/>
            </a:pPr>
            <a:r>
              <a:rPr lang="en-US" b="true" sz="2990" i="true">
                <a:solidFill>
                  <a:srgbClr val="F5EFEB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Automated Final Ranking: Ran the weighted scoring formula directly in SQL to instantly sort markets into Priority, Long-Term, or Low-Interest groups.</a:t>
            </a:r>
          </a:p>
          <a:p>
            <a:pPr algn="just">
              <a:lnSpc>
                <a:spcPts val="4187"/>
              </a:lnSpc>
            </a:pP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700000">
            <a:off x="16076237" y="-176635"/>
            <a:ext cx="5647830" cy="5647830"/>
          </a:xfrm>
          <a:custGeom>
            <a:avLst/>
            <a:gdLst/>
            <a:ahLst/>
            <a:cxnLst/>
            <a:rect r="r" b="b" t="t" l="l"/>
            <a:pathLst>
              <a:path h="5647830" w="5647830">
                <a:moveTo>
                  <a:pt x="0" y="0"/>
                </a:moveTo>
                <a:lnTo>
                  <a:pt x="5647830" y="0"/>
                </a:lnTo>
                <a:lnTo>
                  <a:pt x="5647830" y="5647830"/>
                </a:lnTo>
                <a:lnTo>
                  <a:pt x="0" y="56478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700000">
            <a:off x="-3453078" y="4694882"/>
            <a:ext cx="5632254" cy="5632254"/>
          </a:xfrm>
          <a:custGeom>
            <a:avLst/>
            <a:gdLst/>
            <a:ahLst/>
            <a:cxnLst/>
            <a:rect r="r" b="b" t="t" l="l"/>
            <a:pathLst>
              <a:path h="5632254" w="5632254">
                <a:moveTo>
                  <a:pt x="0" y="0"/>
                </a:moveTo>
                <a:lnTo>
                  <a:pt x="5632254" y="0"/>
                </a:lnTo>
                <a:lnTo>
                  <a:pt x="5632254" y="5632254"/>
                </a:lnTo>
                <a:lnTo>
                  <a:pt x="0" y="56322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4780043" y="3602757"/>
            <a:ext cx="6831887" cy="7816504"/>
            <a:chOff x="0" y="0"/>
            <a:chExt cx="710415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10415" cy="812800"/>
            </a:xfrm>
            <a:custGeom>
              <a:avLst/>
              <a:gdLst/>
              <a:ahLst/>
              <a:cxnLst/>
              <a:rect r="r" b="b" t="t" l="l"/>
              <a:pathLst>
                <a:path h="812800" w="710415">
                  <a:moveTo>
                    <a:pt x="355207" y="0"/>
                  </a:moveTo>
                  <a:lnTo>
                    <a:pt x="710415" y="406400"/>
                  </a:lnTo>
                  <a:lnTo>
                    <a:pt x="355207" y="812800"/>
                  </a:lnTo>
                  <a:lnTo>
                    <a:pt x="0" y="406400"/>
                  </a:lnTo>
                  <a:lnTo>
                    <a:pt x="355207" y="0"/>
                  </a:lnTo>
                  <a:close/>
                </a:path>
              </a:pathLst>
            </a:custGeom>
            <a:solidFill>
              <a:srgbClr val="2F415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122103" y="44450"/>
              <a:ext cx="466210" cy="628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5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893357" y="-1211155"/>
            <a:ext cx="7177450" cy="7816504"/>
            <a:chOff x="0" y="0"/>
            <a:chExt cx="746348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46348" cy="812800"/>
            </a:xfrm>
            <a:custGeom>
              <a:avLst/>
              <a:gdLst/>
              <a:ahLst/>
              <a:cxnLst/>
              <a:rect r="r" b="b" t="t" l="l"/>
              <a:pathLst>
                <a:path h="812800" w="746348">
                  <a:moveTo>
                    <a:pt x="373174" y="0"/>
                  </a:moveTo>
                  <a:lnTo>
                    <a:pt x="746348" y="406400"/>
                  </a:lnTo>
                  <a:lnTo>
                    <a:pt x="373174" y="812800"/>
                  </a:lnTo>
                  <a:lnTo>
                    <a:pt x="0" y="406400"/>
                  </a:lnTo>
                  <a:lnTo>
                    <a:pt x="373174" y="0"/>
                  </a:lnTo>
                  <a:close/>
                </a:path>
              </a:pathLst>
            </a:custGeom>
            <a:solidFill>
              <a:srgbClr val="2F4156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28279" y="44450"/>
              <a:ext cx="489791" cy="628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5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2413794" y="9258300"/>
            <a:ext cx="4387287" cy="1881049"/>
          </a:xfrm>
          <a:custGeom>
            <a:avLst/>
            <a:gdLst/>
            <a:ahLst/>
            <a:cxnLst/>
            <a:rect r="r" b="b" t="t" l="l"/>
            <a:pathLst>
              <a:path h="1881049" w="4387287">
                <a:moveTo>
                  <a:pt x="0" y="0"/>
                </a:moveTo>
                <a:lnTo>
                  <a:pt x="4387287" y="0"/>
                </a:lnTo>
                <a:lnTo>
                  <a:pt x="4387287" y="1881049"/>
                </a:lnTo>
                <a:lnTo>
                  <a:pt x="0" y="18810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574344" y="288936"/>
            <a:ext cx="10970898" cy="9838786"/>
          </a:xfrm>
          <a:custGeom>
            <a:avLst/>
            <a:gdLst/>
            <a:ahLst/>
            <a:cxnLst/>
            <a:rect r="r" b="b" t="t" l="l"/>
            <a:pathLst>
              <a:path h="9838786" w="10970898">
                <a:moveTo>
                  <a:pt x="0" y="0"/>
                </a:moveTo>
                <a:lnTo>
                  <a:pt x="10970898" y="0"/>
                </a:lnTo>
                <a:lnTo>
                  <a:pt x="10970898" y="9838787"/>
                </a:lnTo>
                <a:lnTo>
                  <a:pt x="0" y="98387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652" r="0" b="-4779"/>
            </a:stretch>
          </a:blipFill>
        </p:spPr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700000">
            <a:off x="16463258" y="-16326"/>
            <a:ext cx="5327211" cy="5327211"/>
          </a:xfrm>
          <a:custGeom>
            <a:avLst/>
            <a:gdLst/>
            <a:ahLst/>
            <a:cxnLst/>
            <a:rect r="r" b="b" t="t" l="l"/>
            <a:pathLst>
              <a:path h="5327211" w="5327211">
                <a:moveTo>
                  <a:pt x="0" y="0"/>
                </a:moveTo>
                <a:lnTo>
                  <a:pt x="5327211" y="0"/>
                </a:lnTo>
                <a:lnTo>
                  <a:pt x="5327211" y="5327212"/>
                </a:lnTo>
                <a:lnTo>
                  <a:pt x="0" y="53272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700000">
            <a:off x="-3261022" y="5160420"/>
            <a:ext cx="5398611" cy="5398611"/>
          </a:xfrm>
          <a:custGeom>
            <a:avLst/>
            <a:gdLst/>
            <a:ahLst/>
            <a:cxnLst/>
            <a:rect r="r" b="b" t="t" l="l"/>
            <a:pathLst>
              <a:path h="5398611" w="5398611">
                <a:moveTo>
                  <a:pt x="0" y="0"/>
                </a:moveTo>
                <a:lnTo>
                  <a:pt x="5398611" y="0"/>
                </a:lnTo>
                <a:lnTo>
                  <a:pt x="5398611" y="5398611"/>
                </a:lnTo>
                <a:lnTo>
                  <a:pt x="0" y="53986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4829860" y="3951474"/>
            <a:ext cx="6891324" cy="7816504"/>
            <a:chOff x="0" y="0"/>
            <a:chExt cx="716595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16595" cy="812800"/>
            </a:xfrm>
            <a:custGeom>
              <a:avLst/>
              <a:gdLst/>
              <a:ahLst/>
              <a:cxnLst/>
              <a:rect r="r" b="b" t="t" l="l"/>
              <a:pathLst>
                <a:path h="812800" w="716595">
                  <a:moveTo>
                    <a:pt x="358298" y="0"/>
                  </a:moveTo>
                  <a:lnTo>
                    <a:pt x="716595" y="406400"/>
                  </a:lnTo>
                  <a:lnTo>
                    <a:pt x="358298" y="812800"/>
                  </a:lnTo>
                  <a:lnTo>
                    <a:pt x="0" y="406400"/>
                  </a:lnTo>
                  <a:lnTo>
                    <a:pt x="358298" y="0"/>
                  </a:lnTo>
                  <a:close/>
                </a:path>
              </a:pathLst>
            </a:custGeom>
            <a:solidFill>
              <a:srgbClr val="2F415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123165" y="44450"/>
              <a:ext cx="470266" cy="628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5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091371" y="-962072"/>
            <a:ext cx="6979436" cy="7816504"/>
            <a:chOff x="0" y="0"/>
            <a:chExt cx="725757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25757" cy="812800"/>
            </a:xfrm>
            <a:custGeom>
              <a:avLst/>
              <a:gdLst/>
              <a:ahLst/>
              <a:cxnLst/>
              <a:rect r="r" b="b" t="t" l="l"/>
              <a:pathLst>
                <a:path h="812800" w="725757">
                  <a:moveTo>
                    <a:pt x="362879" y="0"/>
                  </a:moveTo>
                  <a:lnTo>
                    <a:pt x="725757" y="406400"/>
                  </a:lnTo>
                  <a:lnTo>
                    <a:pt x="362879" y="812800"/>
                  </a:lnTo>
                  <a:lnTo>
                    <a:pt x="0" y="406400"/>
                  </a:lnTo>
                  <a:lnTo>
                    <a:pt x="362879" y="0"/>
                  </a:lnTo>
                  <a:close/>
                </a:path>
              </a:pathLst>
            </a:custGeom>
            <a:solidFill>
              <a:srgbClr val="2F4156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24740" y="44450"/>
              <a:ext cx="476278" cy="628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5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false" rot="0">
            <a:off x="244173" y="-512043"/>
            <a:ext cx="4339244" cy="4114800"/>
          </a:xfrm>
          <a:custGeom>
            <a:avLst/>
            <a:gdLst/>
            <a:ahLst/>
            <a:cxnLst/>
            <a:rect r="r" b="b" t="t" l="l"/>
            <a:pathLst>
              <a:path h="4114800" w="4339244">
                <a:moveTo>
                  <a:pt x="4339243" y="0"/>
                </a:moveTo>
                <a:lnTo>
                  <a:pt x="0" y="0"/>
                </a:lnTo>
                <a:lnTo>
                  <a:pt x="0" y="4114800"/>
                </a:lnTo>
                <a:lnTo>
                  <a:pt x="4339243" y="4114800"/>
                </a:lnTo>
                <a:lnTo>
                  <a:pt x="433924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972670" y="-852349"/>
            <a:ext cx="4387287" cy="1881049"/>
          </a:xfrm>
          <a:custGeom>
            <a:avLst/>
            <a:gdLst/>
            <a:ahLst/>
            <a:cxnLst/>
            <a:rect r="r" b="b" t="t" l="l"/>
            <a:pathLst>
              <a:path h="1881049" w="4387287">
                <a:moveTo>
                  <a:pt x="0" y="0"/>
                </a:moveTo>
                <a:lnTo>
                  <a:pt x="4387287" y="0"/>
                </a:lnTo>
                <a:lnTo>
                  <a:pt x="4387287" y="1881049"/>
                </a:lnTo>
                <a:lnTo>
                  <a:pt x="0" y="188104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255678" y="2869980"/>
            <a:ext cx="12819292" cy="7448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8708" indent="-324354" lvl="1">
              <a:lnSpc>
                <a:spcPts val="4206"/>
              </a:lnSpc>
              <a:buFont typeface="Arial"/>
              <a:buChar char="•"/>
            </a:pPr>
            <a:r>
              <a:rPr lang="en-US" b="true" sz="3004" i="true">
                <a:solidFill>
                  <a:srgbClr val="2F4156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Global Market Size: Found the total global trade value for Hydrogen Peroxide (H2o2) in 2024.</a:t>
            </a:r>
          </a:p>
          <a:p>
            <a:pPr algn="just">
              <a:lnSpc>
                <a:spcPts val="4206"/>
              </a:lnSpc>
            </a:pPr>
          </a:p>
          <a:p>
            <a:pPr algn="just" marL="648708" indent="-324354" lvl="1">
              <a:lnSpc>
                <a:spcPts val="4206"/>
              </a:lnSpc>
              <a:buFont typeface="Arial"/>
              <a:buChar char="•"/>
            </a:pPr>
            <a:r>
              <a:rPr lang="en-US" b="true" sz="3004" i="true">
                <a:solidFill>
                  <a:srgbClr val="2F4156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Top Importers: Led by Germany ($91.3M), the United States ($51.6M), and Italy.</a:t>
            </a:r>
          </a:p>
          <a:p>
            <a:pPr algn="just">
              <a:lnSpc>
                <a:spcPts val="4206"/>
              </a:lnSpc>
            </a:pPr>
          </a:p>
          <a:p>
            <a:pPr algn="just" marL="648708" indent="-324354" lvl="1">
              <a:lnSpc>
                <a:spcPts val="4206"/>
              </a:lnSpc>
              <a:buFont typeface="Arial"/>
              <a:buChar char="•"/>
            </a:pPr>
            <a:r>
              <a:rPr lang="en-US" b="true" sz="3004" i="true">
                <a:solidFill>
                  <a:srgbClr val="2F4156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Growth Clusters: Identified the fastest-growing markets, with Africa and the Middle East showing highly favorable growth and import trends.</a:t>
            </a:r>
          </a:p>
          <a:p>
            <a:pPr algn="just">
              <a:lnSpc>
                <a:spcPts val="4206"/>
              </a:lnSpc>
            </a:pPr>
          </a:p>
          <a:p>
            <a:pPr algn="just" marL="648708" indent="-324354" lvl="1">
              <a:lnSpc>
                <a:spcPts val="4206"/>
              </a:lnSpc>
              <a:buFont typeface="Arial"/>
              <a:buChar char="•"/>
            </a:pPr>
            <a:r>
              <a:rPr lang="en-US" b="true" sz="3004" i="true">
                <a:solidFill>
                  <a:srgbClr val="2F4156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Market Concentration: Checked supplier control per region to flag monopoly structures (where a small group holds over 50% market concentration).</a:t>
            </a:r>
          </a:p>
          <a:p>
            <a:pPr algn="just">
              <a:lnSpc>
                <a:spcPts val="4206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5826417" y="1218006"/>
            <a:ext cx="7883347" cy="1126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60"/>
              </a:lnSpc>
            </a:pPr>
            <a:r>
              <a:rPr lang="en-US" sz="5900" b="true">
                <a:solidFill>
                  <a:srgbClr val="2F4156"/>
                </a:solidFill>
                <a:latin typeface="Clarendon Narrow Bold"/>
                <a:ea typeface="Clarendon Narrow Bold"/>
                <a:cs typeface="Clarendon Narrow Bold"/>
                <a:sym typeface="Clarendon Narrow Bold"/>
              </a:rPr>
              <a:t>Market Insights  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700000">
            <a:off x="14590867" y="-791896"/>
            <a:ext cx="6878351" cy="6878351"/>
          </a:xfrm>
          <a:custGeom>
            <a:avLst/>
            <a:gdLst/>
            <a:ahLst/>
            <a:cxnLst/>
            <a:rect r="r" b="b" t="t" l="l"/>
            <a:pathLst>
              <a:path h="6878351" w="6878351">
                <a:moveTo>
                  <a:pt x="0" y="0"/>
                </a:moveTo>
                <a:lnTo>
                  <a:pt x="6878351" y="0"/>
                </a:lnTo>
                <a:lnTo>
                  <a:pt x="6878351" y="6878352"/>
                </a:lnTo>
                <a:lnTo>
                  <a:pt x="0" y="68783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700000">
            <a:off x="-3195003" y="4071833"/>
            <a:ext cx="6878351" cy="6878351"/>
          </a:xfrm>
          <a:custGeom>
            <a:avLst/>
            <a:gdLst/>
            <a:ahLst/>
            <a:cxnLst/>
            <a:rect r="r" b="b" t="t" l="l"/>
            <a:pathLst>
              <a:path h="6878351" w="6878351">
                <a:moveTo>
                  <a:pt x="0" y="0"/>
                </a:moveTo>
                <a:lnTo>
                  <a:pt x="6878351" y="0"/>
                </a:lnTo>
                <a:lnTo>
                  <a:pt x="6878351" y="6878352"/>
                </a:lnTo>
                <a:lnTo>
                  <a:pt x="0" y="68783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4829860" y="3951474"/>
            <a:ext cx="7816504" cy="7816504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F415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139700" y="44450"/>
              <a:ext cx="533400" cy="628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5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254303" y="-962072"/>
            <a:ext cx="7816504" cy="781650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F4156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39700" y="44450"/>
              <a:ext cx="533400" cy="628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5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3690799" y="6743699"/>
            <a:ext cx="4339244" cy="4114800"/>
          </a:xfrm>
          <a:custGeom>
            <a:avLst/>
            <a:gdLst/>
            <a:ahLst/>
            <a:cxnLst/>
            <a:rect r="r" b="b" t="t" l="l"/>
            <a:pathLst>
              <a:path h="4114800" w="4339244">
                <a:moveTo>
                  <a:pt x="0" y="0"/>
                </a:moveTo>
                <a:lnTo>
                  <a:pt x="4339243" y="0"/>
                </a:lnTo>
                <a:lnTo>
                  <a:pt x="433924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244173" y="-512043"/>
            <a:ext cx="4339244" cy="4114800"/>
          </a:xfrm>
          <a:custGeom>
            <a:avLst/>
            <a:gdLst/>
            <a:ahLst/>
            <a:cxnLst/>
            <a:rect r="r" b="b" t="t" l="l"/>
            <a:pathLst>
              <a:path h="4114800" w="4339244">
                <a:moveTo>
                  <a:pt x="4339243" y="0"/>
                </a:moveTo>
                <a:lnTo>
                  <a:pt x="0" y="0"/>
                </a:lnTo>
                <a:lnTo>
                  <a:pt x="0" y="4114800"/>
                </a:lnTo>
                <a:lnTo>
                  <a:pt x="4339243" y="4114800"/>
                </a:lnTo>
                <a:lnTo>
                  <a:pt x="433924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413794" y="9258300"/>
            <a:ext cx="4387287" cy="1881049"/>
          </a:xfrm>
          <a:custGeom>
            <a:avLst/>
            <a:gdLst/>
            <a:ahLst/>
            <a:cxnLst/>
            <a:rect r="r" b="b" t="t" l="l"/>
            <a:pathLst>
              <a:path h="1881049" w="4387287">
                <a:moveTo>
                  <a:pt x="0" y="0"/>
                </a:moveTo>
                <a:lnTo>
                  <a:pt x="4387287" y="0"/>
                </a:lnTo>
                <a:lnTo>
                  <a:pt x="4387287" y="1881049"/>
                </a:lnTo>
                <a:lnTo>
                  <a:pt x="0" y="188104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972670" y="-852349"/>
            <a:ext cx="4387287" cy="1881049"/>
          </a:xfrm>
          <a:custGeom>
            <a:avLst/>
            <a:gdLst/>
            <a:ahLst/>
            <a:cxnLst/>
            <a:rect r="r" b="b" t="t" l="l"/>
            <a:pathLst>
              <a:path h="1881049" w="4387287">
                <a:moveTo>
                  <a:pt x="0" y="0"/>
                </a:moveTo>
                <a:lnTo>
                  <a:pt x="4387287" y="0"/>
                </a:lnTo>
                <a:lnTo>
                  <a:pt x="4387287" y="1881049"/>
                </a:lnTo>
                <a:lnTo>
                  <a:pt x="0" y="188104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2590318" y="2647280"/>
            <a:ext cx="14668982" cy="7068866"/>
          </a:xfrm>
          <a:custGeom>
            <a:avLst/>
            <a:gdLst/>
            <a:ahLst/>
            <a:cxnLst/>
            <a:rect r="r" b="b" t="t" l="l"/>
            <a:pathLst>
              <a:path h="7068866" w="14668982">
                <a:moveTo>
                  <a:pt x="0" y="0"/>
                </a:moveTo>
                <a:lnTo>
                  <a:pt x="14668982" y="0"/>
                </a:lnTo>
                <a:lnTo>
                  <a:pt x="14668982" y="7068866"/>
                </a:lnTo>
                <a:lnTo>
                  <a:pt x="0" y="70688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6801081" y="568032"/>
            <a:ext cx="5610690" cy="1764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75"/>
              </a:lnSpc>
            </a:pPr>
            <a:r>
              <a:rPr lang="en-US" sz="4768" b="true">
                <a:solidFill>
                  <a:srgbClr val="2F4156"/>
                </a:solidFill>
                <a:latin typeface="Clarendon Narrow Bold"/>
                <a:ea typeface="Clarendon Narrow Bold"/>
                <a:cs typeface="Clarendon Narrow Bold"/>
                <a:sym typeface="Clarendon Narrow Bold"/>
              </a:rPr>
              <a:t>Market Insights </a:t>
            </a:r>
            <a:r>
              <a:rPr lang="en-US" b="true" sz="4768" u="sng">
                <a:solidFill>
                  <a:srgbClr val="2F4156"/>
                </a:solidFill>
                <a:latin typeface="Clarendon Narrow Bold"/>
                <a:ea typeface="Clarendon Narrow Bold"/>
                <a:cs typeface="Clarendon Narrow Bold"/>
                <a:sym typeface="Clarendon Narrow Bold"/>
                <a:hlinkClick r:id="rId8" tooltip="https://sehamaa2312-stack-dinamic-dashboard-kkk-py-jnv1kw.streamlit.app"/>
              </a:rPr>
              <a:t>phase1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08357" y="6933889"/>
            <a:ext cx="3860943" cy="3860943"/>
          </a:xfrm>
          <a:custGeom>
            <a:avLst/>
            <a:gdLst/>
            <a:ahLst/>
            <a:cxnLst/>
            <a:rect r="r" b="b" t="t" l="l"/>
            <a:pathLst>
              <a:path h="3860943" w="3860943">
                <a:moveTo>
                  <a:pt x="0" y="0"/>
                </a:moveTo>
                <a:lnTo>
                  <a:pt x="3860943" y="0"/>
                </a:lnTo>
                <a:lnTo>
                  <a:pt x="3860943" y="3860943"/>
                </a:lnTo>
                <a:lnTo>
                  <a:pt x="0" y="386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343061" y="6752914"/>
            <a:ext cx="3860943" cy="3860943"/>
          </a:xfrm>
          <a:custGeom>
            <a:avLst/>
            <a:gdLst/>
            <a:ahLst/>
            <a:cxnLst/>
            <a:rect r="r" b="b" t="t" l="l"/>
            <a:pathLst>
              <a:path h="3860943" w="3860943">
                <a:moveTo>
                  <a:pt x="0" y="0"/>
                </a:moveTo>
                <a:lnTo>
                  <a:pt x="3860943" y="0"/>
                </a:lnTo>
                <a:lnTo>
                  <a:pt x="3860943" y="3860943"/>
                </a:lnTo>
                <a:lnTo>
                  <a:pt x="0" y="386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204004" y="6571939"/>
            <a:ext cx="3860943" cy="3860943"/>
          </a:xfrm>
          <a:custGeom>
            <a:avLst/>
            <a:gdLst/>
            <a:ahLst/>
            <a:cxnLst/>
            <a:rect r="r" b="b" t="t" l="l"/>
            <a:pathLst>
              <a:path h="3860943" w="3860943">
                <a:moveTo>
                  <a:pt x="0" y="0"/>
                </a:moveTo>
                <a:lnTo>
                  <a:pt x="3860942" y="0"/>
                </a:lnTo>
                <a:lnTo>
                  <a:pt x="3860942" y="3860943"/>
                </a:lnTo>
                <a:lnTo>
                  <a:pt x="0" y="386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064946" y="7105339"/>
            <a:ext cx="3860943" cy="3860943"/>
          </a:xfrm>
          <a:custGeom>
            <a:avLst/>
            <a:gdLst/>
            <a:ahLst/>
            <a:cxnLst/>
            <a:rect r="r" b="b" t="t" l="l"/>
            <a:pathLst>
              <a:path h="3860943" w="3860943">
                <a:moveTo>
                  <a:pt x="0" y="0"/>
                </a:moveTo>
                <a:lnTo>
                  <a:pt x="3860943" y="0"/>
                </a:lnTo>
                <a:lnTo>
                  <a:pt x="3860943" y="3860943"/>
                </a:lnTo>
                <a:lnTo>
                  <a:pt x="0" y="386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925889" y="6924364"/>
            <a:ext cx="3860943" cy="3860943"/>
          </a:xfrm>
          <a:custGeom>
            <a:avLst/>
            <a:gdLst/>
            <a:ahLst/>
            <a:cxnLst/>
            <a:rect r="r" b="b" t="t" l="l"/>
            <a:pathLst>
              <a:path h="3860943" w="3860943">
                <a:moveTo>
                  <a:pt x="0" y="0"/>
                </a:moveTo>
                <a:lnTo>
                  <a:pt x="3860943" y="0"/>
                </a:lnTo>
                <a:lnTo>
                  <a:pt x="3860943" y="3860943"/>
                </a:lnTo>
                <a:lnTo>
                  <a:pt x="0" y="386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457052" y="1252186"/>
            <a:ext cx="4047467" cy="4114800"/>
          </a:xfrm>
          <a:custGeom>
            <a:avLst/>
            <a:gdLst/>
            <a:ahLst/>
            <a:cxnLst/>
            <a:rect r="r" b="b" t="t" l="l"/>
            <a:pathLst>
              <a:path h="4114800" w="4047467">
                <a:moveTo>
                  <a:pt x="0" y="0"/>
                </a:moveTo>
                <a:lnTo>
                  <a:pt x="4047467" y="0"/>
                </a:lnTo>
                <a:lnTo>
                  <a:pt x="404746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793802" y="-1859151"/>
            <a:ext cx="4047467" cy="4114800"/>
          </a:xfrm>
          <a:custGeom>
            <a:avLst/>
            <a:gdLst/>
            <a:ahLst/>
            <a:cxnLst/>
            <a:rect r="r" b="b" t="t" l="l"/>
            <a:pathLst>
              <a:path h="4114800" w="4047467">
                <a:moveTo>
                  <a:pt x="0" y="0"/>
                </a:moveTo>
                <a:lnTo>
                  <a:pt x="4047467" y="0"/>
                </a:lnTo>
                <a:lnTo>
                  <a:pt x="404746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452814" y="1647236"/>
            <a:ext cx="16921490" cy="8264972"/>
            <a:chOff x="0" y="0"/>
            <a:chExt cx="4822122" cy="23552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822122" cy="2355272"/>
            </a:xfrm>
            <a:custGeom>
              <a:avLst/>
              <a:gdLst/>
              <a:ahLst/>
              <a:cxnLst/>
              <a:rect r="r" b="b" t="t" l="l"/>
              <a:pathLst>
                <a:path h="2355272" w="4822122">
                  <a:moveTo>
                    <a:pt x="4662102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2195251"/>
                  </a:lnTo>
                  <a:lnTo>
                    <a:pt x="160020" y="2355272"/>
                  </a:lnTo>
                  <a:lnTo>
                    <a:pt x="4662102" y="2355272"/>
                  </a:lnTo>
                  <a:lnTo>
                    <a:pt x="4822122" y="2195251"/>
                  </a:lnTo>
                  <a:lnTo>
                    <a:pt x="4822122" y="160020"/>
                  </a:lnTo>
                  <a:lnTo>
                    <a:pt x="4662102" y="0"/>
                  </a:lnTo>
                  <a:close/>
                </a:path>
              </a:pathLst>
            </a:custGeom>
            <a:solidFill>
              <a:srgbClr val="2F415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63500" y="-31750"/>
              <a:ext cx="4695122" cy="23235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5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4409428" y="176988"/>
            <a:ext cx="9152487" cy="1031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12"/>
              </a:lnSpc>
            </a:pPr>
            <a:r>
              <a:rPr lang="en-US" b="true" sz="5365">
                <a:solidFill>
                  <a:srgbClr val="2F4156"/>
                </a:solidFill>
                <a:latin typeface="Clarendon Narrow Bold"/>
                <a:ea typeface="Clarendon Narrow Bold"/>
                <a:cs typeface="Clarendon Narrow Bold"/>
                <a:sym typeface="Clarendon Narrow Bold"/>
              </a:rPr>
              <a:t>Phase 2 &amp;3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1804563"/>
            <a:ext cx="7625525" cy="6960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83"/>
              </a:lnSpc>
            </a:pPr>
            <a:r>
              <a:rPr lang="en-US" b="true" sz="2345" i="true">
                <a:solidFill>
                  <a:srgbClr val="F5EFEB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T</a:t>
            </a:r>
            <a:r>
              <a:rPr lang="en-US" b="true" sz="2345" i="true">
                <a:solidFill>
                  <a:srgbClr val="F5EFEB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arget Market ph2 we fount the matched criteria in those countries Israel</a:t>
            </a:r>
          </a:p>
          <a:p>
            <a:pPr algn="just">
              <a:lnSpc>
                <a:spcPts val="3283"/>
              </a:lnSpc>
            </a:pPr>
          </a:p>
          <a:p>
            <a:pPr algn="just">
              <a:lnSpc>
                <a:spcPts val="3283"/>
              </a:lnSpc>
            </a:pPr>
            <a:r>
              <a:rPr lang="en-US" b="true" sz="2345" i="true">
                <a:solidFill>
                  <a:srgbClr val="F5EFEB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Türkiye</a:t>
            </a:r>
          </a:p>
          <a:p>
            <a:pPr algn="just">
              <a:lnSpc>
                <a:spcPts val="3283"/>
              </a:lnSpc>
            </a:pPr>
            <a:r>
              <a:rPr lang="en-US" b="true" sz="2345" i="true">
                <a:solidFill>
                  <a:srgbClr val="F5EFEB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Jordan</a:t>
            </a:r>
          </a:p>
          <a:p>
            <a:pPr algn="just">
              <a:lnSpc>
                <a:spcPts val="3283"/>
              </a:lnSpc>
            </a:pPr>
            <a:r>
              <a:rPr lang="en-US" b="true" sz="2345" i="true">
                <a:solidFill>
                  <a:srgbClr val="F5EFEB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South Africa</a:t>
            </a:r>
          </a:p>
          <a:p>
            <a:pPr algn="just">
              <a:lnSpc>
                <a:spcPts val="3283"/>
              </a:lnSpc>
            </a:pPr>
            <a:r>
              <a:rPr lang="en-US" b="true" sz="2345" i="true">
                <a:solidFill>
                  <a:srgbClr val="F5EFEB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Nigeria</a:t>
            </a:r>
          </a:p>
          <a:p>
            <a:pPr algn="just">
              <a:lnSpc>
                <a:spcPts val="3283"/>
              </a:lnSpc>
            </a:pPr>
            <a:r>
              <a:rPr lang="en-US" b="true" sz="2345" i="true">
                <a:solidFill>
                  <a:srgbClr val="F5EFEB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United Arab Emirates</a:t>
            </a:r>
          </a:p>
          <a:p>
            <a:pPr algn="just">
              <a:lnSpc>
                <a:spcPts val="3283"/>
              </a:lnSpc>
            </a:pPr>
            <a:r>
              <a:rPr lang="en-US" b="true" sz="2345" i="true">
                <a:solidFill>
                  <a:srgbClr val="F5EFEB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Congo (Democratic Republic of the)</a:t>
            </a:r>
          </a:p>
          <a:p>
            <a:pPr algn="just">
              <a:lnSpc>
                <a:spcPts val="3283"/>
              </a:lnSpc>
            </a:pPr>
            <a:r>
              <a:rPr lang="en-US" b="true" sz="2345" i="true">
                <a:solidFill>
                  <a:srgbClr val="F5EFEB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Zimbabwe</a:t>
            </a:r>
          </a:p>
          <a:p>
            <a:pPr algn="just">
              <a:lnSpc>
                <a:spcPts val="3283"/>
              </a:lnSpc>
            </a:pPr>
            <a:r>
              <a:rPr lang="en-US" b="true" sz="2345" i="true">
                <a:solidFill>
                  <a:srgbClr val="F5EFEB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Morocco</a:t>
            </a:r>
          </a:p>
          <a:p>
            <a:pPr algn="just">
              <a:lnSpc>
                <a:spcPts val="3283"/>
              </a:lnSpc>
            </a:pPr>
            <a:r>
              <a:rPr lang="en-US" b="true" sz="2345" i="true">
                <a:solidFill>
                  <a:srgbClr val="F5EFEB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Algeria</a:t>
            </a:r>
          </a:p>
          <a:p>
            <a:pPr algn="just">
              <a:lnSpc>
                <a:spcPts val="3283"/>
              </a:lnSpc>
            </a:pPr>
            <a:r>
              <a:rPr lang="en-US" b="true" sz="2345" i="true">
                <a:solidFill>
                  <a:srgbClr val="F5EFEB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Kenya</a:t>
            </a:r>
          </a:p>
          <a:p>
            <a:pPr algn="just">
              <a:lnSpc>
                <a:spcPts val="3283"/>
              </a:lnSpc>
            </a:pPr>
            <a:r>
              <a:rPr lang="en-US" b="true" sz="2345" i="true">
                <a:solidFill>
                  <a:srgbClr val="F5EFEB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Iran</a:t>
            </a:r>
          </a:p>
          <a:p>
            <a:pPr algn="just">
              <a:lnSpc>
                <a:spcPts val="3283"/>
              </a:lnSpc>
            </a:pPr>
            <a:r>
              <a:rPr lang="en-US" b="true" sz="2345" i="true">
                <a:solidFill>
                  <a:srgbClr val="F5EFEB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Azerbaijan</a:t>
            </a:r>
          </a:p>
          <a:p>
            <a:pPr algn="just">
              <a:lnSpc>
                <a:spcPts val="3283"/>
              </a:lnSpc>
            </a:pPr>
            <a:r>
              <a:rPr lang="en-US" b="true" sz="2345" i="true">
                <a:solidFill>
                  <a:srgbClr val="F5EFEB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Uganda</a:t>
            </a:r>
          </a:p>
          <a:p>
            <a:pPr algn="just">
              <a:lnSpc>
                <a:spcPts val="3283"/>
              </a:lnSpc>
            </a:pPr>
            <a:r>
              <a:rPr lang="en-US" b="true" sz="2345" i="true">
                <a:solidFill>
                  <a:srgbClr val="F5EFEB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Madagascar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906360" y="3471561"/>
            <a:ext cx="8352940" cy="6134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76"/>
              </a:lnSpc>
            </a:pPr>
            <a:r>
              <a:rPr lang="en-US" b="true" sz="2625" i="true">
                <a:solidFill>
                  <a:srgbClr val="F5EFEB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Ph</a:t>
            </a:r>
            <a:r>
              <a:rPr lang="en-US" b="true" sz="2625" i="true">
                <a:solidFill>
                  <a:srgbClr val="F5EFEB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ase 3: Top Global Competitors in Target Markets   Belgium</a:t>
            </a:r>
          </a:p>
          <a:p>
            <a:pPr algn="just">
              <a:lnSpc>
                <a:spcPts val="3676"/>
              </a:lnSpc>
            </a:pPr>
          </a:p>
          <a:p>
            <a:pPr algn="just">
              <a:lnSpc>
                <a:spcPts val="4236"/>
              </a:lnSpc>
            </a:pPr>
            <a:r>
              <a:rPr lang="en-US" b="true" sz="3025" i="true">
                <a:solidFill>
                  <a:srgbClr val="F5EFEB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India</a:t>
            </a:r>
          </a:p>
          <a:p>
            <a:pPr algn="just">
              <a:lnSpc>
                <a:spcPts val="3676"/>
              </a:lnSpc>
            </a:pPr>
            <a:r>
              <a:rPr lang="en-US" b="true" sz="2625" i="true">
                <a:solidFill>
                  <a:srgbClr val="F5EFEB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Italy</a:t>
            </a:r>
          </a:p>
          <a:p>
            <a:pPr algn="just">
              <a:lnSpc>
                <a:spcPts val="3676"/>
              </a:lnSpc>
            </a:pPr>
            <a:r>
              <a:rPr lang="en-US" b="true" sz="2625" i="true">
                <a:solidFill>
                  <a:srgbClr val="F5EFEB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China</a:t>
            </a:r>
          </a:p>
          <a:p>
            <a:pPr algn="just">
              <a:lnSpc>
                <a:spcPts val="3676"/>
              </a:lnSpc>
            </a:pPr>
            <a:r>
              <a:rPr lang="en-US" b="true" sz="2625" i="true">
                <a:solidFill>
                  <a:srgbClr val="F5EFEB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Türkiye</a:t>
            </a:r>
          </a:p>
          <a:p>
            <a:pPr algn="just">
              <a:lnSpc>
                <a:spcPts val="3676"/>
              </a:lnSpc>
            </a:pPr>
            <a:r>
              <a:rPr lang="en-US" b="true" sz="2625" i="true">
                <a:solidFill>
                  <a:srgbClr val="F5EFEB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South Korea (Republic of Korea)</a:t>
            </a:r>
          </a:p>
          <a:p>
            <a:pPr algn="just">
              <a:lnSpc>
                <a:spcPts val="3676"/>
              </a:lnSpc>
            </a:pPr>
            <a:r>
              <a:rPr lang="en-US" b="true" sz="2625" i="true">
                <a:solidFill>
                  <a:srgbClr val="F5EFEB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Netherlands</a:t>
            </a:r>
          </a:p>
          <a:p>
            <a:pPr algn="just">
              <a:lnSpc>
                <a:spcPts val="3676"/>
              </a:lnSpc>
            </a:pPr>
            <a:r>
              <a:rPr lang="en-US" b="true" sz="2625" i="true">
                <a:solidFill>
                  <a:srgbClr val="F5EFEB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South Africa</a:t>
            </a:r>
          </a:p>
          <a:p>
            <a:pPr algn="just">
              <a:lnSpc>
                <a:spcPts val="3676"/>
              </a:lnSpc>
            </a:pPr>
            <a:r>
              <a:rPr lang="en-US" b="true" sz="2625" i="true">
                <a:solidFill>
                  <a:srgbClr val="F5EFEB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Israel</a:t>
            </a:r>
          </a:p>
          <a:p>
            <a:pPr algn="just">
              <a:lnSpc>
                <a:spcPts val="3676"/>
              </a:lnSpc>
            </a:pPr>
            <a:r>
              <a:rPr lang="en-US" b="true" sz="2625" i="true">
                <a:solidFill>
                  <a:srgbClr val="F5EFEB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Spain</a:t>
            </a:r>
          </a:p>
          <a:p>
            <a:pPr algn="just">
              <a:lnSpc>
                <a:spcPts val="3676"/>
              </a:lnSpc>
            </a:pPr>
            <a:r>
              <a:rPr lang="en-US" b="true" sz="2625" i="true">
                <a:solidFill>
                  <a:srgbClr val="F5EFEB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Germany</a:t>
            </a:r>
          </a:p>
        </p:txBody>
      </p:sp>
      <p:sp>
        <p:nvSpPr>
          <p:cNvPr name="Freeform 15" id="15"/>
          <p:cNvSpPr/>
          <p:nvPr/>
        </p:nvSpPr>
        <p:spPr>
          <a:xfrm>
            <a:off x="5575915" y="1629933"/>
            <a:ext cx="5213337" cy="8282274"/>
          </a:xfrm>
          <a:custGeom>
            <a:avLst/>
            <a:gdLst/>
            <a:ahLst/>
            <a:cxnLst/>
            <a:rect r="r" b="b" t="t" l="l"/>
            <a:pathLst>
              <a:path h="8282274" w="5213337">
                <a:moveTo>
                  <a:pt x="5213337" y="0"/>
                </a:moveTo>
                <a:lnTo>
                  <a:pt x="5213337" y="842458"/>
                </a:lnTo>
                <a:cubicBezTo>
                  <a:pt x="5213337" y="968710"/>
                  <a:pt x="5110989" y="1071058"/>
                  <a:pt x="4984737" y="1071058"/>
                </a:cubicBezTo>
                <a:lnTo>
                  <a:pt x="3217599" y="1071058"/>
                </a:lnTo>
                <a:cubicBezTo>
                  <a:pt x="3091347" y="1071058"/>
                  <a:pt x="2988999" y="1173405"/>
                  <a:pt x="2988999" y="1299658"/>
                </a:cubicBezTo>
                <a:lnTo>
                  <a:pt x="2988999" y="8053674"/>
                </a:lnTo>
                <a:cubicBezTo>
                  <a:pt x="2988999" y="8179926"/>
                  <a:pt x="2886651" y="8282274"/>
                  <a:pt x="2760399" y="8282274"/>
                </a:cubicBezTo>
                <a:lnTo>
                  <a:pt x="0" y="8282274"/>
                </a:lnTo>
              </a:path>
            </a:pathLst>
          </a:cu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08357" y="6933889"/>
            <a:ext cx="3860943" cy="3860943"/>
          </a:xfrm>
          <a:custGeom>
            <a:avLst/>
            <a:gdLst/>
            <a:ahLst/>
            <a:cxnLst/>
            <a:rect r="r" b="b" t="t" l="l"/>
            <a:pathLst>
              <a:path h="3860943" w="3860943">
                <a:moveTo>
                  <a:pt x="0" y="0"/>
                </a:moveTo>
                <a:lnTo>
                  <a:pt x="3860943" y="0"/>
                </a:lnTo>
                <a:lnTo>
                  <a:pt x="3860943" y="3860943"/>
                </a:lnTo>
                <a:lnTo>
                  <a:pt x="0" y="386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343061" y="6752914"/>
            <a:ext cx="3860943" cy="3860943"/>
          </a:xfrm>
          <a:custGeom>
            <a:avLst/>
            <a:gdLst/>
            <a:ahLst/>
            <a:cxnLst/>
            <a:rect r="r" b="b" t="t" l="l"/>
            <a:pathLst>
              <a:path h="3860943" w="3860943">
                <a:moveTo>
                  <a:pt x="0" y="0"/>
                </a:moveTo>
                <a:lnTo>
                  <a:pt x="3860943" y="0"/>
                </a:lnTo>
                <a:lnTo>
                  <a:pt x="3860943" y="3860943"/>
                </a:lnTo>
                <a:lnTo>
                  <a:pt x="0" y="386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204004" y="6571939"/>
            <a:ext cx="3860943" cy="3860943"/>
          </a:xfrm>
          <a:custGeom>
            <a:avLst/>
            <a:gdLst/>
            <a:ahLst/>
            <a:cxnLst/>
            <a:rect r="r" b="b" t="t" l="l"/>
            <a:pathLst>
              <a:path h="3860943" w="3860943">
                <a:moveTo>
                  <a:pt x="0" y="0"/>
                </a:moveTo>
                <a:lnTo>
                  <a:pt x="3860942" y="0"/>
                </a:lnTo>
                <a:lnTo>
                  <a:pt x="3860942" y="3860943"/>
                </a:lnTo>
                <a:lnTo>
                  <a:pt x="0" y="386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064946" y="7105339"/>
            <a:ext cx="3860943" cy="3860943"/>
          </a:xfrm>
          <a:custGeom>
            <a:avLst/>
            <a:gdLst/>
            <a:ahLst/>
            <a:cxnLst/>
            <a:rect r="r" b="b" t="t" l="l"/>
            <a:pathLst>
              <a:path h="3860943" w="3860943">
                <a:moveTo>
                  <a:pt x="0" y="0"/>
                </a:moveTo>
                <a:lnTo>
                  <a:pt x="3860943" y="0"/>
                </a:lnTo>
                <a:lnTo>
                  <a:pt x="3860943" y="3860943"/>
                </a:lnTo>
                <a:lnTo>
                  <a:pt x="0" y="386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925889" y="6924364"/>
            <a:ext cx="3860943" cy="3860943"/>
          </a:xfrm>
          <a:custGeom>
            <a:avLst/>
            <a:gdLst/>
            <a:ahLst/>
            <a:cxnLst/>
            <a:rect r="r" b="b" t="t" l="l"/>
            <a:pathLst>
              <a:path h="3860943" w="3860943">
                <a:moveTo>
                  <a:pt x="0" y="0"/>
                </a:moveTo>
                <a:lnTo>
                  <a:pt x="3860943" y="0"/>
                </a:lnTo>
                <a:lnTo>
                  <a:pt x="3860943" y="3860943"/>
                </a:lnTo>
                <a:lnTo>
                  <a:pt x="0" y="386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457052" y="1252186"/>
            <a:ext cx="4047467" cy="4114800"/>
          </a:xfrm>
          <a:custGeom>
            <a:avLst/>
            <a:gdLst/>
            <a:ahLst/>
            <a:cxnLst/>
            <a:rect r="r" b="b" t="t" l="l"/>
            <a:pathLst>
              <a:path h="4114800" w="4047467">
                <a:moveTo>
                  <a:pt x="0" y="0"/>
                </a:moveTo>
                <a:lnTo>
                  <a:pt x="4047467" y="0"/>
                </a:lnTo>
                <a:lnTo>
                  <a:pt x="404746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793802" y="-1859151"/>
            <a:ext cx="4047467" cy="4114800"/>
          </a:xfrm>
          <a:custGeom>
            <a:avLst/>
            <a:gdLst/>
            <a:ahLst/>
            <a:cxnLst/>
            <a:rect r="r" b="b" t="t" l="l"/>
            <a:pathLst>
              <a:path h="4114800" w="4047467">
                <a:moveTo>
                  <a:pt x="0" y="0"/>
                </a:moveTo>
                <a:lnTo>
                  <a:pt x="4047467" y="0"/>
                </a:lnTo>
                <a:lnTo>
                  <a:pt x="404746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452814" y="1647236"/>
            <a:ext cx="16921490" cy="8264972"/>
            <a:chOff x="0" y="0"/>
            <a:chExt cx="4822122" cy="23552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822122" cy="2355272"/>
            </a:xfrm>
            <a:custGeom>
              <a:avLst/>
              <a:gdLst/>
              <a:ahLst/>
              <a:cxnLst/>
              <a:rect r="r" b="b" t="t" l="l"/>
              <a:pathLst>
                <a:path h="2355272" w="4822122">
                  <a:moveTo>
                    <a:pt x="4662102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2195251"/>
                  </a:lnTo>
                  <a:lnTo>
                    <a:pt x="160020" y="2355272"/>
                  </a:lnTo>
                  <a:lnTo>
                    <a:pt x="4662102" y="2355272"/>
                  </a:lnTo>
                  <a:lnTo>
                    <a:pt x="4822122" y="2195251"/>
                  </a:lnTo>
                  <a:lnTo>
                    <a:pt x="4822122" y="160020"/>
                  </a:lnTo>
                  <a:lnTo>
                    <a:pt x="4662102" y="0"/>
                  </a:lnTo>
                  <a:close/>
                </a:path>
              </a:pathLst>
            </a:custGeom>
            <a:solidFill>
              <a:srgbClr val="2F415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63500" y="-31750"/>
              <a:ext cx="4695122" cy="23235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5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3881635" y="2586915"/>
            <a:ext cx="9753034" cy="6671385"/>
          </a:xfrm>
          <a:custGeom>
            <a:avLst/>
            <a:gdLst/>
            <a:ahLst/>
            <a:cxnLst/>
            <a:rect r="r" b="b" t="t" l="l"/>
            <a:pathLst>
              <a:path h="6671385" w="9753034">
                <a:moveTo>
                  <a:pt x="0" y="0"/>
                </a:moveTo>
                <a:lnTo>
                  <a:pt x="9753034" y="0"/>
                </a:lnTo>
                <a:lnTo>
                  <a:pt x="9753034" y="6671385"/>
                </a:lnTo>
                <a:lnTo>
                  <a:pt x="0" y="66713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409428" y="176988"/>
            <a:ext cx="9152487" cy="1035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12"/>
              </a:lnSpc>
            </a:pPr>
            <a:r>
              <a:rPr lang="en-US" b="true" sz="5365">
                <a:solidFill>
                  <a:srgbClr val="2F4156"/>
                </a:solidFill>
                <a:latin typeface="Clarendon Narrow Bold"/>
                <a:ea typeface="Clarendon Narrow Bold"/>
                <a:cs typeface="Clarendon Narrow Bold"/>
                <a:sym typeface="Clarendon Narrow Bold"/>
              </a:rPr>
              <a:t>Market Insights </a:t>
            </a:r>
            <a:r>
              <a:rPr lang="en-US" b="true" sz="5365" u="sng">
                <a:solidFill>
                  <a:srgbClr val="2F4156"/>
                </a:solidFill>
                <a:latin typeface="Clarendon Narrow Bold"/>
                <a:ea typeface="Clarendon Narrow Bold"/>
                <a:cs typeface="Clarendon Narrow Bold"/>
                <a:sym typeface="Clarendon Narrow Bold"/>
                <a:hlinkClick r:id="rId9" tooltip="https://dashboard-phase2-lzfyrvjbfbgu4eextx4xjh.streamlit.app"/>
              </a:rPr>
              <a:t>phase 2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08357" y="6933889"/>
            <a:ext cx="3860943" cy="3860943"/>
          </a:xfrm>
          <a:custGeom>
            <a:avLst/>
            <a:gdLst/>
            <a:ahLst/>
            <a:cxnLst/>
            <a:rect r="r" b="b" t="t" l="l"/>
            <a:pathLst>
              <a:path h="3860943" w="3860943">
                <a:moveTo>
                  <a:pt x="0" y="0"/>
                </a:moveTo>
                <a:lnTo>
                  <a:pt x="3860943" y="0"/>
                </a:lnTo>
                <a:lnTo>
                  <a:pt x="3860943" y="3860943"/>
                </a:lnTo>
                <a:lnTo>
                  <a:pt x="0" y="386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343061" y="6752914"/>
            <a:ext cx="3860943" cy="3860943"/>
          </a:xfrm>
          <a:custGeom>
            <a:avLst/>
            <a:gdLst/>
            <a:ahLst/>
            <a:cxnLst/>
            <a:rect r="r" b="b" t="t" l="l"/>
            <a:pathLst>
              <a:path h="3860943" w="3860943">
                <a:moveTo>
                  <a:pt x="0" y="0"/>
                </a:moveTo>
                <a:lnTo>
                  <a:pt x="3860943" y="0"/>
                </a:lnTo>
                <a:lnTo>
                  <a:pt x="3860943" y="3860943"/>
                </a:lnTo>
                <a:lnTo>
                  <a:pt x="0" y="386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204004" y="6571939"/>
            <a:ext cx="3860943" cy="3860943"/>
          </a:xfrm>
          <a:custGeom>
            <a:avLst/>
            <a:gdLst/>
            <a:ahLst/>
            <a:cxnLst/>
            <a:rect r="r" b="b" t="t" l="l"/>
            <a:pathLst>
              <a:path h="3860943" w="3860943">
                <a:moveTo>
                  <a:pt x="0" y="0"/>
                </a:moveTo>
                <a:lnTo>
                  <a:pt x="3860942" y="0"/>
                </a:lnTo>
                <a:lnTo>
                  <a:pt x="3860942" y="3860943"/>
                </a:lnTo>
                <a:lnTo>
                  <a:pt x="0" y="386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064946" y="7105339"/>
            <a:ext cx="3860943" cy="3860943"/>
          </a:xfrm>
          <a:custGeom>
            <a:avLst/>
            <a:gdLst/>
            <a:ahLst/>
            <a:cxnLst/>
            <a:rect r="r" b="b" t="t" l="l"/>
            <a:pathLst>
              <a:path h="3860943" w="3860943">
                <a:moveTo>
                  <a:pt x="0" y="0"/>
                </a:moveTo>
                <a:lnTo>
                  <a:pt x="3860943" y="0"/>
                </a:lnTo>
                <a:lnTo>
                  <a:pt x="3860943" y="3860943"/>
                </a:lnTo>
                <a:lnTo>
                  <a:pt x="0" y="386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925889" y="6924364"/>
            <a:ext cx="3860943" cy="3860943"/>
          </a:xfrm>
          <a:custGeom>
            <a:avLst/>
            <a:gdLst/>
            <a:ahLst/>
            <a:cxnLst/>
            <a:rect r="r" b="b" t="t" l="l"/>
            <a:pathLst>
              <a:path h="3860943" w="3860943">
                <a:moveTo>
                  <a:pt x="0" y="0"/>
                </a:moveTo>
                <a:lnTo>
                  <a:pt x="3860943" y="0"/>
                </a:lnTo>
                <a:lnTo>
                  <a:pt x="3860943" y="3860943"/>
                </a:lnTo>
                <a:lnTo>
                  <a:pt x="0" y="386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457052" y="1252186"/>
            <a:ext cx="4047467" cy="4114800"/>
          </a:xfrm>
          <a:custGeom>
            <a:avLst/>
            <a:gdLst/>
            <a:ahLst/>
            <a:cxnLst/>
            <a:rect r="r" b="b" t="t" l="l"/>
            <a:pathLst>
              <a:path h="4114800" w="4047467">
                <a:moveTo>
                  <a:pt x="0" y="0"/>
                </a:moveTo>
                <a:lnTo>
                  <a:pt x="4047467" y="0"/>
                </a:lnTo>
                <a:lnTo>
                  <a:pt x="404746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793802" y="-1859151"/>
            <a:ext cx="4047467" cy="4114800"/>
          </a:xfrm>
          <a:custGeom>
            <a:avLst/>
            <a:gdLst/>
            <a:ahLst/>
            <a:cxnLst/>
            <a:rect r="r" b="b" t="t" l="l"/>
            <a:pathLst>
              <a:path h="4114800" w="4047467">
                <a:moveTo>
                  <a:pt x="0" y="0"/>
                </a:moveTo>
                <a:lnTo>
                  <a:pt x="4047467" y="0"/>
                </a:lnTo>
                <a:lnTo>
                  <a:pt x="404746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076669" y="2255649"/>
            <a:ext cx="16182631" cy="7665883"/>
            <a:chOff x="0" y="0"/>
            <a:chExt cx="4822122" cy="228429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822122" cy="2284290"/>
            </a:xfrm>
            <a:custGeom>
              <a:avLst/>
              <a:gdLst/>
              <a:ahLst/>
              <a:cxnLst/>
              <a:rect r="r" b="b" t="t" l="l"/>
              <a:pathLst>
                <a:path h="2284290" w="4822122">
                  <a:moveTo>
                    <a:pt x="4662102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2124270"/>
                  </a:lnTo>
                  <a:lnTo>
                    <a:pt x="160020" y="2284290"/>
                  </a:lnTo>
                  <a:lnTo>
                    <a:pt x="4662102" y="2284290"/>
                  </a:lnTo>
                  <a:lnTo>
                    <a:pt x="4822122" y="2124270"/>
                  </a:lnTo>
                  <a:lnTo>
                    <a:pt x="4822122" y="160020"/>
                  </a:lnTo>
                  <a:lnTo>
                    <a:pt x="4662102" y="0"/>
                  </a:lnTo>
                  <a:close/>
                </a:path>
              </a:pathLst>
            </a:custGeom>
            <a:solidFill>
              <a:srgbClr val="2F415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63500" y="-31750"/>
              <a:ext cx="4695122" cy="22525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5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536744" y="3233386"/>
            <a:ext cx="13740877" cy="4964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7090" indent="-303545" lvl="1">
              <a:lnSpc>
                <a:spcPts val="3936"/>
              </a:lnSpc>
              <a:buFont typeface="Arial"/>
              <a:buChar char="•"/>
            </a:pPr>
            <a:r>
              <a:rPr lang="en-US" b="true" sz="2811" i="true">
                <a:solidFill>
                  <a:srgbClr val="F5EFEB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Priority Group: Israel and Jordan (Perfect Size, Logistics, and Tariffs—immediate targets).</a:t>
            </a:r>
          </a:p>
          <a:p>
            <a:pPr algn="just">
              <a:lnSpc>
                <a:spcPts val="3936"/>
              </a:lnSpc>
            </a:pPr>
          </a:p>
          <a:p>
            <a:pPr algn="just" marL="607090" indent="-303545" lvl="1">
              <a:lnSpc>
                <a:spcPts val="3936"/>
              </a:lnSpc>
              <a:buFont typeface="Arial"/>
              <a:buChar char="•"/>
            </a:pPr>
            <a:r>
              <a:rPr lang="en-US" b="true" sz="2811" i="true">
                <a:solidFill>
                  <a:srgbClr val="F5EFEB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Long-Term Opportunities: Congo, Türkiye, Algeria, Azerbaijan, Nigeria, Zimbabwe, Kenya, UAE, Uga</a:t>
            </a:r>
            <a:r>
              <a:rPr lang="en-US" b="true" sz="2811" i="true">
                <a:solidFill>
                  <a:srgbClr val="F5EFEB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nda, and </a:t>
            </a:r>
            <a:r>
              <a:rPr lang="en-US" b="true" sz="2811" i="true">
                <a:solidFill>
                  <a:srgbClr val="F5EFEB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Iran (High growth/size, but facing tougher tariffs or competition).</a:t>
            </a:r>
          </a:p>
          <a:p>
            <a:pPr algn="just">
              <a:lnSpc>
                <a:spcPts val="3936"/>
              </a:lnSpc>
            </a:pPr>
          </a:p>
          <a:p>
            <a:pPr algn="just" marL="607090" indent="-303545" lvl="1">
              <a:lnSpc>
                <a:spcPts val="3936"/>
              </a:lnSpc>
              <a:buFont typeface="Arial"/>
              <a:buChar char="•"/>
            </a:pPr>
            <a:r>
              <a:rPr lang="en-US" b="true" sz="2811" i="true">
                <a:solidFill>
                  <a:srgbClr val="F5EFEB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Low-Interest Zones: Morocco, South Africa, and Madagascar (Lowest scores due to weak growth, high tariffs, or</a:t>
            </a:r>
            <a:r>
              <a:rPr lang="en-US" b="true" sz="2811" i="true">
                <a:solidFill>
                  <a:srgbClr val="F5EFEB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 poor logistics).</a:t>
            </a:r>
          </a:p>
          <a:p>
            <a:pPr algn="just">
              <a:lnSpc>
                <a:spcPts val="3936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6037620" y="183575"/>
            <a:ext cx="6193710" cy="1937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9"/>
              </a:lnSpc>
            </a:pPr>
            <a:r>
              <a:rPr lang="en-US" sz="5263" b="true">
                <a:solidFill>
                  <a:srgbClr val="2F4156"/>
                </a:solidFill>
                <a:latin typeface="Clarendon Narrow Bold"/>
                <a:ea typeface="Clarendon Narrow Bold"/>
                <a:cs typeface="Clarendon Narrow Bold"/>
                <a:sym typeface="Clarendon Narrow Bold"/>
              </a:rPr>
              <a:t>Market Insights phase 5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08357" y="6933889"/>
            <a:ext cx="3860943" cy="3860943"/>
          </a:xfrm>
          <a:custGeom>
            <a:avLst/>
            <a:gdLst/>
            <a:ahLst/>
            <a:cxnLst/>
            <a:rect r="r" b="b" t="t" l="l"/>
            <a:pathLst>
              <a:path h="3860943" w="3860943">
                <a:moveTo>
                  <a:pt x="0" y="0"/>
                </a:moveTo>
                <a:lnTo>
                  <a:pt x="3860943" y="0"/>
                </a:lnTo>
                <a:lnTo>
                  <a:pt x="3860943" y="3860943"/>
                </a:lnTo>
                <a:lnTo>
                  <a:pt x="0" y="386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343061" y="6752914"/>
            <a:ext cx="3860943" cy="3860943"/>
          </a:xfrm>
          <a:custGeom>
            <a:avLst/>
            <a:gdLst/>
            <a:ahLst/>
            <a:cxnLst/>
            <a:rect r="r" b="b" t="t" l="l"/>
            <a:pathLst>
              <a:path h="3860943" w="3860943">
                <a:moveTo>
                  <a:pt x="0" y="0"/>
                </a:moveTo>
                <a:lnTo>
                  <a:pt x="3860943" y="0"/>
                </a:lnTo>
                <a:lnTo>
                  <a:pt x="3860943" y="3860943"/>
                </a:lnTo>
                <a:lnTo>
                  <a:pt x="0" y="386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204004" y="6571939"/>
            <a:ext cx="3860943" cy="3860943"/>
          </a:xfrm>
          <a:custGeom>
            <a:avLst/>
            <a:gdLst/>
            <a:ahLst/>
            <a:cxnLst/>
            <a:rect r="r" b="b" t="t" l="l"/>
            <a:pathLst>
              <a:path h="3860943" w="3860943">
                <a:moveTo>
                  <a:pt x="0" y="0"/>
                </a:moveTo>
                <a:lnTo>
                  <a:pt x="3860942" y="0"/>
                </a:lnTo>
                <a:lnTo>
                  <a:pt x="3860942" y="3860943"/>
                </a:lnTo>
                <a:lnTo>
                  <a:pt x="0" y="386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064946" y="7105339"/>
            <a:ext cx="3860943" cy="3860943"/>
          </a:xfrm>
          <a:custGeom>
            <a:avLst/>
            <a:gdLst/>
            <a:ahLst/>
            <a:cxnLst/>
            <a:rect r="r" b="b" t="t" l="l"/>
            <a:pathLst>
              <a:path h="3860943" w="3860943">
                <a:moveTo>
                  <a:pt x="0" y="0"/>
                </a:moveTo>
                <a:lnTo>
                  <a:pt x="3860943" y="0"/>
                </a:lnTo>
                <a:lnTo>
                  <a:pt x="3860943" y="3860943"/>
                </a:lnTo>
                <a:lnTo>
                  <a:pt x="0" y="386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925889" y="6924364"/>
            <a:ext cx="3860943" cy="3860943"/>
          </a:xfrm>
          <a:custGeom>
            <a:avLst/>
            <a:gdLst/>
            <a:ahLst/>
            <a:cxnLst/>
            <a:rect r="r" b="b" t="t" l="l"/>
            <a:pathLst>
              <a:path h="3860943" w="3860943">
                <a:moveTo>
                  <a:pt x="0" y="0"/>
                </a:moveTo>
                <a:lnTo>
                  <a:pt x="3860943" y="0"/>
                </a:lnTo>
                <a:lnTo>
                  <a:pt x="3860943" y="3860943"/>
                </a:lnTo>
                <a:lnTo>
                  <a:pt x="0" y="386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457052" y="1252186"/>
            <a:ext cx="4047467" cy="4114800"/>
          </a:xfrm>
          <a:custGeom>
            <a:avLst/>
            <a:gdLst/>
            <a:ahLst/>
            <a:cxnLst/>
            <a:rect r="r" b="b" t="t" l="l"/>
            <a:pathLst>
              <a:path h="4114800" w="4047467">
                <a:moveTo>
                  <a:pt x="0" y="0"/>
                </a:moveTo>
                <a:lnTo>
                  <a:pt x="4047467" y="0"/>
                </a:lnTo>
                <a:lnTo>
                  <a:pt x="404746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793802" y="-1859151"/>
            <a:ext cx="4047467" cy="4114800"/>
          </a:xfrm>
          <a:custGeom>
            <a:avLst/>
            <a:gdLst/>
            <a:ahLst/>
            <a:cxnLst/>
            <a:rect r="r" b="b" t="t" l="l"/>
            <a:pathLst>
              <a:path h="4114800" w="4047467">
                <a:moveTo>
                  <a:pt x="0" y="0"/>
                </a:moveTo>
                <a:lnTo>
                  <a:pt x="4047467" y="0"/>
                </a:lnTo>
                <a:lnTo>
                  <a:pt x="404746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076669" y="2255649"/>
            <a:ext cx="16182631" cy="7665883"/>
            <a:chOff x="0" y="0"/>
            <a:chExt cx="4822122" cy="228429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822122" cy="2284290"/>
            </a:xfrm>
            <a:custGeom>
              <a:avLst/>
              <a:gdLst/>
              <a:ahLst/>
              <a:cxnLst/>
              <a:rect r="r" b="b" t="t" l="l"/>
              <a:pathLst>
                <a:path h="2284290" w="4822122">
                  <a:moveTo>
                    <a:pt x="4662102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2124270"/>
                  </a:lnTo>
                  <a:lnTo>
                    <a:pt x="160020" y="2284290"/>
                  </a:lnTo>
                  <a:lnTo>
                    <a:pt x="4662102" y="2284290"/>
                  </a:lnTo>
                  <a:lnTo>
                    <a:pt x="4822122" y="2124270"/>
                  </a:lnTo>
                  <a:lnTo>
                    <a:pt x="4822122" y="160020"/>
                  </a:lnTo>
                  <a:lnTo>
                    <a:pt x="4662102" y="0"/>
                  </a:lnTo>
                  <a:close/>
                </a:path>
              </a:pathLst>
            </a:custGeom>
            <a:solidFill>
              <a:srgbClr val="2F415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63500" y="-31750"/>
              <a:ext cx="4695122" cy="22525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5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2590415" y="3286066"/>
            <a:ext cx="12928332" cy="5972234"/>
          </a:xfrm>
          <a:custGeom>
            <a:avLst/>
            <a:gdLst/>
            <a:ahLst/>
            <a:cxnLst/>
            <a:rect r="r" b="b" t="t" l="l"/>
            <a:pathLst>
              <a:path h="5972234" w="12928332">
                <a:moveTo>
                  <a:pt x="0" y="0"/>
                </a:moveTo>
                <a:lnTo>
                  <a:pt x="12928332" y="0"/>
                </a:lnTo>
                <a:lnTo>
                  <a:pt x="12928332" y="5972234"/>
                </a:lnTo>
                <a:lnTo>
                  <a:pt x="0" y="59722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708270" y="220226"/>
            <a:ext cx="10085532" cy="1035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12"/>
              </a:lnSpc>
            </a:pPr>
            <a:r>
              <a:rPr lang="en-US" b="true" sz="5365">
                <a:solidFill>
                  <a:srgbClr val="2F4156"/>
                </a:solidFill>
                <a:latin typeface="Clarendon Narrow Bold"/>
                <a:ea typeface="Clarendon Narrow Bold"/>
                <a:cs typeface="Clarendon Narrow Bold"/>
                <a:sym typeface="Clarendon Narrow Bold"/>
              </a:rPr>
              <a:t>Market Insights </a:t>
            </a:r>
            <a:r>
              <a:rPr lang="en-US" b="true" sz="5365" u="sng">
                <a:solidFill>
                  <a:srgbClr val="2F4156"/>
                </a:solidFill>
                <a:latin typeface="Clarendon Narrow Bold"/>
                <a:ea typeface="Clarendon Narrow Bold"/>
                <a:cs typeface="Clarendon Narrow Bold"/>
                <a:sym typeface="Clarendon Narrow Bold"/>
                <a:hlinkClick r:id="rId9" tooltip="https://dashboard2-cbcacbvvkaiqlvnznmmrbh.streamlit.app"/>
              </a:rPr>
              <a:t>Phase 5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700000">
            <a:off x="16073062" y="-177950"/>
            <a:ext cx="5650461" cy="5650461"/>
          </a:xfrm>
          <a:custGeom>
            <a:avLst/>
            <a:gdLst/>
            <a:ahLst/>
            <a:cxnLst/>
            <a:rect r="r" b="b" t="t" l="l"/>
            <a:pathLst>
              <a:path h="5650461" w="5650461">
                <a:moveTo>
                  <a:pt x="0" y="0"/>
                </a:moveTo>
                <a:lnTo>
                  <a:pt x="5650460" y="0"/>
                </a:lnTo>
                <a:lnTo>
                  <a:pt x="5650460" y="5650460"/>
                </a:lnTo>
                <a:lnTo>
                  <a:pt x="0" y="56504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700000">
            <a:off x="-3821634" y="4084997"/>
            <a:ext cx="5228946" cy="5228946"/>
          </a:xfrm>
          <a:custGeom>
            <a:avLst/>
            <a:gdLst/>
            <a:ahLst/>
            <a:cxnLst/>
            <a:rect r="r" b="b" t="t" l="l"/>
            <a:pathLst>
              <a:path h="5228946" w="5228946">
                <a:moveTo>
                  <a:pt x="0" y="0"/>
                </a:moveTo>
                <a:lnTo>
                  <a:pt x="5228945" y="0"/>
                </a:lnTo>
                <a:lnTo>
                  <a:pt x="5228945" y="5228946"/>
                </a:lnTo>
                <a:lnTo>
                  <a:pt x="0" y="52289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4904585" y="3602757"/>
            <a:ext cx="6193425" cy="6193425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F415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139700" y="44450"/>
              <a:ext cx="533400" cy="628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5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994945" y="-625983"/>
            <a:ext cx="7181515" cy="7181515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F4156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39700" y="44450"/>
              <a:ext cx="533400" cy="628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5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961465" y="1603575"/>
            <a:ext cx="16271764" cy="8616190"/>
          </a:xfrm>
          <a:custGeom>
            <a:avLst/>
            <a:gdLst/>
            <a:ahLst/>
            <a:cxnLst/>
            <a:rect r="r" b="b" t="t" l="l"/>
            <a:pathLst>
              <a:path h="8616190" w="16271764">
                <a:moveTo>
                  <a:pt x="0" y="0"/>
                </a:moveTo>
                <a:lnTo>
                  <a:pt x="16271764" y="0"/>
                </a:lnTo>
                <a:lnTo>
                  <a:pt x="16271764" y="8616190"/>
                </a:lnTo>
                <a:lnTo>
                  <a:pt x="0" y="86161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78" t="0" r="-278" b="-885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107902" y="-180975"/>
            <a:ext cx="7884069" cy="1627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71"/>
              </a:lnSpc>
            </a:pPr>
            <a:r>
              <a:rPr lang="en-US" sz="4622" b="true">
                <a:solidFill>
                  <a:srgbClr val="2F4156"/>
                </a:solidFill>
                <a:latin typeface="Clarendon Narrow Bold"/>
                <a:ea typeface="Clarendon Narrow Bold"/>
                <a:cs typeface="Clarendon Narrow Bold"/>
                <a:sym typeface="Clarendon Narrow Bold"/>
              </a:rPr>
              <a:t>DashBoard </a:t>
            </a:r>
          </a:p>
          <a:p>
            <a:pPr algn="ctr">
              <a:lnSpc>
                <a:spcPts val="5868"/>
              </a:lnSpc>
            </a:pPr>
            <a:r>
              <a:rPr lang="en-US" b="true" sz="4191">
                <a:solidFill>
                  <a:srgbClr val="2F4156"/>
                </a:solidFill>
                <a:latin typeface="Clarendon Narrow Bold"/>
                <a:ea typeface="Clarendon Narrow Bold"/>
                <a:cs typeface="Clarendon Narrow Bold"/>
                <a:sym typeface="Clarendon Narrow Bold"/>
              </a:rPr>
              <a:t>Tableau phase1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700000">
            <a:off x="16736731" y="96951"/>
            <a:ext cx="5100659" cy="5100659"/>
          </a:xfrm>
          <a:custGeom>
            <a:avLst/>
            <a:gdLst/>
            <a:ahLst/>
            <a:cxnLst/>
            <a:rect r="r" b="b" t="t" l="l"/>
            <a:pathLst>
              <a:path h="5100659" w="5100659">
                <a:moveTo>
                  <a:pt x="0" y="0"/>
                </a:moveTo>
                <a:lnTo>
                  <a:pt x="5100659" y="0"/>
                </a:lnTo>
                <a:lnTo>
                  <a:pt x="5100659" y="5100658"/>
                </a:lnTo>
                <a:lnTo>
                  <a:pt x="0" y="51006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700000">
            <a:off x="-3346827" y="4438368"/>
            <a:ext cx="6145282" cy="6145282"/>
          </a:xfrm>
          <a:custGeom>
            <a:avLst/>
            <a:gdLst/>
            <a:ahLst/>
            <a:cxnLst/>
            <a:rect r="r" b="b" t="t" l="l"/>
            <a:pathLst>
              <a:path h="6145282" w="6145282">
                <a:moveTo>
                  <a:pt x="0" y="0"/>
                </a:moveTo>
                <a:lnTo>
                  <a:pt x="6145283" y="0"/>
                </a:lnTo>
                <a:lnTo>
                  <a:pt x="6145283" y="6145282"/>
                </a:lnTo>
                <a:lnTo>
                  <a:pt x="0" y="61452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4904585" y="3602757"/>
            <a:ext cx="7479571" cy="7816504"/>
            <a:chOff x="0" y="0"/>
            <a:chExt cx="777764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77764" cy="812800"/>
            </a:xfrm>
            <a:custGeom>
              <a:avLst/>
              <a:gdLst/>
              <a:ahLst/>
              <a:cxnLst/>
              <a:rect r="r" b="b" t="t" l="l"/>
              <a:pathLst>
                <a:path h="812800" w="777764">
                  <a:moveTo>
                    <a:pt x="388882" y="0"/>
                  </a:moveTo>
                  <a:lnTo>
                    <a:pt x="777764" y="406400"/>
                  </a:lnTo>
                  <a:lnTo>
                    <a:pt x="388882" y="812800"/>
                  </a:lnTo>
                  <a:lnTo>
                    <a:pt x="0" y="406400"/>
                  </a:lnTo>
                  <a:lnTo>
                    <a:pt x="388882" y="0"/>
                  </a:lnTo>
                  <a:close/>
                </a:path>
              </a:pathLst>
            </a:custGeom>
            <a:solidFill>
              <a:srgbClr val="2F415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133678" y="44450"/>
              <a:ext cx="510408" cy="628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5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954473" y="-1260972"/>
            <a:ext cx="6221987" cy="7816504"/>
            <a:chOff x="0" y="0"/>
            <a:chExt cx="646994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46994" cy="812800"/>
            </a:xfrm>
            <a:custGeom>
              <a:avLst/>
              <a:gdLst/>
              <a:ahLst/>
              <a:cxnLst/>
              <a:rect r="r" b="b" t="t" l="l"/>
              <a:pathLst>
                <a:path h="812800" w="646994">
                  <a:moveTo>
                    <a:pt x="323497" y="0"/>
                  </a:moveTo>
                  <a:lnTo>
                    <a:pt x="646994" y="406400"/>
                  </a:lnTo>
                  <a:lnTo>
                    <a:pt x="323497" y="812800"/>
                  </a:lnTo>
                  <a:lnTo>
                    <a:pt x="0" y="406400"/>
                  </a:lnTo>
                  <a:lnTo>
                    <a:pt x="323497" y="0"/>
                  </a:lnTo>
                  <a:close/>
                </a:path>
              </a:pathLst>
            </a:custGeom>
            <a:solidFill>
              <a:srgbClr val="2F4156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11202" y="44450"/>
              <a:ext cx="424590" cy="628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5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2113097" y="1317423"/>
            <a:ext cx="15146203" cy="8329323"/>
          </a:xfrm>
          <a:custGeom>
            <a:avLst/>
            <a:gdLst/>
            <a:ahLst/>
            <a:cxnLst/>
            <a:rect r="r" b="b" t="t" l="l"/>
            <a:pathLst>
              <a:path h="8329323" w="15146203">
                <a:moveTo>
                  <a:pt x="0" y="0"/>
                </a:moveTo>
                <a:lnTo>
                  <a:pt x="15146203" y="0"/>
                </a:lnTo>
                <a:lnTo>
                  <a:pt x="15146203" y="8329323"/>
                </a:lnTo>
                <a:lnTo>
                  <a:pt x="0" y="83293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1" t="-1345" r="0" b="-1436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703217" y="220070"/>
            <a:ext cx="8413234" cy="80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65"/>
              </a:lnSpc>
              <a:spcBef>
                <a:spcPct val="0"/>
              </a:spcBef>
            </a:pPr>
            <a:r>
              <a:rPr lang="en-US" b="true" sz="4260">
                <a:solidFill>
                  <a:srgbClr val="000000"/>
                </a:solidFill>
                <a:latin typeface="Clarendon Narrow Bold"/>
                <a:ea typeface="Clarendon Narrow Bold"/>
                <a:cs typeface="Clarendon Narrow Bold"/>
                <a:sym typeface="Clarendon Narrow Bold"/>
              </a:rPr>
              <a:t>DashBoard Power BI phase4</a:t>
            </a: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700000">
            <a:off x="14590867" y="-791896"/>
            <a:ext cx="6878351" cy="6878351"/>
          </a:xfrm>
          <a:custGeom>
            <a:avLst/>
            <a:gdLst/>
            <a:ahLst/>
            <a:cxnLst/>
            <a:rect r="r" b="b" t="t" l="l"/>
            <a:pathLst>
              <a:path h="6878351" w="6878351">
                <a:moveTo>
                  <a:pt x="0" y="0"/>
                </a:moveTo>
                <a:lnTo>
                  <a:pt x="6878351" y="0"/>
                </a:lnTo>
                <a:lnTo>
                  <a:pt x="6878351" y="6878352"/>
                </a:lnTo>
                <a:lnTo>
                  <a:pt x="0" y="68783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700000">
            <a:off x="-3195003" y="4071833"/>
            <a:ext cx="6878351" cy="6878351"/>
          </a:xfrm>
          <a:custGeom>
            <a:avLst/>
            <a:gdLst/>
            <a:ahLst/>
            <a:cxnLst/>
            <a:rect r="r" b="b" t="t" l="l"/>
            <a:pathLst>
              <a:path h="6878351" w="6878351">
                <a:moveTo>
                  <a:pt x="0" y="0"/>
                </a:moveTo>
                <a:lnTo>
                  <a:pt x="6878351" y="0"/>
                </a:lnTo>
                <a:lnTo>
                  <a:pt x="6878351" y="6878352"/>
                </a:lnTo>
                <a:lnTo>
                  <a:pt x="0" y="68783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5054035" y="3702390"/>
            <a:ext cx="7816504" cy="7816504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F415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139700" y="44450"/>
              <a:ext cx="533400" cy="628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5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652836" y="-1236063"/>
            <a:ext cx="7816504" cy="781650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F4156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39700" y="44450"/>
              <a:ext cx="533400" cy="628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5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3690799" y="6743699"/>
            <a:ext cx="4339244" cy="4114800"/>
          </a:xfrm>
          <a:custGeom>
            <a:avLst/>
            <a:gdLst/>
            <a:ahLst/>
            <a:cxnLst/>
            <a:rect r="r" b="b" t="t" l="l"/>
            <a:pathLst>
              <a:path h="4114800" w="4339244">
                <a:moveTo>
                  <a:pt x="0" y="0"/>
                </a:moveTo>
                <a:lnTo>
                  <a:pt x="4339243" y="0"/>
                </a:lnTo>
                <a:lnTo>
                  <a:pt x="433924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244173" y="-512043"/>
            <a:ext cx="4339244" cy="4114800"/>
          </a:xfrm>
          <a:custGeom>
            <a:avLst/>
            <a:gdLst/>
            <a:ahLst/>
            <a:cxnLst/>
            <a:rect r="r" b="b" t="t" l="l"/>
            <a:pathLst>
              <a:path h="4114800" w="4339244">
                <a:moveTo>
                  <a:pt x="4339243" y="0"/>
                </a:moveTo>
                <a:lnTo>
                  <a:pt x="0" y="0"/>
                </a:lnTo>
                <a:lnTo>
                  <a:pt x="0" y="4114800"/>
                </a:lnTo>
                <a:lnTo>
                  <a:pt x="4339243" y="4114800"/>
                </a:lnTo>
                <a:lnTo>
                  <a:pt x="433924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413794" y="9258300"/>
            <a:ext cx="4387287" cy="1881049"/>
          </a:xfrm>
          <a:custGeom>
            <a:avLst/>
            <a:gdLst/>
            <a:ahLst/>
            <a:cxnLst/>
            <a:rect r="r" b="b" t="t" l="l"/>
            <a:pathLst>
              <a:path h="1881049" w="4387287">
                <a:moveTo>
                  <a:pt x="0" y="0"/>
                </a:moveTo>
                <a:lnTo>
                  <a:pt x="4387287" y="0"/>
                </a:lnTo>
                <a:lnTo>
                  <a:pt x="4387287" y="1881049"/>
                </a:lnTo>
                <a:lnTo>
                  <a:pt x="0" y="188104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972670" y="-852349"/>
            <a:ext cx="4387287" cy="1881049"/>
          </a:xfrm>
          <a:custGeom>
            <a:avLst/>
            <a:gdLst/>
            <a:ahLst/>
            <a:cxnLst/>
            <a:rect r="r" b="b" t="t" l="l"/>
            <a:pathLst>
              <a:path h="1881049" w="4387287">
                <a:moveTo>
                  <a:pt x="0" y="0"/>
                </a:moveTo>
                <a:lnTo>
                  <a:pt x="4387287" y="0"/>
                </a:lnTo>
                <a:lnTo>
                  <a:pt x="4387287" y="1881049"/>
                </a:lnTo>
                <a:lnTo>
                  <a:pt x="0" y="188104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52506" y="1280676"/>
            <a:ext cx="15782989" cy="8918148"/>
          </a:xfrm>
          <a:custGeom>
            <a:avLst/>
            <a:gdLst/>
            <a:ahLst/>
            <a:cxnLst/>
            <a:rect r="r" b="b" t="t" l="l"/>
            <a:pathLst>
              <a:path h="8918148" w="15782989">
                <a:moveTo>
                  <a:pt x="0" y="0"/>
                </a:moveTo>
                <a:lnTo>
                  <a:pt x="15782988" y="0"/>
                </a:lnTo>
                <a:lnTo>
                  <a:pt x="15782988" y="8918149"/>
                </a:lnTo>
                <a:lnTo>
                  <a:pt x="0" y="891814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101" t="0" r="-1101" b="-1604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4113592" y="-109052"/>
            <a:ext cx="9152487" cy="1031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12"/>
              </a:lnSpc>
            </a:pPr>
            <a:r>
              <a:rPr lang="en-US" b="true" sz="5365">
                <a:solidFill>
                  <a:srgbClr val="2F4156"/>
                </a:solidFill>
                <a:latin typeface="Clarendon Narrow Bold"/>
                <a:ea typeface="Clarendon Narrow Bold"/>
                <a:cs typeface="Clarendon Narrow Bold"/>
                <a:sym typeface="Clarendon Narrow Bold"/>
              </a:rPr>
              <a:t>DashBoard Power BI phase5</a:t>
            </a:r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700000">
            <a:off x="16227918" y="-473521"/>
            <a:ext cx="5522173" cy="5522173"/>
          </a:xfrm>
          <a:custGeom>
            <a:avLst/>
            <a:gdLst/>
            <a:ahLst/>
            <a:cxnLst/>
            <a:rect r="r" b="b" t="t" l="l"/>
            <a:pathLst>
              <a:path h="5522173" w="5522173">
                <a:moveTo>
                  <a:pt x="0" y="0"/>
                </a:moveTo>
                <a:lnTo>
                  <a:pt x="5522174" y="0"/>
                </a:lnTo>
                <a:lnTo>
                  <a:pt x="5522174" y="5522174"/>
                </a:lnTo>
                <a:lnTo>
                  <a:pt x="0" y="55221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700000">
            <a:off x="-3399965" y="4566655"/>
            <a:ext cx="5888708" cy="5888708"/>
          </a:xfrm>
          <a:custGeom>
            <a:avLst/>
            <a:gdLst/>
            <a:ahLst/>
            <a:cxnLst/>
            <a:rect r="r" b="b" t="t" l="l"/>
            <a:pathLst>
              <a:path h="5888708" w="5888708">
                <a:moveTo>
                  <a:pt x="0" y="0"/>
                </a:moveTo>
                <a:lnTo>
                  <a:pt x="5888708" y="0"/>
                </a:lnTo>
                <a:lnTo>
                  <a:pt x="5888708" y="5888708"/>
                </a:lnTo>
                <a:lnTo>
                  <a:pt x="0" y="58887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4904585" y="3602757"/>
            <a:ext cx="7414776" cy="7414776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F415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139700" y="44450"/>
              <a:ext cx="533400" cy="628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5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079384" y="-1260972"/>
            <a:ext cx="7097076" cy="7097076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F4156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39700" y="44450"/>
              <a:ext cx="533400" cy="628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5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576310" y="1545357"/>
            <a:ext cx="17711690" cy="7446348"/>
          </a:xfrm>
          <a:custGeom>
            <a:avLst/>
            <a:gdLst/>
            <a:ahLst/>
            <a:cxnLst/>
            <a:rect r="r" b="b" t="t" l="l"/>
            <a:pathLst>
              <a:path h="7446348" w="17711690">
                <a:moveTo>
                  <a:pt x="0" y="0"/>
                </a:moveTo>
                <a:lnTo>
                  <a:pt x="17711690" y="0"/>
                </a:lnTo>
                <a:lnTo>
                  <a:pt x="17711690" y="7446348"/>
                </a:lnTo>
                <a:lnTo>
                  <a:pt x="0" y="74463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59" t="-1386" r="-259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333228" y="-1475"/>
            <a:ext cx="9152487" cy="1031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12"/>
              </a:lnSpc>
            </a:pPr>
            <a:r>
              <a:rPr lang="en-US" b="true" sz="5365">
                <a:solidFill>
                  <a:srgbClr val="2F4156"/>
                </a:solidFill>
                <a:latin typeface="Clarendon Narrow Bold"/>
                <a:ea typeface="Clarendon Narrow Bold"/>
                <a:cs typeface="Clarendon Narrow Bold"/>
                <a:sym typeface="Clarendon Narrow Bold"/>
              </a:rPr>
              <a:t>DashBoard Excel </a:t>
            </a:r>
          </a:p>
        </p:txBody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700000">
            <a:off x="15894114" y="-414842"/>
            <a:ext cx="5725711" cy="5725711"/>
          </a:xfrm>
          <a:custGeom>
            <a:avLst/>
            <a:gdLst/>
            <a:ahLst/>
            <a:cxnLst/>
            <a:rect r="r" b="b" t="t" l="l"/>
            <a:pathLst>
              <a:path h="5725711" w="5725711">
                <a:moveTo>
                  <a:pt x="0" y="0"/>
                </a:moveTo>
                <a:lnTo>
                  <a:pt x="5725711" y="0"/>
                </a:lnTo>
                <a:lnTo>
                  <a:pt x="5725711" y="5725711"/>
                </a:lnTo>
                <a:lnTo>
                  <a:pt x="0" y="57257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700000">
            <a:off x="-3412801" y="4974841"/>
            <a:ext cx="5507644" cy="5507644"/>
          </a:xfrm>
          <a:custGeom>
            <a:avLst/>
            <a:gdLst/>
            <a:ahLst/>
            <a:cxnLst/>
            <a:rect r="r" b="b" t="t" l="l"/>
            <a:pathLst>
              <a:path h="5507644" w="5507644">
                <a:moveTo>
                  <a:pt x="0" y="0"/>
                </a:moveTo>
                <a:lnTo>
                  <a:pt x="5507644" y="0"/>
                </a:lnTo>
                <a:lnTo>
                  <a:pt x="5507644" y="5507644"/>
                </a:lnTo>
                <a:lnTo>
                  <a:pt x="0" y="55076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5751467" y="4013157"/>
            <a:ext cx="7431012" cy="7431012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F415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139700" y="44450"/>
              <a:ext cx="533400" cy="628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5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460858" y="-1460238"/>
            <a:ext cx="7816504" cy="781650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F4156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39700" y="44450"/>
              <a:ext cx="533400" cy="628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5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false" rot="0">
            <a:off x="244173" y="-512043"/>
            <a:ext cx="4339244" cy="4114800"/>
          </a:xfrm>
          <a:custGeom>
            <a:avLst/>
            <a:gdLst/>
            <a:ahLst/>
            <a:cxnLst/>
            <a:rect r="r" b="b" t="t" l="l"/>
            <a:pathLst>
              <a:path h="4114800" w="4339244">
                <a:moveTo>
                  <a:pt x="4339243" y="0"/>
                </a:moveTo>
                <a:lnTo>
                  <a:pt x="0" y="0"/>
                </a:lnTo>
                <a:lnTo>
                  <a:pt x="0" y="4114800"/>
                </a:lnTo>
                <a:lnTo>
                  <a:pt x="4339243" y="4114800"/>
                </a:lnTo>
                <a:lnTo>
                  <a:pt x="433924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413794" y="9258300"/>
            <a:ext cx="4387287" cy="1881049"/>
          </a:xfrm>
          <a:custGeom>
            <a:avLst/>
            <a:gdLst/>
            <a:ahLst/>
            <a:cxnLst/>
            <a:rect r="r" b="b" t="t" l="l"/>
            <a:pathLst>
              <a:path h="1881049" w="4387287">
                <a:moveTo>
                  <a:pt x="0" y="0"/>
                </a:moveTo>
                <a:lnTo>
                  <a:pt x="4387287" y="0"/>
                </a:lnTo>
                <a:lnTo>
                  <a:pt x="4387287" y="1881049"/>
                </a:lnTo>
                <a:lnTo>
                  <a:pt x="0" y="188104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413794" y="2955947"/>
            <a:ext cx="13656328" cy="6302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2642" indent="-256321" lvl="1">
              <a:lnSpc>
                <a:spcPts val="3324"/>
              </a:lnSpc>
              <a:buFont typeface="Arial"/>
              <a:buChar char="•"/>
            </a:pPr>
            <a:r>
              <a:rPr lang="en-US" b="true" sz="2374" i="true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Proven Export Success: Egypt already exports Hydrogen Peroxide successfully, proving our quality meets global standards.</a:t>
            </a:r>
          </a:p>
          <a:p>
            <a:pPr algn="just">
              <a:lnSpc>
                <a:spcPts val="3324"/>
              </a:lnSpc>
            </a:pPr>
          </a:p>
          <a:p>
            <a:pPr algn="just" marL="512642" indent="-256321" lvl="1">
              <a:lnSpc>
                <a:spcPts val="3324"/>
              </a:lnSpc>
              <a:buFont typeface="Arial"/>
              <a:buChar char="•"/>
            </a:pPr>
            <a:r>
              <a:rPr lang="en-US" b="true" sz="2374" i="true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Immediate Targets (Short-Term): Jordan and Türkiye are the best choices right now due to large market sizes and easy logistics.</a:t>
            </a:r>
          </a:p>
          <a:p>
            <a:pPr algn="just">
              <a:lnSpc>
                <a:spcPts val="3324"/>
              </a:lnSpc>
            </a:pPr>
          </a:p>
          <a:p>
            <a:pPr algn="just" marL="512642" indent="-256321" lvl="1">
              <a:lnSpc>
                <a:spcPts val="3324"/>
              </a:lnSpc>
              <a:buFont typeface="Arial"/>
              <a:buChar char="•"/>
            </a:pPr>
            <a:r>
              <a:rPr lang="en-US" b="true" sz="2374" i="true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Future Targets (Long-Term): Congo, Kenya, Algeria, Uganda, and the UAE offer great growth and massive scale for the future.</a:t>
            </a:r>
          </a:p>
          <a:p>
            <a:pPr algn="just">
              <a:lnSpc>
                <a:spcPts val="3324"/>
              </a:lnSpc>
            </a:pPr>
          </a:p>
          <a:p>
            <a:pPr algn="just" marL="512642" indent="-256321" lvl="1">
              <a:lnSpc>
                <a:spcPts val="3324"/>
              </a:lnSpc>
              <a:buFont typeface="Arial"/>
              <a:buChar char="•"/>
            </a:pPr>
            <a:r>
              <a:rPr lang="en-US" b="true" sz="2374" i="true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The COMESA Advantage: Shipping to Kenya and Uganda means 0% tariffs under the COMESA agreement, beating global rivals on cost and speed.</a:t>
            </a:r>
          </a:p>
          <a:p>
            <a:pPr algn="just">
              <a:lnSpc>
                <a:spcPts val="3458"/>
              </a:lnSpc>
            </a:pPr>
          </a:p>
          <a:p>
            <a:pPr algn="just" marL="512642" indent="-256321" lvl="1">
              <a:lnSpc>
                <a:spcPts val="332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74" i="true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Big Opportunity: Entering these growing markets will significantly boost Egypt's export revenues.</a:t>
            </a:r>
          </a:p>
          <a:p>
            <a:pPr algn="just">
              <a:lnSpc>
                <a:spcPts val="3324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4583416" y="53387"/>
            <a:ext cx="9599576" cy="176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91"/>
              </a:lnSpc>
            </a:pPr>
            <a:r>
              <a:rPr lang="en-US" sz="4779" b="true">
                <a:solidFill>
                  <a:srgbClr val="2F4156"/>
                </a:solidFill>
                <a:latin typeface="Clarendon Narrow Bold"/>
                <a:ea typeface="Clarendon Narrow Bold"/>
                <a:cs typeface="Clarendon Narrow Bold"/>
                <a:sym typeface="Clarendon Narrow Bold"/>
              </a:rPr>
              <a:t>Strategic Conclusions &amp; Recommendations</a:t>
            </a:r>
          </a:p>
        </p:txBody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F41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766687" y="1767594"/>
            <a:ext cx="6754627" cy="6751812"/>
          </a:xfrm>
          <a:custGeom>
            <a:avLst/>
            <a:gdLst/>
            <a:ahLst/>
            <a:cxnLst/>
            <a:rect r="r" b="b" t="t" l="l"/>
            <a:pathLst>
              <a:path h="6751812" w="6754627">
                <a:moveTo>
                  <a:pt x="0" y="0"/>
                </a:moveTo>
                <a:lnTo>
                  <a:pt x="6754626" y="0"/>
                </a:lnTo>
                <a:lnTo>
                  <a:pt x="6754626" y="6751812"/>
                </a:lnTo>
                <a:lnTo>
                  <a:pt x="0" y="67518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09201" y="227316"/>
            <a:ext cx="4754496" cy="4114800"/>
          </a:xfrm>
          <a:custGeom>
            <a:avLst/>
            <a:gdLst/>
            <a:ahLst/>
            <a:cxnLst/>
            <a:rect r="r" b="b" t="t" l="l"/>
            <a:pathLst>
              <a:path h="4114800" w="4754496">
                <a:moveTo>
                  <a:pt x="0" y="0"/>
                </a:moveTo>
                <a:lnTo>
                  <a:pt x="4754496" y="0"/>
                </a:lnTo>
                <a:lnTo>
                  <a:pt x="475449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244401" y="5866745"/>
            <a:ext cx="4804968" cy="4114800"/>
          </a:xfrm>
          <a:custGeom>
            <a:avLst/>
            <a:gdLst/>
            <a:ahLst/>
            <a:cxnLst/>
            <a:rect r="r" b="b" t="t" l="l"/>
            <a:pathLst>
              <a:path h="4114800" w="4804968">
                <a:moveTo>
                  <a:pt x="0" y="0"/>
                </a:moveTo>
                <a:lnTo>
                  <a:pt x="4804969" y="0"/>
                </a:lnTo>
                <a:lnTo>
                  <a:pt x="480496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30495" y="5866745"/>
            <a:ext cx="6172200" cy="6172200"/>
          </a:xfrm>
          <a:custGeom>
            <a:avLst/>
            <a:gdLst/>
            <a:ahLst/>
            <a:cxnLst/>
            <a:rect r="r" b="b" t="t" l="l"/>
            <a:pathLst>
              <a:path h="6172200" w="6172200">
                <a:moveTo>
                  <a:pt x="0" y="0"/>
                </a:moveTo>
                <a:lnTo>
                  <a:pt x="6172200" y="0"/>
                </a:lnTo>
                <a:lnTo>
                  <a:pt x="6172200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342795" y="-3887484"/>
            <a:ext cx="6172200" cy="6172200"/>
          </a:xfrm>
          <a:custGeom>
            <a:avLst/>
            <a:gdLst/>
            <a:ahLst/>
            <a:cxnLst/>
            <a:rect r="r" b="b" t="t" l="l"/>
            <a:pathLst>
              <a:path h="6172200" w="6172200">
                <a:moveTo>
                  <a:pt x="0" y="0"/>
                </a:moveTo>
                <a:lnTo>
                  <a:pt x="6172200" y="0"/>
                </a:lnTo>
                <a:lnTo>
                  <a:pt x="6172200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154780" y="4010977"/>
            <a:ext cx="5978441" cy="2379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65"/>
              </a:lnSpc>
            </a:pPr>
            <a:r>
              <a:rPr lang="en-US" sz="9500" b="true">
                <a:solidFill>
                  <a:srgbClr val="F5EFEB"/>
                </a:solidFill>
                <a:latin typeface="Clarendon Narrow Bold"/>
                <a:ea typeface="Clarendon Narrow Bold"/>
                <a:cs typeface="Clarendon Narrow Bold"/>
                <a:sym typeface="Clarendon Narrow Bold"/>
              </a:rPr>
              <a:t>Q&amp;A Session?</a:t>
            </a:r>
          </a:p>
        </p:txBody>
      </p: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699198" y="665151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093484" y="-383408"/>
            <a:ext cx="11067650" cy="11053816"/>
          </a:xfrm>
          <a:custGeom>
            <a:avLst/>
            <a:gdLst/>
            <a:ahLst/>
            <a:cxnLst/>
            <a:rect r="r" b="b" t="t" l="l"/>
            <a:pathLst>
              <a:path h="11053816" w="11067650">
                <a:moveTo>
                  <a:pt x="0" y="0"/>
                </a:moveTo>
                <a:lnTo>
                  <a:pt x="11067651" y="0"/>
                </a:lnTo>
                <a:lnTo>
                  <a:pt x="11067651" y="11053816"/>
                </a:lnTo>
                <a:lnTo>
                  <a:pt x="0" y="110538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5400000">
            <a:off x="7857602" y="-1836977"/>
            <a:ext cx="11343275" cy="13960954"/>
            <a:chOff x="0" y="0"/>
            <a:chExt cx="6604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60400" cy="812800"/>
            </a:xfrm>
            <a:custGeom>
              <a:avLst/>
              <a:gdLst/>
              <a:ahLst/>
              <a:cxnLst/>
              <a:rect r="r" b="b" t="t" l="l"/>
              <a:pathLst>
                <a:path h="812800" w="660400">
                  <a:moveTo>
                    <a:pt x="220252" y="793731"/>
                  </a:moveTo>
                  <a:cubicBezTo>
                    <a:pt x="254109" y="805245"/>
                    <a:pt x="292600" y="812800"/>
                    <a:pt x="330378" y="812800"/>
                  </a:cubicBezTo>
                  <a:cubicBezTo>
                    <a:pt x="368157" y="812800"/>
                    <a:pt x="404509" y="806323"/>
                    <a:pt x="438009" y="794809"/>
                  </a:cubicBezTo>
                  <a:cubicBezTo>
                    <a:pt x="438723" y="794450"/>
                    <a:pt x="439435" y="794450"/>
                    <a:pt x="440148" y="794090"/>
                  </a:cubicBezTo>
                  <a:cubicBezTo>
                    <a:pt x="565955" y="748035"/>
                    <a:pt x="658618" y="626421"/>
                    <a:pt x="660400" y="48429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483939"/>
                  </a:lnTo>
                  <a:cubicBezTo>
                    <a:pt x="1782" y="627140"/>
                    <a:pt x="93019" y="748755"/>
                    <a:pt x="220252" y="793731"/>
                  </a:cubicBezTo>
                  <a:close/>
                </a:path>
              </a:pathLst>
            </a:custGeom>
            <a:solidFill>
              <a:srgbClr val="2F415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0"/>
              <a:ext cx="660400" cy="781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5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-333092" y="-383408"/>
            <a:ext cx="5426576" cy="4676722"/>
          </a:xfrm>
          <a:custGeom>
            <a:avLst/>
            <a:gdLst/>
            <a:ahLst/>
            <a:cxnLst/>
            <a:rect r="r" b="b" t="t" l="l"/>
            <a:pathLst>
              <a:path h="4676722" w="5426576">
                <a:moveTo>
                  <a:pt x="0" y="0"/>
                </a:moveTo>
                <a:lnTo>
                  <a:pt x="5426576" y="0"/>
                </a:lnTo>
                <a:lnTo>
                  <a:pt x="5426576" y="4676722"/>
                </a:lnTo>
                <a:lnTo>
                  <a:pt x="0" y="46767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0">
            <a:off x="204154" y="7647498"/>
            <a:ext cx="2176042" cy="2427633"/>
          </a:xfrm>
          <a:custGeom>
            <a:avLst/>
            <a:gdLst/>
            <a:ahLst/>
            <a:cxnLst/>
            <a:rect r="r" b="b" t="t" l="l"/>
            <a:pathLst>
              <a:path h="2427633" w="2176042">
                <a:moveTo>
                  <a:pt x="2176042" y="2427634"/>
                </a:moveTo>
                <a:lnTo>
                  <a:pt x="0" y="2427634"/>
                </a:lnTo>
                <a:lnTo>
                  <a:pt x="0" y="0"/>
                </a:lnTo>
                <a:lnTo>
                  <a:pt x="2176042" y="0"/>
                </a:lnTo>
                <a:lnTo>
                  <a:pt x="2176042" y="2427634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072145" y="3411592"/>
            <a:ext cx="9612372" cy="3673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87"/>
              </a:lnSpc>
            </a:pPr>
            <a:r>
              <a:rPr lang="en-US" sz="14926">
                <a:solidFill>
                  <a:srgbClr val="F5EFEB"/>
                </a:solidFill>
                <a:latin typeface="Clarendon Narrow"/>
                <a:ea typeface="Clarendon Narrow"/>
                <a:cs typeface="Clarendon Narrow"/>
                <a:sym typeface="Clarendon Narrow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DAHO09i6DQ4</dc:identifier>
  <dcterms:modified xsi:type="dcterms:W3CDTF">2011-08-01T06:04:30Z</dcterms:modified>
  <cp:revision>1</cp:revision>
  <dc:title>Blue Beige Geometry Group Project Presentation</dc:title>
</cp:coreProperties>
</file>